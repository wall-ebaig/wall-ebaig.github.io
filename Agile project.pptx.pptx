
<file path=[Content_Types].xml><?xml version="1.0" encoding="utf-8"?>
<Types xmlns="http://schemas.openxmlformats.org/package/2006/content-types">
  <Default Extension="fntdata" ContentType="application/x-fontdata"/>
  <Default Extension="jpeg" ContentType="image/jpeg"/>
  <Default Extension="m4a" ContentType="audio/mp4"/>
  <Default Extension="mp3" ContentType="audio/m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0"/>
  </p:notesMasterIdLst>
  <p:sldIdLst>
    <p:sldId id="256" r:id="rId5"/>
    <p:sldId id="257" r:id="rId6"/>
    <p:sldId id="259" r:id="rId7"/>
    <p:sldId id="262" r:id="rId8"/>
    <p:sldId id="267" r:id="rId9"/>
    <p:sldId id="268" r:id="rId10"/>
    <p:sldId id="272" r:id="rId11"/>
    <p:sldId id="271" r:id="rId12"/>
    <p:sldId id="274" r:id="rId13"/>
    <p:sldId id="289" r:id="rId14"/>
    <p:sldId id="292" r:id="rId15"/>
    <p:sldId id="269" r:id="rId16"/>
    <p:sldId id="270" r:id="rId17"/>
    <p:sldId id="273" r:id="rId18"/>
    <p:sldId id="275" r:id="rId19"/>
    <p:sldId id="276" r:id="rId20"/>
    <p:sldId id="277" r:id="rId21"/>
    <p:sldId id="279" r:id="rId22"/>
    <p:sldId id="281" r:id="rId23"/>
    <p:sldId id="290" r:id="rId24"/>
    <p:sldId id="280" r:id="rId25"/>
    <p:sldId id="291" r:id="rId26"/>
    <p:sldId id="284" r:id="rId27"/>
    <p:sldId id="286" r:id="rId28"/>
    <p:sldId id="287" r:id="rId29"/>
  </p:sldIdLst>
  <p:sldSz cx="18288000" cy="10287000"/>
  <p:notesSz cx="6858000" cy="9144000"/>
  <p:embeddedFontLst>
    <p:embeddedFont>
      <p:font typeface="AkayaTelivigala" panose="020B0604020202020204" charset="0"/>
      <p:regular r:id="rId31"/>
    </p:embeddedFont>
    <p:embeddedFont>
      <p:font typeface="Canva Sans Medium" panose="020B0604020202020204" charset="0"/>
      <p:regular r:id="rId32"/>
    </p:embeddedFont>
    <p:embeddedFont>
      <p:font typeface="Rustic Printed" panose="020B0604020202020204" charset="0"/>
      <p:regular r:id="rId33"/>
    </p:embeddedFont>
    <p:embeddedFont>
      <p:font typeface="Sans Serif Collection" panose="020B0502040504020204" pitchFamily="3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5C94"/>
    <a:srgbClr val="65CABA"/>
    <a:srgbClr val="5CBC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91801" autoAdjust="0"/>
  </p:normalViewPr>
  <p:slideViewPr>
    <p:cSldViewPr snapToGrid="0">
      <p:cViewPr varScale="1">
        <p:scale>
          <a:sx n="34" d="100"/>
          <a:sy n="34" d="100"/>
        </p:scale>
        <p:origin x="72" y="552"/>
      </p:cViewPr>
      <p:guideLst>
        <p:guide orient="horz" pos="2160"/>
        <p:guide pos="2880"/>
      </p:guideLst>
    </p:cSldViewPr>
  </p:slideViewPr>
  <p:notesTextViewPr>
    <p:cViewPr>
      <p:scale>
        <a:sx n="1" d="1"/>
        <a:sy n="1" d="1"/>
      </p:scale>
      <p:origin x="0" y="0"/>
    </p:cViewPr>
  </p:notesTextViewPr>
  <p:notesViewPr>
    <p:cSldViewPr snapToGrid="0">
      <p:cViewPr varScale="1">
        <p:scale>
          <a:sx n="63" d="100"/>
          <a:sy n="63" d="100"/>
        </p:scale>
        <p:origin x="270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i Wali" userId="d4a3cf04c40f9f98" providerId="LiveId" clId="{A31D56B9-41FA-42D9-93E6-FCCA36512A89}"/>
    <pc:docChg chg="delSld">
      <pc:chgData name="Wali Wali" userId="d4a3cf04c40f9f98" providerId="LiveId" clId="{A31D56B9-41FA-42D9-93E6-FCCA36512A89}" dt="2026-05-13T20:35:40.849" v="0" actId="2696"/>
      <pc:docMkLst>
        <pc:docMk/>
      </pc:docMkLst>
      <pc:sldChg chg="del">
        <pc:chgData name="Wali Wali" userId="d4a3cf04c40f9f98" providerId="LiveId" clId="{A31D56B9-41FA-42D9-93E6-FCCA36512A89}" dt="2026-05-13T20:35:40.849" v="0" actId="2696"/>
        <pc:sldMkLst>
          <pc:docMk/>
          <pc:sldMk cId="3076174115" sldId="28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43B2DB-AA55-B849-86A4-A46F2131357E}" type="doc">
      <dgm:prSet loTypeId="urn:microsoft.com/office/officeart/2005/8/layout/pyramid3" loCatId="" qsTypeId="urn:microsoft.com/office/officeart/2005/8/quickstyle/simple1" qsCatId="simple" csTypeId="urn:microsoft.com/office/officeart/2005/8/colors/accent1_2" csCatId="accent1" phldr="1"/>
      <dgm:spPr/>
    </dgm:pt>
    <dgm:pt modelId="{FCBAE5F9-85DD-4F49-B679-EDEDA7071203}">
      <dgm:prSet custT="1"/>
      <dgm:spPr>
        <a:solidFill>
          <a:srgbClr val="145C94"/>
        </a:solidFill>
      </dgm:spPr>
      <dgm:t>
        <a:bodyPr/>
        <a:lstStyle/>
        <a:p>
          <a:endParaRPr lang="en-US" sz="2400">
            <a:solidFill>
              <a:schemeClr val="bg1"/>
            </a:solidFill>
          </a:endParaRPr>
        </a:p>
      </dgm:t>
    </dgm:pt>
    <dgm:pt modelId="{A109390A-1EB1-A542-B60A-C84D201E8111}" type="sibTrans" cxnId="{5E9D29CE-9440-CB4E-BAE0-5D1F1ADB71E0}">
      <dgm:prSet/>
      <dgm:spPr/>
      <dgm:t>
        <a:bodyPr/>
        <a:lstStyle/>
        <a:p>
          <a:endParaRPr lang="en-US"/>
        </a:p>
      </dgm:t>
    </dgm:pt>
    <dgm:pt modelId="{5C47F861-6329-6646-8CD9-26A3287A6C98}" type="parTrans" cxnId="{5E9D29CE-9440-CB4E-BAE0-5D1F1ADB71E0}">
      <dgm:prSet/>
      <dgm:spPr/>
      <dgm:t>
        <a:bodyPr/>
        <a:lstStyle/>
        <a:p>
          <a:endParaRPr lang="en-US"/>
        </a:p>
      </dgm:t>
    </dgm:pt>
    <dgm:pt modelId="{DA1B6CC3-AA40-2A45-B2C5-29701278187C}">
      <dgm:prSet phldrT="[Text]" custT="1"/>
      <dgm:spPr>
        <a:solidFill>
          <a:srgbClr val="145C94"/>
        </a:solidFill>
      </dgm:spPr>
      <dgm:t>
        <a:bodyPr/>
        <a:lstStyle/>
        <a:p>
          <a:endParaRPr lang="en-US" sz="2400">
            <a:solidFill>
              <a:schemeClr val="bg1"/>
            </a:solidFill>
          </a:endParaRPr>
        </a:p>
      </dgm:t>
    </dgm:pt>
    <dgm:pt modelId="{0DCB70E7-6014-7640-9BAC-3C72F0D22099}" type="sibTrans" cxnId="{7363D761-B2EC-0C41-ABB1-148AC3799685}">
      <dgm:prSet/>
      <dgm:spPr/>
      <dgm:t>
        <a:bodyPr/>
        <a:lstStyle/>
        <a:p>
          <a:endParaRPr lang="en-US">
            <a:solidFill>
              <a:schemeClr val="bg1"/>
            </a:solidFill>
          </a:endParaRPr>
        </a:p>
      </dgm:t>
    </dgm:pt>
    <dgm:pt modelId="{F0DECB4D-37E2-E34C-A46A-959D3188453E}" type="parTrans" cxnId="{7363D761-B2EC-0C41-ABB1-148AC3799685}">
      <dgm:prSet/>
      <dgm:spPr/>
      <dgm:t>
        <a:bodyPr/>
        <a:lstStyle/>
        <a:p>
          <a:endParaRPr lang="en-US">
            <a:solidFill>
              <a:schemeClr val="bg1"/>
            </a:solidFill>
          </a:endParaRPr>
        </a:p>
      </dgm:t>
    </dgm:pt>
    <dgm:pt modelId="{8603D07F-5384-7844-86E2-D9085A0F48D1}">
      <dgm:prSet phldrT="[Text]" custT="1"/>
      <dgm:spPr>
        <a:solidFill>
          <a:srgbClr val="5CBCAE"/>
        </a:solidFill>
      </dgm:spPr>
      <dgm:t>
        <a:bodyPr/>
        <a:lstStyle/>
        <a:p>
          <a:endParaRPr lang="en-US" sz="2400">
            <a:solidFill>
              <a:schemeClr val="bg1"/>
            </a:solidFill>
          </a:endParaRPr>
        </a:p>
      </dgm:t>
    </dgm:pt>
    <dgm:pt modelId="{FD374E6D-6B59-2442-8139-950F19A305BB}" type="sibTrans" cxnId="{B0D25926-2B20-5646-8A5F-F1A07AB92CF5}">
      <dgm:prSet/>
      <dgm:spPr/>
      <dgm:t>
        <a:bodyPr/>
        <a:lstStyle/>
        <a:p>
          <a:endParaRPr lang="en-US">
            <a:solidFill>
              <a:schemeClr val="bg1"/>
            </a:solidFill>
          </a:endParaRPr>
        </a:p>
      </dgm:t>
    </dgm:pt>
    <dgm:pt modelId="{E8AA40EF-8C44-4A4A-8A49-7B9AE1028617}" type="parTrans" cxnId="{B0D25926-2B20-5646-8A5F-F1A07AB92CF5}">
      <dgm:prSet/>
      <dgm:spPr/>
      <dgm:t>
        <a:bodyPr/>
        <a:lstStyle/>
        <a:p>
          <a:endParaRPr lang="en-US">
            <a:solidFill>
              <a:schemeClr val="bg1"/>
            </a:solidFill>
          </a:endParaRPr>
        </a:p>
      </dgm:t>
    </dgm:pt>
    <dgm:pt modelId="{08671F0B-C410-1849-A53A-E8F60B139142}" type="pres">
      <dgm:prSet presAssocID="{1B43B2DB-AA55-B849-86A4-A46F2131357E}" presName="Name0" presStyleCnt="0">
        <dgm:presLayoutVars>
          <dgm:dir/>
          <dgm:animLvl val="lvl"/>
          <dgm:resizeHandles val="exact"/>
        </dgm:presLayoutVars>
      </dgm:prSet>
      <dgm:spPr/>
    </dgm:pt>
    <dgm:pt modelId="{1004BA01-FC97-3947-AA7C-437552F8CEBB}" type="pres">
      <dgm:prSet presAssocID="{DA1B6CC3-AA40-2A45-B2C5-29701278187C}" presName="Name8" presStyleCnt="0"/>
      <dgm:spPr/>
    </dgm:pt>
    <dgm:pt modelId="{9531D9BB-68EF-1843-A7C6-C3ECB37441D7}" type="pres">
      <dgm:prSet presAssocID="{DA1B6CC3-AA40-2A45-B2C5-29701278187C}" presName="level" presStyleLbl="node1" presStyleIdx="0" presStyleCnt="3" custLinFactNeighborX="11623" custLinFactNeighborY="-28068">
        <dgm:presLayoutVars>
          <dgm:chMax val="1"/>
          <dgm:bulletEnabled val="1"/>
        </dgm:presLayoutVars>
      </dgm:prSet>
      <dgm:spPr/>
    </dgm:pt>
    <dgm:pt modelId="{372E7A0B-5662-0A41-B13A-1810C2990B72}" type="pres">
      <dgm:prSet presAssocID="{DA1B6CC3-AA40-2A45-B2C5-29701278187C}" presName="levelTx" presStyleLbl="revTx" presStyleIdx="0" presStyleCnt="0">
        <dgm:presLayoutVars>
          <dgm:chMax val="1"/>
          <dgm:bulletEnabled val="1"/>
        </dgm:presLayoutVars>
      </dgm:prSet>
      <dgm:spPr/>
    </dgm:pt>
    <dgm:pt modelId="{C8D3DDE2-E2B4-764E-9801-97D6FFCB94B0}" type="pres">
      <dgm:prSet presAssocID="{8603D07F-5384-7844-86E2-D9085A0F48D1}" presName="Name8" presStyleCnt="0"/>
      <dgm:spPr/>
    </dgm:pt>
    <dgm:pt modelId="{75AC7DA9-887A-9340-8C01-D3EE916972FB}" type="pres">
      <dgm:prSet presAssocID="{8603D07F-5384-7844-86E2-D9085A0F48D1}" presName="level" presStyleLbl="node1" presStyleIdx="1" presStyleCnt="3" custScaleX="108260" custLinFactNeighborY="0">
        <dgm:presLayoutVars>
          <dgm:chMax val="1"/>
          <dgm:bulletEnabled val="1"/>
        </dgm:presLayoutVars>
      </dgm:prSet>
      <dgm:spPr/>
    </dgm:pt>
    <dgm:pt modelId="{892D3CFB-1281-2A4F-BCF5-D575469B5741}" type="pres">
      <dgm:prSet presAssocID="{8603D07F-5384-7844-86E2-D9085A0F48D1}" presName="levelTx" presStyleLbl="revTx" presStyleIdx="0" presStyleCnt="0">
        <dgm:presLayoutVars>
          <dgm:chMax val="1"/>
          <dgm:bulletEnabled val="1"/>
        </dgm:presLayoutVars>
      </dgm:prSet>
      <dgm:spPr/>
    </dgm:pt>
    <dgm:pt modelId="{41B140F1-0F76-6344-95B6-C3AC48440E75}" type="pres">
      <dgm:prSet presAssocID="{FCBAE5F9-85DD-4F49-B679-EDEDA7071203}" presName="Name8" presStyleCnt="0"/>
      <dgm:spPr/>
    </dgm:pt>
    <dgm:pt modelId="{45D1A600-076D-144F-BAAD-E6354F035C53}" type="pres">
      <dgm:prSet presAssocID="{FCBAE5F9-85DD-4F49-B679-EDEDA7071203}" presName="level" presStyleLbl="node1" presStyleIdx="2" presStyleCnt="3" custScaleX="158182">
        <dgm:presLayoutVars>
          <dgm:chMax val="1"/>
          <dgm:bulletEnabled val="1"/>
        </dgm:presLayoutVars>
      </dgm:prSet>
      <dgm:spPr/>
    </dgm:pt>
    <dgm:pt modelId="{0D71AD81-10D5-7145-B480-2AAE5CE51624}" type="pres">
      <dgm:prSet presAssocID="{FCBAE5F9-85DD-4F49-B679-EDEDA7071203}" presName="levelTx" presStyleLbl="revTx" presStyleIdx="0" presStyleCnt="0">
        <dgm:presLayoutVars>
          <dgm:chMax val="1"/>
          <dgm:bulletEnabled val="1"/>
        </dgm:presLayoutVars>
      </dgm:prSet>
      <dgm:spPr/>
    </dgm:pt>
  </dgm:ptLst>
  <dgm:cxnLst>
    <dgm:cxn modelId="{B7C6F615-E1E0-1C4B-AEE8-D2F9BB82D129}" type="presOf" srcId="{8603D07F-5384-7844-86E2-D9085A0F48D1}" destId="{75AC7DA9-887A-9340-8C01-D3EE916972FB}" srcOrd="0" destOrd="0" presId="urn:microsoft.com/office/officeart/2005/8/layout/pyramid3"/>
    <dgm:cxn modelId="{B0D25926-2B20-5646-8A5F-F1A07AB92CF5}" srcId="{1B43B2DB-AA55-B849-86A4-A46F2131357E}" destId="{8603D07F-5384-7844-86E2-D9085A0F48D1}" srcOrd="1" destOrd="0" parTransId="{E8AA40EF-8C44-4A4A-8A49-7B9AE1028617}" sibTransId="{FD374E6D-6B59-2442-8139-950F19A305BB}"/>
    <dgm:cxn modelId="{70A9752E-6759-9C49-82FA-856E6CB7E92D}" type="presOf" srcId="{FCBAE5F9-85DD-4F49-B679-EDEDA7071203}" destId="{0D71AD81-10D5-7145-B480-2AAE5CE51624}" srcOrd="1" destOrd="0" presId="urn:microsoft.com/office/officeart/2005/8/layout/pyramid3"/>
    <dgm:cxn modelId="{BAE7F45D-C78C-2F41-A4C7-ECE08AABF09E}" type="presOf" srcId="{DA1B6CC3-AA40-2A45-B2C5-29701278187C}" destId="{372E7A0B-5662-0A41-B13A-1810C2990B72}" srcOrd="1" destOrd="0" presId="urn:microsoft.com/office/officeart/2005/8/layout/pyramid3"/>
    <dgm:cxn modelId="{7363D761-B2EC-0C41-ABB1-148AC3799685}" srcId="{1B43B2DB-AA55-B849-86A4-A46F2131357E}" destId="{DA1B6CC3-AA40-2A45-B2C5-29701278187C}" srcOrd="0" destOrd="0" parTransId="{F0DECB4D-37E2-E34C-A46A-959D3188453E}" sibTransId="{0DCB70E7-6014-7640-9BAC-3C72F0D22099}"/>
    <dgm:cxn modelId="{95994646-7E53-A54F-9CA0-C496ADF971BA}" type="presOf" srcId="{8603D07F-5384-7844-86E2-D9085A0F48D1}" destId="{892D3CFB-1281-2A4F-BCF5-D575469B5741}" srcOrd="1" destOrd="0" presId="urn:microsoft.com/office/officeart/2005/8/layout/pyramid3"/>
    <dgm:cxn modelId="{E693CC4C-4A9E-3D45-8CF3-4535B7FC425B}" type="presOf" srcId="{FCBAE5F9-85DD-4F49-B679-EDEDA7071203}" destId="{45D1A600-076D-144F-BAAD-E6354F035C53}" srcOrd="0" destOrd="0" presId="urn:microsoft.com/office/officeart/2005/8/layout/pyramid3"/>
    <dgm:cxn modelId="{B315DB94-776B-4449-B728-C7221D7C8471}" type="presOf" srcId="{1B43B2DB-AA55-B849-86A4-A46F2131357E}" destId="{08671F0B-C410-1849-A53A-E8F60B139142}" srcOrd="0" destOrd="0" presId="urn:microsoft.com/office/officeart/2005/8/layout/pyramid3"/>
    <dgm:cxn modelId="{5E9D29CE-9440-CB4E-BAE0-5D1F1ADB71E0}" srcId="{1B43B2DB-AA55-B849-86A4-A46F2131357E}" destId="{FCBAE5F9-85DD-4F49-B679-EDEDA7071203}" srcOrd="2" destOrd="0" parTransId="{5C47F861-6329-6646-8CD9-26A3287A6C98}" sibTransId="{A109390A-1EB1-A542-B60A-C84D201E8111}"/>
    <dgm:cxn modelId="{2599BEF1-CB03-1E42-8E75-E239561E3360}" type="presOf" srcId="{DA1B6CC3-AA40-2A45-B2C5-29701278187C}" destId="{9531D9BB-68EF-1843-A7C6-C3ECB37441D7}" srcOrd="0" destOrd="0" presId="urn:microsoft.com/office/officeart/2005/8/layout/pyramid3"/>
    <dgm:cxn modelId="{5CA473E5-6502-D443-B3EF-30A72370477F}" type="presParOf" srcId="{08671F0B-C410-1849-A53A-E8F60B139142}" destId="{1004BA01-FC97-3947-AA7C-437552F8CEBB}" srcOrd="0" destOrd="0" presId="urn:microsoft.com/office/officeart/2005/8/layout/pyramid3"/>
    <dgm:cxn modelId="{13236FA7-0B99-0043-A77B-099D8A5BEB8A}" type="presParOf" srcId="{1004BA01-FC97-3947-AA7C-437552F8CEBB}" destId="{9531D9BB-68EF-1843-A7C6-C3ECB37441D7}" srcOrd="0" destOrd="0" presId="urn:microsoft.com/office/officeart/2005/8/layout/pyramid3"/>
    <dgm:cxn modelId="{1A6C4CDC-38B6-3047-BE52-8AA9996470E9}" type="presParOf" srcId="{1004BA01-FC97-3947-AA7C-437552F8CEBB}" destId="{372E7A0B-5662-0A41-B13A-1810C2990B72}" srcOrd="1" destOrd="0" presId="urn:microsoft.com/office/officeart/2005/8/layout/pyramid3"/>
    <dgm:cxn modelId="{1AF574F9-DA59-FE47-81FA-82EB40686781}" type="presParOf" srcId="{08671F0B-C410-1849-A53A-E8F60B139142}" destId="{C8D3DDE2-E2B4-764E-9801-97D6FFCB94B0}" srcOrd="1" destOrd="0" presId="urn:microsoft.com/office/officeart/2005/8/layout/pyramid3"/>
    <dgm:cxn modelId="{2B0293BC-89DA-B646-A28B-77B30985DFAC}" type="presParOf" srcId="{C8D3DDE2-E2B4-764E-9801-97D6FFCB94B0}" destId="{75AC7DA9-887A-9340-8C01-D3EE916972FB}" srcOrd="0" destOrd="0" presId="urn:microsoft.com/office/officeart/2005/8/layout/pyramid3"/>
    <dgm:cxn modelId="{DB69BEA3-097D-BE49-9880-E79E63845155}" type="presParOf" srcId="{C8D3DDE2-E2B4-764E-9801-97D6FFCB94B0}" destId="{892D3CFB-1281-2A4F-BCF5-D575469B5741}" srcOrd="1" destOrd="0" presId="urn:microsoft.com/office/officeart/2005/8/layout/pyramid3"/>
    <dgm:cxn modelId="{30ED855B-1F67-9C45-BC5B-A514C1AE21A3}" type="presParOf" srcId="{08671F0B-C410-1849-A53A-E8F60B139142}" destId="{41B140F1-0F76-6344-95B6-C3AC48440E75}" srcOrd="2" destOrd="0" presId="urn:microsoft.com/office/officeart/2005/8/layout/pyramid3"/>
    <dgm:cxn modelId="{700ABE38-1CA5-E644-A610-D30C36429FFB}" type="presParOf" srcId="{41B140F1-0F76-6344-95B6-C3AC48440E75}" destId="{45D1A600-076D-144F-BAAD-E6354F035C53}" srcOrd="0" destOrd="0" presId="urn:microsoft.com/office/officeart/2005/8/layout/pyramid3"/>
    <dgm:cxn modelId="{F43CBC51-4A6D-FE43-BE77-8A78197A7494}" type="presParOf" srcId="{41B140F1-0F76-6344-95B6-C3AC48440E75}" destId="{0D71AD81-10D5-7145-B480-2AAE5CE51624}" srcOrd="1" destOrd="0" presId="urn:microsoft.com/office/officeart/2005/8/layout/pyramid3"/>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5C7F9A62-271A-BD4D-BCB7-DC4B5F5E8809}" type="doc">
      <dgm:prSet loTypeId="urn:microsoft.com/office/officeart/2005/8/layout/venn1" loCatId="" qsTypeId="urn:microsoft.com/office/officeart/2005/8/quickstyle/simple1" qsCatId="simple" csTypeId="urn:microsoft.com/office/officeart/2005/8/colors/accent1_2" csCatId="accent1" phldr="1"/>
      <dgm:spPr/>
    </dgm:pt>
    <dgm:pt modelId="{56B6D161-4495-7740-A4AE-BED1CEC55F24}">
      <dgm:prSet phldrT="[Text]"/>
      <dgm:spPr/>
      <dgm:t>
        <a:bodyPr/>
        <a:lstStyle/>
        <a:p>
          <a:r>
            <a:rPr lang="en-US" b="1" dirty="0">
              <a:solidFill>
                <a:srgbClr val="FFFFFF"/>
              </a:solidFill>
              <a:latin typeface="+mj-lt"/>
            </a:rPr>
            <a:t>Objectives &amp; Key Results (OKRs)  to sustainability &amp; innovation goals</a:t>
          </a:r>
          <a:endParaRPr lang="en-US" dirty="0">
            <a:latin typeface="+mj-lt"/>
          </a:endParaRPr>
        </a:p>
      </dgm:t>
    </dgm:pt>
    <dgm:pt modelId="{076AC758-4433-8745-BE8A-205BE47CE500}" type="parTrans" cxnId="{1C8A6961-979E-DB41-8067-21750F5ABAD3}">
      <dgm:prSet/>
      <dgm:spPr/>
      <dgm:t>
        <a:bodyPr/>
        <a:lstStyle/>
        <a:p>
          <a:endParaRPr lang="en-US"/>
        </a:p>
      </dgm:t>
    </dgm:pt>
    <dgm:pt modelId="{2CBC90BF-FFA0-9042-92D2-0AE8BAAA01EA}" type="sibTrans" cxnId="{1C8A6961-979E-DB41-8067-21750F5ABAD3}">
      <dgm:prSet/>
      <dgm:spPr/>
      <dgm:t>
        <a:bodyPr/>
        <a:lstStyle/>
        <a:p>
          <a:endParaRPr lang="en-US"/>
        </a:p>
      </dgm:t>
    </dgm:pt>
    <dgm:pt modelId="{3ACE65D1-6958-9B45-8B39-13CDCA0D52AE}">
      <dgm:prSet phldrT="[Text]"/>
      <dgm:spPr/>
      <dgm:t>
        <a:bodyPr/>
        <a:lstStyle/>
        <a:p>
          <a:r>
            <a:rPr lang="en-US" b="1" dirty="0">
              <a:solidFill>
                <a:srgbClr val="FFFFFF"/>
              </a:solidFill>
              <a:latin typeface="+mj-lt"/>
            </a:rPr>
            <a:t>Compliance KPIs → energy efficiency, data protection, AI ethics</a:t>
          </a:r>
          <a:endParaRPr lang="en-US" dirty="0">
            <a:latin typeface="+mj-lt"/>
          </a:endParaRPr>
        </a:p>
      </dgm:t>
    </dgm:pt>
    <dgm:pt modelId="{46726840-4D9B-2843-878F-EE50110574E1}" type="parTrans" cxnId="{79D03AB5-4E77-0548-8251-898F4383AA1F}">
      <dgm:prSet/>
      <dgm:spPr/>
      <dgm:t>
        <a:bodyPr/>
        <a:lstStyle/>
        <a:p>
          <a:endParaRPr lang="en-US"/>
        </a:p>
      </dgm:t>
    </dgm:pt>
    <dgm:pt modelId="{1B3A79C8-FA77-2E48-87D8-4B8C34F60208}" type="sibTrans" cxnId="{79D03AB5-4E77-0548-8251-898F4383AA1F}">
      <dgm:prSet/>
      <dgm:spPr/>
      <dgm:t>
        <a:bodyPr/>
        <a:lstStyle/>
        <a:p>
          <a:endParaRPr lang="en-US"/>
        </a:p>
      </dgm:t>
    </dgm:pt>
    <dgm:pt modelId="{A27AB84E-87CC-1B49-9CAF-F896BC728D9D}">
      <dgm:prSet phldrT="[Text]"/>
      <dgm:spPr/>
      <dgm:t>
        <a:bodyPr/>
        <a:lstStyle/>
        <a:p>
          <a:r>
            <a:rPr lang="en-US" b="1" dirty="0">
              <a:solidFill>
                <a:srgbClr val="FFFFFF"/>
              </a:solidFill>
              <a:latin typeface="+mj-lt"/>
            </a:rPr>
            <a:t>Portfolio Kanban → track epics from idea to delivery</a:t>
          </a:r>
          <a:endParaRPr lang="en-US" dirty="0">
            <a:latin typeface="+mj-lt"/>
          </a:endParaRPr>
        </a:p>
      </dgm:t>
    </dgm:pt>
    <dgm:pt modelId="{B9A399BB-D94B-7744-A32F-9AAE4CD6CA2A}" type="parTrans" cxnId="{AB449F5F-66F9-264D-8958-E13B6C0AE121}">
      <dgm:prSet/>
      <dgm:spPr/>
      <dgm:t>
        <a:bodyPr/>
        <a:lstStyle/>
        <a:p>
          <a:endParaRPr lang="en-US"/>
        </a:p>
      </dgm:t>
    </dgm:pt>
    <dgm:pt modelId="{5EB0F492-D9AB-2D45-9B10-A9E613D64B79}" type="sibTrans" cxnId="{AB449F5F-66F9-264D-8958-E13B6C0AE121}">
      <dgm:prSet/>
      <dgm:spPr/>
      <dgm:t>
        <a:bodyPr/>
        <a:lstStyle/>
        <a:p>
          <a:endParaRPr lang="en-US"/>
        </a:p>
      </dgm:t>
    </dgm:pt>
    <dgm:pt modelId="{7A7356DF-749F-764D-984E-6E7313CB2E59}" type="pres">
      <dgm:prSet presAssocID="{5C7F9A62-271A-BD4D-BCB7-DC4B5F5E8809}" presName="compositeShape" presStyleCnt="0">
        <dgm:presLayoutVars>
          <dgm:chMax val="7"/>
          <dgm:dir/>
          <dgm:resizeHandles val="exact"/>
        </dgm:presLayoutVars>
      </dgm:prSet>
      <dgm:spPr/>
    </dgm:pt>
    <dgm:pt modelId="{DEBA7531-D756-B042-93CD-657519D86DB2}" type="pres">
      <dgm:prSet presAssocID="{56B6D161-4495-7740-A4AE-BED1CEC55F24}" presName="circ1" presStyleLbl="vennNode1" presStyleIdx="0" presStyleCnt="3"/>
      <dgm:spPr/>
    </dgm:pt>
    <dgm:pt modelId="{E7628ED7-5CD0-1347-8F64-0F6C521D8CD7}" type="pres">
      <dgm:prSet presAssocID="{56B6D161-4495-7740-A4AE-BED1CEC55F24}" presName="circ1Tx" presStyleLbl="revTx" presStyleIdx="0" presStyleCnt="0">
        <dgm:presLayoutVars>
          <dgm:chMax val="0"/>
          <dgm:chPref val="0"/>
          <dgm:bulletEnabled val="1"/>
        </dgm:presLayoutVars>
      </dgm:prSet>
      <dgm:spPr/>
    </dgm:pt>
    <dgm:pt modelId="{57A64524-801A-D145-AAF1-C3C727D8868A}" type="pres">
      <dgm:prSet presAssocID="{3ACE65D1-6958-9B45-8B39-13CDCA0D52AE}" presName="circ2" presStyleLbl="vennNode1" presStyleIdx="1" presStyleCnt="3"/>
      <dgm:spPr/>
    </dgm:pt>
    <dgm:pt modelId="{83549474-BEA9-E848-A727-C964009354A2}" type="pres">
      <dgm:prSet presAssocID="{3ACE65D1-6958-9B45-8B39-13CDCA0D52AE}" presName="circ2Tx" presStyleLbl="revTx" presStyleIdx="0" presStyleCnt="0">
        <dgm:presLayoutVars>
          <dgm:chMax val="0"/>
          <dgm:chPref val="0"/>
          <dgm:bulletEnabled val="1"/>
        </dgm:presLayoutVars>
      </dgm:prSet>
      <dgm:spPr/>
    </dgm:pt>
    <dgm:pt modelId="{FCFBFCE3-4135-C346-B6B0-4F314BB5F96F}" type="pres">
      <dgm:prSet presAssocID="{A27AB84E-87CC-1B49-9CAF-F896BC728D9D}" presName="circ3" presStyleLbl="vennNode1" presStyleIdx="2" presStyleCnt="3"/>
      <dgm:spPr/>
    </dgm:pt>
    <dgm:pt modelId="{9A0AD57D-3992-0148-924B-0B4462ECA9EF}" type="pres">
      <dgm:prSet presAssocID="{A27AB84E-87CC-1B49-9CAF-F896BC728D9D}" presName="circ3Tx" presStyleLbl="revTx" presStyleIdx="0" presStyleCnt="0">
        <dgm:presLayoutVars>
          <dgm:chMax val="0"/>
          <dgm:chPref val="0"/>
          <dgm:bulletEnabled val="1"/>
        </dgm:presLayoutVars>
      </dgm:prSet>
      <dgm:spPr/>
    </dgm:pt>
  </dgm:ptLst>
  <dgm:cxnLst>
    <dgm:cxn modelId="{2365285D-9EB1-8240-B932-E0805282C132}" type="presOf" srcId="{5C7F9A62-271A-BD4D-BCB7-DC4B5F5E8809}" destId="{7A7356DF-749F-764D-984E-6E7313CB2E59}" srcOrd="0" destOrd="0" presId="urn:microsoft.com/office/officeart/2005/8/layout/venn1"/>
    <dgm:cxn modelId="{AB449F5F-66F9-264D-8958-E13B6C0AE121}" srcId="{5C7F9A62-271A-BD4D-BCB7-DC4B5F5E8809}" destId="{A27AB84E-87CC-1B49-9CAF-F896BC728D9D}" srcOrd="2" destOrd="0" parTransId="{B9A399BB-D94B-7744-A32F-9AAE4CD6CA2A}" sibTransId="{5EB0F492-D9AB-2D45-9B10-A9E613D64B79}"/>
    <dgm:cxn modelId="{1C8A6961-979E-DB41-8067-21750F5ABAD3}" srcId="{5C7F9A62-271A-BD4D-BCB7-DC4B5F5E8809}" destId="{56B6D161-4495-7740-A4AE-BED1CEC55F24}" srcOrd="0" destOrd="0" parTransId="{076AC758-4433-8745-BE8A-205BE47CE500}" sibTransId="{2CBC90BF-FFA0-9042-92D2-0AE8BAAA01EA}"/>
    <dgm:cxn modelId="{FA6B0E65-296F-BD41-ACA2-DA6D404A36A0}" type="presOf" srcId="{3ACE65D1-6958-9B45-8B39-13CDCA0D52AE}" destId="{57A64524-801A-D145-AAF1-C3C727D8868A}" srcOrd="0" destOrd="0" presId="urn:microsoft.com/office/officeart/2005/8/layout/venn1"/>
    <dgm:cxn modelId="{9C188C65-03AC-4243-BEED-41A2DBF9D4C0}" type="presOf" srcId="{56B6D161-4495-7740-A4AE-BED1CEC55F24}" destId="{E7628ED7-5CD0-1347-8F64-0F6C521D8CD7}" srcOrd="1" destOrd="0" presId="urn:microsoft.com/office/officeart/2005/8/layout/venn1"/>
    <dgm:cxn modelId="{6DE56E7F-0FD7-7545-820F-2F6C646C911C}" type="presOf" srcId="{56B6D161-4495-7740-A4AE-BED1CEC55F24}" destId="{DEBA7531-D756-B042-93CD-657519D86DB2}" srcOrd="0" destOrd="0" presId="urn:microsoft.com/office/officeart/2005/8/layout/venn1"/>
    <dgm:cxn modelId="{02223BA7-5382-E74D-982B-B04487FA2753}" type="presOf" srcId="{A27AB84E-87CC-1B49-9CAF-F896BC728D9D}" destId="{9A0AD57D-3992-0148-924B-0B4462ECA9EF}" srcOrd="1" destOrd="0" presId="urn:microsoft.com/office/officeart/2005/8/layout/venn1"/>
    <dgm:cxn modelId="{79D03AB5-4E77-0548-8251-898F4383AA1F}" srcId="{5C7F9A62-271A-BD4D-BCB7-DC4B5F5E8809}" destId="{3ACE65D1-6958-9B45-8B39-13CDCA0D52AE}" srcOrd="1" destOrd="0" parTransId="{46726840-4D9B-2843-878F-EE50110574E1}" sibTransId="{1B3A79C8-FA77-2E48-87D8-4B8C34F60208}"/>
    <dgm:cxn modelId="{C2947FB8-1AD9-DC43-8201-1E26A51AEBB2}" type="presOf" srcId="{A27AB84E-87CC-1B49-9CAF-F896BC728D9D}" destId="{FCFBFCE3-4135-C346-B6B0-4F314BB5F96F}" srcOrd="0" destOrd="0" presId="urn:microsoft.com/office/officeart/2005/8/layout/venn1"/>
    <dgm:cxn modelId="{57F305C0-E3F1-404A-A4C0-44DF46E3C257}" type="presOf" srcId="{3ACE65D1-6958-9B45-8B39-13CDCA0D52AE}" destId="{83549474-BEA9-E848-A727-C964009354A2}" srcOrd="1" destOrd="0" presId="urn:microsoft.com/office/officeart/2005/8/layout/venn1"/>
    <dgm:cxn modelId="{FBF9E992-5E52-2B42-9B70-2EBEAACBEA81}" type="presParOf" srcId="{7A7356DF-749F-764D-984E-6E7313CB2E59}" destId="{DEBA7531-D756-B042-93CD-657519D86DB2}" srcOrd="0" destOrd="0" presId="urn:microsoft.com/office/officeart/2005/8/layout/venn1"/>
    <dgm:cxn modelId="{5B3FDDB4-EFC3-E34A-92D3-FE8604C9A1AF}" type="presParOf" srcId="{7A7356DF-749F-764D-984E-6E7313CB2E59}" destId="{E7628ED7-5CD0-1347-8F64-0F6C521D8CD7}" srcOrd="1" destOrd="0" presId="urn:microsoft.com/office/officeart/2005/8/layout/venn1"/>
    <dgm:cxn modelId="{E3844779-36F2-C94D-98E4-E87E946FB82C}" type="presParOf" srcId="{7A7356DF-749F-764D-984E-6E7313CB2E59}" destId="{57A64524-801A-D145-AAF1-C3C727D8868A}" srcOrd="2" destOrd="0" presId="urn:microsoft.com/office/officeart/2005/8/layout/venn1"/>
    <dgm:cxn modelId="{A6C70D18-6A74-5943-96C0-10787E7E008A}" type="presParOf" srcId="{7A7356DF-749F-764D-984E-6E7313CB2E59}" destId="{83549474-BEA9-E848-A727-C964009354A2}" srcOrd="3" destOrd="0" presId="urn:microsoft.com/office/officeart/2005/8/layout/venn1"/>
    <dgm:cxn modelId="{9B34EC3A-1EE8-2E47-A7E9-94ABD0E4EADB}" type="presParOf" srcId="{7A7356DF-749F-764D-984E-6E7313CB2E59}" destId="{FCFBFCE3-4135-C346-B6B0-4F314BB5F96F}" srcOrd="4" destOrd="0" presId="urn:microsoft.com/office/officeart/2005/8/layout/venn1"/>
    <dgm:cxn modelId="{6CF0FE62-A426-0A4B-9C8F-FCF4F2352998}" type="presParOf" srcId="{7A7356DF-749F-764D-984E-6E7313CB2E59}" destId="{9A0AD57D-3992-0148-924B-0B4462ECA9EF}" srcOrd="5" destOrd="0" presId="urn:microsoft.com/office/officeart/2005/8/layout/venn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31D9BB-68EF-1843-A7C6-C3ECB37441D7}">
      <dsp:nvSpPr>
        <dsp:cNvPr id="0" name=""/>
        <dsp:cNvSpPr/>
      </dsp:nvSpPr>
      <dsp:spPr>
        <a:xfrm rot="10800000">
          <a:off x="0" y="0"/>
          <a:ext cx="8308688" cy="2678293"/>
        </a:xfrm>
        <a:prstGeom prst="trapezoid">
          <a:avLst>
            <a:gd name="adj" fmla="val 51704"/>
          </a:avLst>
        </a:prstGeom>
        <a:solidFill>
          <a:srgbClr val="145C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bg1"/>
            </a:solidFill>
          </a:endParaRPr>
        </a:p>
      </dsp:txBody>
      <dsp:txXfrm rot="-10800000">
        <a:off x="1454020" y="0"/>
        <a:ext cx="5400647" cy="2678293"/>
      </dsp:txXfrm>
    </dsp:sp>
    <dsp:sp modelId="{75AC7DA9-887A-9340-8C01-D3EE916972FB}">
      <dsp:nvSpPr>
        <dsp:cNvPr id="0" name=""/>
        <dsp:cNvSpPr/>
      </dsp:nvSpPr>
      <dsp:spPr>
        <a:xfrm rot="10800000">
          <a:off x="1156015" y="2678292"/>
          <a:ext cx="5996657" cy="2678293"/>
        </a:xfrm>
        <a:prstGeom prst="trapezoid">
          <a:avLst>
            <a:gd name="adj" fmla="val 51704"/>
          </a:avLst>
        </a:prstGeom>
        <a:solidFill>
          <a:srgbClr val="5CBCA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bg1"/>
            </a:solidFill>
          </a:endParaRPr>
        </a:p>
      </dsp:txBody>
      <dsp:txXfrm rot="-10800000">
        <a:off x="2205430" y="2678292"/>
        <a:ext cx="3897827" cy="2678293"/>
      </dsp:txXfrm>
    </dsp:sp>
    <dsp:sp modelId="{45D1A600-076D-144F-BAAD-E6354F035C53}">
      <dsp:nvSpPr>
        <dsp:cNvPr id="0" name=""/>
        <dsp:cNvSpPr/>
      </dsp:nvSpPr>
      <dsp:spPr>
        <a:xfrm rot="10800000">
          <a:off x="1963869" y="5356585"/>
          <a:ext cx="4380949" cy="2678293"/>
        </a:xfrm>
        <a:prstGeom prst="trapezoid">
          <a:avLst>
            <a:gd name="adj" fmla="val 51704"/>
          </a:avLst>
        </a:prstGeom>
        <a:solidFill>
          <a:srgbClr val="145C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US" sz="2400" kern="1200">
            <a:solidFill>
              <a:schemeClr val="bg1"/>
            </a:solidFill>
          </a:endParaRPr>
        </a:p>
      </dsp:txBody>
      <dsp:txXfrm rot="-10800000">
        <a:off x="1963869" y="5356585"/>
        <a:ext cx="4380949" cy="26782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BA7531-D756-B042-93CD-657519D86DB2}">
      <dsp:nvSpPr>
        <dsp:cNvPr id="0" name=""/>
        <dsp:cNvSpPr/>
      </dsp:nvSpPr>
      <dsp:spPr>
        <a:xfrm>
          <a:off x="2411729" y="87629"/>
          <a:ext cx="4206240" cy="420624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r>
            <a:rPr lang="en-US" sz="3100" b="1" kern="1200" dirty="0">
              <a:solidFill>
                <a:srgbClr val="FFFFFF"/>
              </a:solidFill>
              <a:latin typeface="+mj-lt"/>
            </a:rPr>
            <a:t>Objectives &amp; Key Results (OKRs)  to sustainability &amp; innovation goals</a:t>
          </a:r>
          <a:endParaRPr lang="en-US" sz="3100" kern="1200" dirty="0">
            <a:latin typeface="+mj-lt"/>
          </a:endParaRPr>
        </a:p>
      </dsp:txBody>
      <dsp:txXfrm>
        <a:off x="2972561" y="823721"/>
        <a:ext cx="3084576" cy="1892808"/>
      </dsp:txXfrm>
    </dsp:sp>
    <dsp:sp modelId="{57A64524-801A-D145-AAF1-C3C727D8868A}">
      <dsp:nvSpPr>
        <dsp:cNvPr id="0" name=""/>
        <dsp:cNvSpPr/>
      </dsp:nvSpPr>
      <dsp:spPr>
        <a:xfrm>
          <a:off x="3929481" y="2716529"/>
          <a:ext cx="4206240" cy="420624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r>
            <a:rPr lang="en-US" sz="3100" b="1" kern="1200" dirty="0">
              <a:solidFill>
                <a:srgbClr val="FFFFFF"/>
              </a:solidFill>
              <a:latin typeface="+mj-lt"/>
            </a:rPr>
            <a:t>Compliance KPIs → energy efficiency, data protection, AI ethics</a:t>
          </a:r>
          <a:endParaRPr lang="en-US" sz="3100" kern="1200" dirty="0">
            <a:latin typeface="+mj-lt"/>
          </a:endParaRPr>
        </a:p>
      </dsp:txBody>
      <dsp:txXfrm>
        <a:off x="5215890" y="3803141"/>
        <a:ext cx="2523744" cy="2313432"/>
      </dsp:txXfrm>
    </dsp:sp>
    <dsp:sp modelId="{FCFBFCE3-4135-C346-B6B0-4F314BB5F96F}">
      <dsp:nvSpPr>
        <dsp:cNvPr id="0" name=""/>
        <dsp:cNvSpPr/>
      </dsp:nvSpPr>
      <dsp:spPr>
        <a:xfrm>
          <a:off x="893978" y="2716529"/>
          <a:ext cx="4206240" cy="420624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r>
            <a:rPr lang="en-US" sz="3100" b="1" kern="1200" dirty="0">
              <a:solidFill>
                <a:srgbClr val="FFFFFF"/>
              </a:solidFill>
              <a:latin typeface="+mj-lt"/>
            </a:rPr>
            <a:t>Portfolio Kanban → track epics from idea to delivery</a:t>
          </a:r>
          <a:endParaRPr lang="en-US" sz="3100" kern="1200" dirty="0">
            <a:latin typeface="+mj-lt"/>
          </a:endParaRPr>
        </a:p>
      </dsp:txBody>
      <dsp:txXfrm>
        <a:off x="1290065" y="3803141"/>
        <a:ext cx="2523744" cy="2313432"/>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462226-A090-C745-A2FC-47E2979F727E}" type="datetimeFigureOut">
              <a:rPr lang="en-US" smtClean="0"/>
              <a:t>5/14/2026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9F4364-983E-4044-97C0-E34BB3FA4648}" type="slidenum">
              <a:rPr lang="en-US" smtClean="0"/>
              <a:t>‹#›</a:t>
            </a:fld>
            <a:endParaRPr lang="en-US"/>
          </a:p>
        </p:txBody>
      </p:sp>
    </p:spTree>
    <p:extLst>
      <p:ext uri="{BB962C8B-B14F-4D97-AF65-F5344CB8AC3E}">
        <p14:creationId xmlns:p14="http://schemas.microsoft.com/office/powerpoint/2010/main" val="3487637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9F4364-983E-4044-97C0-E34BB3FA4648}" type="slidenum">
              <a:rPr lang="en-US" smtClean="0"/>
              <a:t>2</a:t>
            </a:fld>
            <a:endParaRPr lang="en-US"/>
          </a:p>
        </p:txBody>
      </p:sp>
    </p:spTree>
    <p:extLst>
      <p:ext uri="{BB962C8B-B14F-4D97-AF65-F5344CB8AC3E}">
        <p14:creationId xmlns:p14="http://schemas.microsoft.com/office/powerpoint/2010/main" val="65706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t>
            </a:r>
            <a:r>
              <a:rPr lang="en-US" dirty="0" err="1"/>
              <a:t>SAFe</a:t>
            </a:r>
            <a:r>
              <a:rPr lang="en-US" dirty="0"/>
              <a:t> is being used in Siemens?</a:t>
            </a:r>
          </a:p>
          <a:p>
            <a:r>
              <a:rPr lang="en-US" dirty="0"/>
              <a:t>Siemens provides a compelling case study because it integrates industrial expertise with cutting-edge digital innovation, making it a pioneer in applying AI and </a:t>
            </a:r>
            <a:r>
              <a:rPr lang="en-US" dirty="0" err="1"/>
              <a:t>IoT</a:t>
            </a:r>
            <a:r>
              <a:rPr lang="en-US" dirty="0"/>
              <a:t> to both industrial and consumer markets. Its dual role as a traditional manufacturer and a digital enterprise illustrates the real-world challenges of scaling agility in complex, global organizations. (</a:t>
            </a:r>
            <a:r>
              <a:rPr lang="en-US" dirty="0" err="1"/>
              <a:t>Petrik</a:t>
            </a:r>
            <a:r>
              <a:rPr lang="en-US" dirty="0"/>
              <a:t> &amp; </a:t>
            </a:r>
            <a:r>
              <a:rPr lang="en-US" dirty="0" err="1"/>
              <a:t>Herzwurm</a:t>
            </a:r>
            <a:r>
              <a:rPr lang="en-US" dirty="0"/>
              <a:t>, 2019) </a:t>
            </a:r>
          </a:p>
          <a:p>
            <a:endParaRPr lang="en-US" dirty="0"/>
          </a:p>
          <a:p>
            <a:r>
              <a:rPr lang="en-US" dirty="0"/>
              <a:t>“Why” Siemens is perfect example for </a:t>
            </a:r>
            <a:r>
              <a:rPr lang="en-US" dirty="0" err="1"/>
              <a:t>SAFe</a:t>
            </a:r>
            <a:r>
              <a:rPr lang="en-US" dirty="0"/>
              <a:t> Implementation?</a:t>
            </a:r>
          </a:p>
          <a:p>
            <a:r>
              <a:rPr lang="en-US" dirty="0"/>
              <a:t>Siemens was selected because its AI-enabled home appliances initiative sits at the heart of the digital business environment: The business addresses evolving customer expectations for smarter, connected, and sustainable living. (Siemens Advanta,2019) Furthermore, Siemens has actively pursued agile adoption across its digital software teams to remain competitive against tech-driven rivals like Samsung, Bosch, and Google, making it an ideal subject for exploring how Agile methodologies like </a:t>
            </a:r>
            <a:r>
              <a:rPr lang="en-US" dirty="0" err="1"/>
              <a:t>SAFe</a:t>
            </a:r>
            <a:r>
              <a:rPr lang="en-US" dirty="0"/>
              <a:t> can be applied to large-scale innovation. (RIETI, 2024)</a:t>
            </a:r>
          </a:p>
          <a:p>
            <a:endParaRPr lang="en-US" dirty="0"/>
          </a:p>
          <a:p>
            <a:r>
              <a:rPr lang="en-US" dirty="0"/>
              <a:t>“What” </a:t>
            </a:r>
            <a:r>
              <a:rPr lang="en-US" dirty="0" err="1"/>
              <a:t>SAFe</a:t>
            </a:r>
            <a:r>
              <a:rPr lang="en-US" dirty="0"/>
              <a:t> Agile Practices are being utilized at Siemens? </a:t>
            </a:r>
          </a:p>
          <a:p>
            <a:r>
              <a:rPr lang="en-US" dirty="0"/>
              <a:t>Studying Siemens allows us to explore how agile practices, particularly the Scaled Agile Framework (</a:t>
            </a:r>
            <a:r>
              <a:rPr lang="en-US" dirty="0" err="1"/>
              <a:t>SAFe</a:t>
            </a:r>
            <a:r>
              <a:rPr lang="en-US" dirty="0"/>
              <a:t>), can help overcome organizational silos, accelerate software delivery, and enhance collaboration across interdisciplinary teams. Insights from this case can also serve as a resourceful model for other enterprises facing similar challenges in aligning digital strategy with customer-centric innovation. (Siemens PLM, 2019)</a:t>
            </a:r>
          </a:p>
          <a:p>
            <a:endParaRPr lang="en-US" dirty="0"/>
          </a:p>
        </p:txBody>
      </p:sp>
      <p:sp>
        <p:nvSpPr>
          <p:cNvPr id="4" name="Slide Number Placeholder 3"/>
          <p:cNvSpPr>
            <a:spLocks noGrp="1"/>
          </p:cNvSpPr>
          <p:nvPr>
            <p:ph type="sldNum" sz="quarter" idx="10"/>
          </p:nvPr>
        </p:nvSpPr>
        <p:spPr/>
        <p:txBody>
          <a:bodyPr/>
          <a:lstStyle/>
          <a:p>
            <a:fld id="{D19F4364-983E-4044-97C0-E34BB3FA4648}" type="slidenum">
              <a:rPr lang="en-US" smtClean="0"/>
              <a:t>3</a:t>
            </a:fld>
            <a:endParaRPr lang="en-US"/>
          </a:p>
        </p:txBody>
      </p:sp>
    </p:spTree>
    <p:extLst>
      <p:ext uri="{BB962C8B-B14F-4D97-AF65-F5344CB8AC3E}">
        <p14:creationId xmlns:p14="http://schemas.microsoft.com/office/powerpoint/2010/main" val="4111819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4B036-FE5D-A231-1129-D2DBE3A57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F5E80-D188-5D06-E488-5CD7158DEC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492170-8A76-F763-FE75-1FFF5132D317}"/>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Product-Based Department: Siemens AI Home Appliances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Within Siemens Digital Industries Software, the AI-enabled Home Appliances department plays a strategic role in advancing Siemens’ vision for a digital enterprise. This department focuses on embedding artificial intelligence (AI), the Internet of Things (IoT), and cloud solutions into consumer appliances such as washing machines, refrigerators, and ovens. The department’s mission is to deliver intelligent, energy-efficient, and adaptive appliances, aligning with Siemens’ broader Digital Enterprise strategy that emphasizes connectivity, sustainability, and customer-centric innovation (Siemens, 2024).</a:t>
            </a:r>
          </a:p>
          <a:p>
            <a:endParaRPr lang="en-US" dirty="0"/>
          </a:p>
        </p:txBody>
      </p:sp>
      <p:sp>
        <p:nvSpPr>
          <p:cNvPr id="4" name="Slide Number Placeholder 3">
            <a:extLst>
              <a:ext uri="{FF2B5EF4-FFF2-40B4-BE49-F238E27FC236}">
                <a16:creationId xmlns:a16="http://schemas.microsoft.com/office/drawing/2014/main" id="{28FACEB6-9FDD-07E4-5191-EC35943ECE0A}"/>
              </a:ext>
            </a:extLst>
          </p:cNvPr>
          <p:cNvSpPr>
            <a:spLocks noGrp="1"/>
          </p:cNvSpPr>
          <p:nvPr>
            <p:ph type="sldNum" sz="quarter" idx="5"/>
          </p:nvPr>
        </p:nvSpPr>
        <p:spPr/>
        <p:txBody>
          <a:bodyPr/>
          <a:lstStyle/>
          <a:p>
            <a:fld id="{D19F4364-983E-4044-97C0-E34BB3FA4648}" type="slidenum">
              <a:rPr lang="en-US" smtClean="0"/>
              <a:t>5</a:t>
            </a:fld>
            <a:endParaRPr lang="en-US"/>
          </a:p>
        </p:txBody>
      </p:sp>
    </p:spTree>
    <p:extLst>
      <p:ext uri="{BB962C8B-B14F-4D97-AF65-F5344CB8AC3E}">
        <p14:creationId xmlns:p14="http://schemas.microsoft.com/office/powerpoint/2010/main" val="986298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Siemens allocates over €6 billion annually to research and development (R&amp;D), with a significant proportion directed toward digitalization and AI innovation (Siemens, 2024). For the AI appliances program, the budget priorities:</a:t>
            </a:r>
          </a:p>
          <a:p>
            <a:pPr lvl="0"/>
            <a:r>
              <a:rPr lang="en-US" sz="1200" kern="1200" dirty="0">
                <a:solidFill>
                  <a:schemeClr val="tx1"/>
                </a:solidFill>
                <a:effectLst/>
                <a:latin typeface="+mn-lt"/>
                <a:ea typeface="+mn-ea"/>
                <a:cs typeface="+mn-cs"/>
              </a:rPr>
              <a:t>AI/ML model development and testing</a:t>
            </a:r>
          </a:p>
          <a:p>
            <a:pPr lvl="0"/>
            <a:r>
              <a:rPr lang="en-US" sz="1200" kern="1200" dirty="0">
                <a:solidFill>
                  <a:schemeClr val="tx1"/>
                </a:solidFill>
                <a:effectLst/>
                <a:latin typeface="+mn-lt"/>
                <a:ea typeface="+mn-ea"/>
                <a:cs typeface="+mn-cs"/>
              </a:rPr>
              <a:t>IoT and cloud infrastructure (via platforms like </a:t>
            </a:r>
            <a:r>
              <a:rPr lang="en-US" sz="1200" kern="1200" dirty="0" err="1">
                <a:solidFill>
                  <a:schemeClr val="tx1"/>
                </a:solidFill>
                <a:effectLst/>
                <a:latin typeface="+mn-lt"/>
                <a:ea typeface="+mn-ea"/>
                <a:cs typeface="+mn-cs"/>
              </a:rPr>
              <a:t>MindSphere</a:t>
            </a:r>
            <a:r>
              <a:rPr lang="en-US" sz="1200" kern="1200" dirty="0">
                <a:solidFill>
                  <a:schemeClr val="tx1"/>
                </a:solidFill>
                <a:effectLst/>
                <a:latin typeface="+mn-lt"/>
                <a:ea typeface="+mn-ea"/>
                <a:cs typeface="+mn-cs"/>
              </a:rPr>
              <a:t> and Microsoft Azure partnerships)</a:t>
            </a:r>
          </a:p>
          <a:p>
            <a:pPr lvl="0"/>
            <a:r>
              <a:rPr lang="en-US" sz="1200" kern="1200" dirty="0">
                <a:solidFill>
                  <a:schemeClr val="tx1"/>
                </a:solidFill>
                <a:effectLst/>
                <a:latin typeface="+mn-lt"/>
                <a:ea typeface="+mn-ea"/>
                <a:cs typeface="+mn-cs"/>
              </a:rPr>
              <a:t>UX/UI design for smart device interfaces</a:t>
            </a:r>
          </a:p>
          <a:p>
            <a:pPr lvl="0"/>
            <a:r>
              <a:rPr lang="en-US" sz="1200" kern="1200" dirty="0">
                <a:solidFill>
                  <a:schemeClr val="tx1"/>
                </a:solidFill>
                <a:effectLst/>
                <a:latin typeface="+mn-lt"/>
                <a:ea typeface="+mn-ea"/>
                <a:cs typeface="+mn-cs"/>
              </a:rPr>
              <a:t>Cybersecurity and compliance with global regulations</a:t>
            </a:r>
          </a:p>
          <a:p>
            <a:pPr lvl="0"/>
            <a:r>
              <a:rPr lang="en-US" sz="1200" kern="1200" dirty="0">
                <a:solidFill>
                  <a:schemeClr val="tx1"/>
                </a:solidFill>
                <a:effectLst/>
                <a:latin typeface="+mn-lt"/>
                <a:ea typeface="+mn-ea"/>
                <a:cs typeface="+mn-cs"/>
              </a:rPr>
              <a:t>Sustainability and efficiency testing</a:t>
            </a:r>
          </a:p>
          <a:p>
            <a:r>
              <a:rPr lang="en-US" sz="1200" kern="1200" dirty="0">
                <a:solidFill>
                  <a:schemeClr val="tx1"/>
                </a:solidFill>
                <a:effectLst/>
                <a:latin typeface="+mn-lt"/>
                <a:ea typeface="+mn-ea"/>
                <a:cs typeface="+mn-cs"/>
              </a:rPr>
              <a:t>Management of the AI appliance initiative follows Siemens’ layered governance structure, where program managers oversee execution, product owners manage product roadmaps, and release train engineers (RTEs) coordinate Agile teams at scale (Scaled Agile Inc., 2021).</a:t>
            </a:r>
          </a:p>
          <a:p>
            <a:r>
              <a:rPr lang="en-US" sz="1200" kern="1200" dirty="0">
                <a:solidFill>
                  <a:schemeClr val="tx1"/>
                </a:solidFill>
                <a:effectLst/>
                <a:latin typeface="+mn-lt"/>
                <a:ea typeface="+mn-ea"/>
                <a:cs typeface="+mn-cs"/>
              </a:rPr>
              <a:t>Resources include:</a:t>
            </a:r>
          </a:p>
          <a:p>
            <a:pPr lvl="0"/>
            <a:r>
              <a:rPr lang="en-US" sz="1200" b="1" kern="1200" dirty="0">
                <a:solidFill>
                  <a:schemeClr val="tx1"/>
                </a:solidFill>
                <a:effectLst/>
                <a:latin typeface="+mn-lt"/>
                <a:ea typeface="+mn-ea"/>
                <a:cs typeface="+mn-cs"/>
              </a:rPr>
              <a:t>Human capital:</a:t>
            </a:r>
            <a:r>
              <a:rPr lang="en-US" sz="1200" kern="1200" dirty="0">
                <a:solidFill>
                  <a:schemeClr val="tx1"/>
                </a:solidFill>
                <a:effectLst/>
                <a:latin typeface="+mn-lt"/>
                <a:ea typeface="+mn-ea"/>
                <a:cs typeface="+mn-cs"/>
              </a:rPr>
              <a:t> AI engineers, IoT specialists, data scientists, UX designers, Agile coaches, and hardware engineers.</a:t>
            </a:r>
          </a:p>
          <a:p>
            <a:pPr lvl="0"/>
            <a:r>
              <a:rPr lang="en-US" sz="1200" b="1" kern="1200" dirty="0">
                <a:solidFill>
                  <a:schemeClr val="tx1"/>
                </a:solidFill>
                <a:effectLst/>
                <a:latin typeface="+mn-lt"/>
                <a:ea typeface="+mn-ea"/>
                <a:cs typeface="+mn-cs"/>
              </a:rPr>
              <a:t>Technical resources:</a:t>
            </a:r>
            <a:r>
              <a:rPr lang="en-US" sz="1200" kern="1200" dirty="0">
                <a:solidFill>
                  <a:schemeClr val="tx1"/>
                </a:solidFill>
                <a:effectLst/>
                <a:latin typeface="+mn-lt"/>
                <a:ea typeface="+mn-ea"/>
                <a:cs typeface="+mn-cs"/>
              </a:rPr>
              <a:t> Siemens’ </a:t>
            </a:r>
            <a:r>
              <a:rPr lang="en-US" sz="1200" kern="1200" dirty="0" err="1">
                <a:solidFill>
                  <a:schemeClr val="tx1"/>
                </a:solidFill>
                <a:effectLst/>
                <a:latin typeface="+mn-lt"/>
                <a:ea typeface="+mn-ea"/>
                <a:cs typeface="+mn-cs"/>
              </a:rPr>
              <a:t>Mendix</a:t>
            </a:r>
            <a:r>
              <a:rPr lang="en-US" sz="1200" kern="1200" dirty="0">
                <a:solidFill>
                  <a:schemeClr val="tx1"/>
                </a:solidFill>
                <a:effectLst/>
                <a:latin typeface="+mn-lt"/>
                <a:ea typeface="+mn-ea"/>
                <a:cs typeface="+mn-cs"/>
              </a:rPr>
              <a:t> low-code platform, Teamcenter Product Lifecycle Management (PLM) for collaboration, and </a:t>
            </a:r>
            <a:r>
              <a:rPr lang="en-US" sz="1200" kern="1200" dirty="0" err="1">
                <a:solidFill>
                  <a:schemeClr val="tx1"/>
                </a:solidFill>
                <a:effectLst/>
                <a:latin typeface="+mn-lt"/>
                <a:ea typeface="+mn-ea"/>
                <a:cs typeface="+mn-cs"/>
              </a:rPr>
              <a:t>MindSphere</a:t>
            </a:r>
            <a:r>
              <a:rPr lang="en-US" sz="1200" kern="1200" dirty="0">
                <a:solidFill>
                  <a:schemeClr val="tx1"/>
                </a:solidFill>
                <a:effectLst/>
                <a:latin typeface="+mn-lt"/>
                <a:ea typeface="+mn-ea"/>
                <a:cs typeface="+mn-cs"/>
              </a:rPr>
              <a:t> IoT for connected ecosystems.</a:t>
            </a:r>
          </a:p>
          <a:p>
            <a:pPr lvl="0"/>
            <a:r>
              <a:rPr lang="en-US" sz="1200" b="1" kern="1200" dirty="0">
                <a:solidFill>
                  <a:schemeClr val="tx1"/>
                </a:solidFill>
                <a:effectLst/>
                <a:latin typeface="+mn-lt"/>
                <a:ea typeface="+mn-ea"/>
                <a:cs typeface="+mn-cs"/>
              </a:rPr>
              <a:t>Organizational resources:</a:t>
            </a:r>
            <a:r>
              <a:rPr lang="en-US" sz="1200" kern="1200" dirty="0">
                <a:solidFill>
                  <a:schemeClr val="tx1"/>
                </a:solidFill>
                <a:effectLst/>
                <a:latin typeface="+mn-lt"/>
                <a:ea typeface="+mn-ea"/>
                <a:cs typeface="+mn-cs"/>
              </a:rPr>
              <a:t> Siemens’ Digital Experience Centers, which foster Agile innovation and prototyping across global hubs (Siemens, 2023).</a:t>
            </a:r>
          </a:p>
          <a:p>
            <a:endParaRPr lang="en-US" dirty="0"/>
          </a:p>
        </p:txBody>
      </p:sp>
      <p:sp>
        <p:nvSpPr>
          <p:cNvPr id="4" name="Slide Number Placeholder 3"/>
          <p:cNvSpPr>
            <a:spLocks noGrp="1"/>
          </p:cNvSpPr>
          <p:nvPr>
            <p:ph type="sldNum" sz="quarter" idx="5"/>
          </p:nvPr>
        </p:nvSpPr>
        <p:spPr/>
        <p:txBody>
          <a:bodyPr/>
          <a:lstStyle/>
          <a:p>
            <a:fld id="{D19F4364-983E-4044-97C0-E34BB3FA4648}" type="slidenum">
              <a:rPr lang="en-US" smtClean="0"/>
              <a:t>6</a:t>
            </a:fld>
            <a:endParaRPr lang="en-US"/>
          </a:p>
        </p:txBody>
      </p:sp>
    </p:spTree>
    <p:extLst>
      <p:ext uri="{BB962C8B-B14F-4D97-AF65-F5344CB8AC3E}">
        <p14:creationId xmlns:p14="http://schemas.microsoft.com/office/powerpoint/2010/main" val="39081983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5A172-3CE2-3AF3-19BF-6364AC00A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6184C-C585-5CDF-7DDD-5F73564F20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8CDA68-42AA-84A9-8187-72393614676F}"/>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Implementing </a:t>
            </a:r>
            <a:r>
              <a:rPr lang="en-US" sz="1200" kern="1200" dirty="0" err="1">
                <a:solidFill>
                  <a:schemeClr val="tx1"/>
                </a:solidFill>
                <a:effectLst/>
                <a:latin typeface="+mn-lt"/>
                <a:ea typeface="+mn-ea"/>
                <a:cs typeface="+mn-cs"/>
              </a:rPr>
              <a:t>SAFe</a:t>
            </a:r>
            <a:r>
              <a:rPr lang="en-US" sz="1200" kern="1200" dirty="0">
                <a:solidFill>
                  <a:schemeClr val="tx1"/>
                </a:solidFill>
                <a:effectLst/>
                <a:latin typeface="+mn-lt"/>
                <a:ea typeface="+mn-ea"/>
                <a:cs typeface="+mn-cs"/>
              </a:rPr>
              <a:t> for Siemens’ AI appliance department requires the following steps:</a:t>
            </a:r>
          </a:p>
          <a:p>
            <a:pPr lvl="0"/>
            <a:r>
              <a:rPr lang="en-US" sz="1200" b="1" kern="1200" dirty="0">
                <a:solidFill>
                  <a:schemeClr val="tx1"/>
                </a:solidFill>
                <a:effectLst/>
                <a:latin typeface="+mn-lt"/>
                <a:ea typeface="+mn-ea"/>
                <a:cs typeface="+mn-cs"/>
              </a:rPr>
              <a:t>Preparation and Training</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Provide </a:t>
            </a:r>
            <a:r>
              <a:rPr lang="en-US" sz="1200" kern="1200" dirty="0" err="1">
                <a:solidFill>
                  <a:schemeClr val="tx1"/>
                </a:solidFill>
                <a:effectLst/>
                <a:latin typeface="+mn-lt"/>
                <a:ea typeface="+mn-ea"/>
                <a:cs typeface="+mn-cs"/>
              </a:rPr>
              <a:t>SAFe</a:t>
            </a:r>
            <a:r>
              <a:rPr lang="en-US" sz="1200" kern="1200" dirty="0">
                <a:solidFill>
                  <a:schemeClr val="tx1"/>
                </a:solidFill>
                <a:effectLst/>
                <a:latin typeface="+mn-lt"/>
                <a:ea typeface="+mn-ea"/>
                <a:cs typeface="+mn-cs"/>
              </a:rPr>
              <a:t> training for leadership, program managers, and Agile teams.</a:t>
            </a:r>
          </a:p>
          <a:p>
            <a:pPr lvl="1"/>
            <a:r>
              <a:rPr lang="en-US" sz="1200" kern="1200" dirty="0">
                <a:solidFill>
                  <a:schemeClr val="tx1"/>
                </a:solidFill>
                <a:effectLst/>
                <a:latin typeface="+mn-lt"/>
                <a:ea typeface="+mn-ea"/>
                <a:cs typeface="+mn-cs"/>
              </a:rPr>
              <a:t>Establish a Lean-Agile Center of Excellence (LACE) to guide transformation.</a:t>
            </a:r>
          </a:p>
          <a:p>
            <a:pPr lvl="0"/>
            <a:r>
              <a:rPr lang="en-US" sz="1200" b="1" kern="1200" dirty="0">
                <a:solidFill>
                  <a:schemeClr val="tx1"/>
                </a:solidFill>
                <a:effectLst/>
                <a:latin typeface="+mn-lt"/>
                <a:ea typeface="+mn-ea"/>
                <a:cs typeface="+mn-cs"/>
              </a:rPr>
              <a:t>Vision and Backlog Creation</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Define the program vision (e.g., “AI-powered appliances for sustainable living”).</a:t>
            </a:r>
          </a:p>
          <a:p>
            <a:pPr lvl="1"/>
            <a:r>
              <a:rPr lang="en-US" sz="1200" kern="1200" dirty="0">
                <a:solidFill>
                  <a:schemeClr val="tx1"/>
                </a:solidFill>
                <a:effectLst/>
                <a:latin typeface="+mn-lt"/>
                <a:ea typeface="+mn-ea"/>
                <a:cs typeface="+mn-cs"/>
              </a:rPr>
              <a:t>Develop epics such as predictive maintenance or adaptive energy optimization.</a:t>
            </a:r>
          </a:p>
          <a:p>
            <a:pPr lvl="1"/>
            <a:r>
              <a:rPr lang="en-US" sz="1200" kern="1200" dirty="0">
                <a:solidFill>
                  <a:schemeClr val="tx1"/>
                </a:solidFill>
                <a:effectLst/>
                <a:latin typeface="+mn-lt"/>
                <a:ea typeface="+mn-ea"/>
                <a:cs typeface="+mn-cs"/>
              </a:rPr>
              <a:t>Break down epics into features and user stories (Cohn, 2004).</a:t>
            </a:r>
          </a:p>
          <a:p>
            <a:pPr lvl="0"/>
            <a:r>
              <a:rPr lang="en-US" sz="1200" b="1" kern="1200" dirty="0">
                <a:solidFill>
                  <a:schemeClr val="tx1"/>
                </a:solidFill>
                <a:effectLst/>
                <a:latin typeface="+mn-lt"/>
                <a:ea typeface="+mn-ea"/>
                <a:cs typeface="+mn-cs"/>
              </a:rPr>
              <a:t>Agile Release Train (ART) Formation</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Organize ARTs for specific product lines (e.g., ovens, washing machines).</a:t>
            </a:r>
          </a:p>
          <a:p>
            <a:pPr lvl="1"/>
            <a:r>
              <a:rPr lang="en-US" sz="1200" kern="1200" dirty="0">
                <a:solidFill>
                  <a:schemeClr val="tx1"/>
                </a:solidFill>
                <a:effectLst/>
                <a:latin typeface="+mn-lt"/>
                <a:ea typeface="+mn-ea"/>
                <a:cs typeface="+mn-cs"/>
              </a:rPr>
              <a:t>Assign Product Owners, System Architects, and </a:t>
            </a:r>
            <a:r>
              <a:rPr lang="en-US" sz="1200" kern="1200" dirty="0" err="1">
                <a:solidFill>
                  <a:schemeClr val="tx1"/>
                </a:solidFill>
                <a:effectLst/>
                <a:latin typeface="+mn-lt"/>
                <a:ea typeface="+mn-ea"/>
                <a:cs typeface="+mn-cs"/>
              </a:rPr>
              <a:t>RTEs.</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Program Increment (PI) Planning</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Conduct PI planning sessions every 8–12 weeks.</a:t>
            </a:r>
          </a:p>
          <a:p>
            <a:pPr lvl="1"/>
            <a:r>
              <a:rPr lang="en-US" sz="1200" kern="1200" dirty="0">
                <a:solidFill>
                  <a:schemeClr val="tx1"/>
                </a:solidFill>
                <a:effectLst/>
                <a:latin typeface="+mn-lt"/>
                <a:ea typeface="+mn-ea"/>
                <a:cs typeface="+mn-cs"/>
              </a:rPr>
              <a:t>Teams plan sprint objectives, dependencies, and deliverables collaboratively.</a:t>
            </a:r>
          </a:p>
          <a:p>
            <a:pPr lvl="0"/>
            <a:r>
              <a:rPr lang="en-US" sz="1200" b="1" kern="1200" dirty="0">
                <a:solidFill>
                  <a:schemeClr val="tx1"/>
                </a:solidFill>
                <a:effectLst/>
                <a:latin typeface="+mn-lt"/>
                <a:ea typeface="+mn-ea"/>
                <a:cs typeface="+mn-cs"/>
              </a:rPr>
              <a:t>Execution (Sprints &amp; Iterations)</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Run 2-week sprints with Scrum teams.</a:t>
            </a:r>
          </a:p>
          <a:p>
            <a:pPr lvl="1"/>
            <a:r>
              <a:rPr lang="en-US" sz="1200" kern="1200" dirty="0">
                <a:solidFill>
                  <a:schemeClr val="tx1"/>
                </a:solidFill>
                <a:effectLst/>
                <a:latin typeface="+mn-lt"/>
                <a:ea typeface="+mn-ea"/>
                <a:cs typeface="+mn-cs"/>
              </a:rPr>
              <a:t>Deliver incremental features (e.g., AI-based wash cycle recommendations).</a:t>
            </a:r>
          </a:p>
          <a:p>
            <a:pPr lvl="1"/>
            <a:r>
              <a:rPr lang="en-US" sz="1200" kern="1200" dirty="0">
                <a:solidFill>
                  <a:schemeClr val="tx1"/>
                </a:solidFill>
                <a:effectLst/>
                <a:latin typeface="+mn-lt"/>
                <a:ea typeface="+mn-ea"/>
                <a:cs typeface="+mn-cs"/>
              </a:rPr>
              <a:t>Ensure continuous integration and automated testing.</a:t>
            </a:r>
          </a:p>
          <a:p>
            <a:pPr lvl="0"/>
            <a:r>
              <a:rPr lang="en-US" sz="1200" b="1" kern="1200" dirty="0">
                <a:solidFill>
                  <a:schemeClr val="tx1"/>
                </a:solidFill>
                <a:effectLst/>
                <a:latin typeface="+mn-lt"/>
                <a:ea typeface="+mn-ea"/>
                <a:cs typeface="+mn-cs"/>
              </a:rPr>
              <a:t>Reviews and Retrospectives</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Hold system demos at the end of each iteration.</a:t>
            </a:r>
          </a:p>
          <a:p>
            <a:pPr lvl="1"/>
            <a:r>
              <a:rPr lang="en-US" sz="1200" kern="1200" dirty="0">
                <a:solidFill>
                  <a:schemeClr val="tx1"/>
                </a:solidFill>
                <a:effectLst/>
                <a:latin typeface="+mn-lt"/>
                <a:ea typeface="+mn-ea"/>
                <a:cs typeface="+mn-cs"/>
              </a:rPr>
              <a:t>Capture user feedback and refine future iterations.</a:t>
            </a:r>
          </a:p>
          <a:p>
            <a:pPr lvl="1"/>
            <a:r>
              <a:rPr lang="en-US" sz="1200" kern="1200" dirty="0">
                <a:solidFill>
                  <a:schemeClr val="tx1"/>
                </a:solidFill>
                <a:effectLst/>
                <a:latin typeface="+mn-lt"/>
                <a:ea typeface="+mn-ea"/>
                <a:cs typeface="+mn-cs"/>
              </a:rPr>
              <a:t>Conduct retrospectives to improve team performance (Schwaber &amp; Sutherland, 2020).</a:t>
            </a:r>
          </a:p>
          <a:p>
            <a:pPr lvl="0"/>
            <a:r>
              <a:rPr lang="en-US" sz="1200" b="1" kern="1200" dirty="0">
                <a:solidFill>
                  <a:schemeClr val="tx1"/>
                </a:solidFill>
                <a:effectLst/>
                <a:latin typeface="+mn-lt"/>
                <a:ea typeface="+mn-ea"/>
                <a:cs typeface="+mn-cs"/>
              </a:rPr>
              <a:t>Continuous Delivery Pipeline</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Implement DevOps for automated deployment and faster delivery cycles.</a:t>
            </a:r>
          </a:p>
          <a:p>
            <a:pPr lvl="1"/>
            <a:r>
              <a:rPr lang="en-US" sz="1200" kern="1200" dirty="0">
                <a:solidFill>
                  <a:schemeClr val="tx1"/>
                </a:solidFill>
                <a:effectLst/>
                <a:latin typeface="+mn-lt"/>
                <a:ea typeface="+mn-ea"/>
                <a:cs typeface="+mn-cs"/>
              </a:rPr>
              <a:t>Test AI features in pilot markets before global rollout.</a:t>
            </a:r>
          </a:p>
          <a:p>
            <a:pPr lvl="0"/>
            <a:r>
              <a:rPr lang="en-US" sz="1200" b="1" kern="1200" dirty="0">
                <a:solidFill>
                  <a:schemeClr val="tx1"/>
                </a:solidFill>
                <a:effectLst/>
                <a:latin typeface="+mn-lt"/>
                <a:ea typeface="+mn-ea"/>
                <a:cs typeface="+mn-cs"/>
              </a:rPr>
              <a:t>Portfolio Alignment</a:t>
            </a:r>
            <a:endParaRPr lang="en-US" sz="1200" kern="1200" dirty="0">
              <a:solidFill>
                <a:schemeClr val="tx1"/>
              </a:solidFill>
              <a:effectLst/>
              <a:latin typeface="+mn-lt"/>
              <a:ea typeface="+mn-ea"/>
              <a:cs typeface="+mn-cs"/>
            </a:endParaRPr>
          </a:p>
          <a:p>
            <a:pPr lvl="1"/>
            <a:r>
              <a:rPr lang="en-US" sz="1200" kern="1200" dirty="0">
                <a:solidFill>
                  <a:schemeClr val="tx1"/>
                </a:solidFill>
                <a:effectLst/>
                <a:latin typeface="+mn-lt"/>
                <a:ea typeface="+mn-ea"/>
                <a:cs typeface="+mn-cs"/>
              </a:rPr>
              <a:t>Apply Lean Portfolio Management to ensure investments align with Siemens’ strategy on digitalization, sustainability, and customer value (Scaled Agile Inc., 2021).</a:t>
            </a:r>
          </a:p>
          <a:p>
            <a:endParaRPr lang="en-US" dirty="0"/>
          </a:p>
        </p:txBody>
      </p:sp>
      <p:sp>
        <p:nvSpPr>
          <p:cNvPr id="4" name="Slide Number Placeholder 3">
            <a:extLst>
              <a:ext uri="{FF2B5EF4-FFF2-40B4-BE49-F238E27FC236}">
                <a16:creationId xmlns:a16="http://schemas.microsoft.com/office/drawing/2014/main" id="{96DA4288-80C7-04F7-D93A-5D13BFDEBAA3}"/>
              </a:ext>
            </a:extLst>
          </p:cNvPr>
          <p:cNvSpPr>
            <a:spLocks noGrp="1"/>
          </p:cNvSpPr>
          <p:nvPr>
            <p:ph type="sldNum" sz="quarter" idx="5"/>
          </p:nvPr>
        </p:nvSpPr>
        <p:spPr/>
        <p:txBody>
          <a:bodyPr/>
          <a:lstStyle/>
          <a:p>
            <a:fld id="{D19F4364-983E-4044-97C0-E34BB3FA4648}" type="slidenum">
              <a:rPr lang="en-US" smtClean="0"/>
              <a:t>7</a:t>
            </a:fld>
            <a:endParaRPr lang="en-US"/>
          </a:p>
        </p:txBody>
      </p:sp>
    </p:spTree>
    <p:extLst>
      <p:ext uri="{BB962C8B-B14F-4D97-AF65-F5344CB8AC3E}">
        <p14:creationId xmlns:p14="http://schemas.microsoft.com/office/powerpoint/2010/main" val="2171767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most suitable methodology for Siemens’ AI Home Appliances project is the </a:t>
            </a:r>
            <a:r>
              <a:rPr lang="en-US" sz="1200" b="1" kern="1200" dirty="0">
                <a:solidFill>
                  <a:schemeClr val="tx1"/>
                </a:solidFill>
                <a:effectLst/>
                <a:latin typeface="+mn-lt"/>
                <a:ea typeface="+mn-ea"/>
                <a:cs typeface="+mn-cs"/>
              </a:rPr>
              <a:t>Scaled Agile Framework (</a:t>
            </a:r>
            <a:r>
              <a:rPr lang="en-US" sz="1200" b="1" kern="1200" dirty="0" err="1">
                <a:solidFill>
                  <a:schemeClr val="tx1"/>
                </a:solidFill>
                <a:effectLst/>
                <a:latin typeface="+mn-lt"/>
                <a:ea typeface="+mn-ea"/>
                <a:cs typeface="+mn-cs"/>
              </a:rPr>
              <a:t>SAFe</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Justification:</a:t>
            </a:r>
            <a:endParaRPr lang="en-US" sz="1200" kern="1200" dirty="0">
              <a:solidFill>
                <a:schemeClr val="tx1"/>
              </a:solidFill>
              <a:effectLst/>
              <a:latin typeface="+mn-lt"/>
              <a:ea typeface="+mn-ea"/>
              <a:cs typeface="+mn-cs"/>
            </a:endParaRPr>
          </a:p>
          <a:p>
            <a:pPr lvl="0"/>
            <a:r>
              <a:rPr lang="en-US" dirty="0"/>
              <a:t>Siemens is a multinational, multi-team organization that necessitates collaboration between many business divisions. Such extensive adaptability is made possible by </a:t>
            </a:r>
            <a:r>
              <a:rPr lang="en-US" dirty="0" err="1"/>
              <a:t>SAFe's</a:t>
            </a:r>
            <a:r>
              <a:rPr lang="en-US" dirty="0"/>
              <a:t> Lean Portfolio Management and Agile Release Trains. A systematic framework that synchronizes various Agile teams is necessary due to the complexity of integrating AI, </a:t>
            </a:r>
            <a:r>
              <a:rPr lang="en-US" dirty="0" err="1"/>
              <a:t>IoT</a:t>
            </a:r>
            <a:r>
              <a:rPr lang="en-US" dirty="0"/>
              <a:t>, cloud, and hardware (</a:t>
            </a:r>
            <a:r>
              <a:rPr lang="en-US" dirty="0" err="1"/>
              <a:t>VersionOne</a:t>
            </a:r>
            <a:r>
              <a:rPr lang="en-US" dirty="0"/>
              <a:t>, 2020).</a:t>
            </a:r>
            <a:r>
              <a:rPr lang="en-US" baseline="0" dirty="0"/>
              <a:t> </a:t>
            </a:r>
            <a:r>
              <a:rPr lang="en-US" dirty="0" err="1"/>
              <a:t>SAFe's</a:t>
            </a:r>
            <a:r>
              <a:rPr lang="en-US" dirty="0"/>
              <a:t> focus on leadership buy-in and incremental value delivery is beneficial to Siemens' cultural shift from a traditional industrial model to an Agile digital company. </a:t>
            </a:r>
            <a:r>
              <a:rPr lang="en-US" dirty="0" err="1"/>
              <a:t>SAFe's</a:t>
            </a:r>
            <a:r>
              <a:rPr lang="en-US" dirty="0"/>
              <a:t> continuous delivery pipeline and Program Increment (PI) planning shorten feedback loops to accelerate time-to-market. </a:t>
            </a:r>
            <a:r>
              <a:rPr lang="en-US" dirty="0" err="1"/>
              <a:t>SAFe</a:t>
            </a:r>
            <a:r>
              <a:rPr lang="en-US" dirty="0"/>
              <a:t> offers the scale and control required for Siemens' intricate, international R&amp;D operations, while Scrum and Kanban may function well at the team level.</a:t>
            </a:r>
          </a:p>
        </p:txBody>
      </p:sp>
      <p:sp>
        <p:nvSpPr>
          <p:cNvPr id="4" name="Slide Number Placeholder 3"/>
          <p:cNvSpPr>
            <a:spLocks noGrp="1"/>
          </p:cNvSpPr>
          <p:nvPr>
            <p:ph type="sldNum" sz="quarter" idx="5"/>
          </p:nvPr>
        </p:nvSpPr>
        <p:spPr/>
        <p:txBody>
          <a:bodyPr/>
          <a:lstStyle/>
          <a:p>
            <a:fld id="{D19F4364-983E-4044-97C0-E34BB3FA4648}" type="slidenum">
              <a:rPr lang="en-US" smtClean="0"/>
              <a:t>8</a:t>
            </a:fld>
            <a:endParaRPr lang="en-US"/>
          </a:p>
        </p:txBody>
      </p:sp>
    </p:spTree>
    <p:extLst>
      <p:ext uri="{BB962C8B-B14F-4D97-AF65-F5344CB8AC3E}">
        <p14:creationId xmlns:p14="http://schemas.microsoft.com/office/powerpoint/2010/main" val="198181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A24DC-9EE9-3DF8-5463-0C7DE43A6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698C05-9BDC-E894-0A1B-46C1EA4DC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09DB4D-53FA-9AEC-FBAC-2C663986B78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By implementing </a:t>
            </a:r>
            <a:r>
              <a:rPr lang="en-US" sz="1200" kern="1200" dirty="0" err="1">
                <a:solidFill>
                  <a:schemeClr val="tx1"/>
                </a:solidFill>
                <a:effectLst/>
                <a:latin typeface="+mn-lt"/>
                <a:ea typeface="+mn-ea"/>
                <a:cs typeface="+mn-cs"/>
              </a:rPr>
              <a:t>SAFe</a:t>
            </a:r>
            <a:r>
              <a:rPr lang="en-US" sz="1200" kern="1200" dirty="0">
                <a:solidFill>
                  <a:schemeClr val="tx1"/>
                </a:solidFill>
                <a:effectLst/>
                <a:latin typeface="+mn-lt"/>
                <a:ea typeface="+mn-ea"/>
                <a:cs typeface="+mn-cs"/>
              </a:rPr>
              <a:t>, Siemens can achieve the following:</a:t>
            </a:r>
          </a:p>
          <a:p>
            <a:pPr lvl="0"/>
            <a:r>
              <a:rPr lang="en-US" sz="1200" kern="1200" dirty="0">
                <a:solidFill>
                  <a:schemeClr val="tx1"/>
                </a:solidFill>
                <a:effectLst/>
                <a:latin typeface="+mn-lt"/>
                <a:ea typeface="+mn-ea"/>
                <a:cs typeface="+mn-cs"/>
              </a:rPr>
              <a:t>Accelerated innovation cycles, reducing time-to-market.</a:t>
            </a:r>
          </a:p>
          <a:p>
            <a:pPr lvl="0"/>
            <a:r>
              <a:rPr lang="en-US" sz="1200" kern="1200" dirty="0">
                <a:solidFill>
                  <a:schemeClr val="tx1"/>
                </a:solidFill>
                <a:effectLst/>
                <a:latin typeface="+mn-lt"/>
                <a:ea typeface="+mn-ea"/>
                <a:cs typeface="+mn-cs"/>
              </a:rPr>
              <a:t>Enhanced collaboration across hardware, software, and AI teams.</a:t>
            </a:r>
          </a:p>
          <a:p>
            <a:pPr lvl="0"/>
            <a:r>
              <a:rPr lang="en-US" sz="1200" kern="1200" dirty="0">
                <a:solidFill>
                  <a:schemeClr val="tx1"/>
                </a:solidFill>
                <a:effectLst/>
                <a:latin typeface="+mn-lt"/>
                <a:ea typeface="+mn-ea"/>
                <a:cs typeface="+mn-cs"/>
              </a:rPr>
              <a:t>Improved sustainability through AI-powered energy optimization.</a:t>
            </a:r>
          </a:p>
          <a:p>
            <a:pPr lvl="0"/>
            <a:r>
              <a:rPr lang="en-US" sz="1200" kern="1200" dirty="0">
                <a:solidFill>
                  <a:schemeClr val="tx1"/>
                </a:solidFill>
                <a:effectLst/>
                <a:latin typeface="+mn-lt"/>
                <a:ea typeface="+mn-ea"/>
                <a:cs typeface="+mn-cs"/>
              </a:rPr>
              <a:t>Market leadership by combining industrial expertise with agile digital innovation.</a:t>
            </a:r>
          </a:p>
          <a:p>
            <a:pPr lvl="0"/>
            <a:r>
              <a:rPr lang="en-US" sz="1200" kern="1200" dirty="0">
                <a:solidFill>
                  <a:schemeClr val="tx1"/>
                </a:solidFill>
                <a:effectLst/>
                <a:latin typeface="+mn-lt"/>
                <a:ea typeface="+mn-ea"/>
                <a:cs typeface="+mn-cs"/>
              </a:rPr>
              <a:t>Producing</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appliances tailored to user needs. Which increases </a:t>
            </a:r>
            <a:r>
              <a:rPr lang="en-US" sz="1200" kern="1200" baseline="0" dirty="0">
                <a:solidFill>
                  <a:schemeClr val="tx1"/>
                </a:solidFill>
                <a:effectLst/>
                <a:latin typeface="+mn-lt"/>
                <a:ea typeface="+mn-ea"/>
                <a:cs typeface="+mn-cs"/>
              </a:rPr>
              <a:t>product valuation and </a:t>
            </a:r>
            <a:r>
              <a:rPr lang="en-US" sz="1200" kern="1200" dirty="0">
                <a:solidFill>
                  <a:schemeClr val="tx1"/>
                </a:solidFill>
                <a:effectLst/>
                <a:latin typeface="+mn-lt"/>
                <a:ea typeface="+mn-ea"/>
                <a:cs typeface="+mn-cs"/>
              </a:rPr>
              <a:t>Customer loyalty through</a:t>
            </a:r>
            <a:r>
              <a:rPr lang="en-US" sz="1200" kern="1200" baseline="0" dirty="0">
                <a:solidFill>
                  <a:schemeClr val="tx1"/>
                </a:solidFill>
                <a:effectLst/>
                <a:latin typeface="+mn-lt"/>
                <a:ea typeface="+mn-ea"/>
                <a:cs typeface="+mn-cs"/>
              </a:rPr>
              <a:t> Feedback.</a:t>
            </a:r>
            <a:r>
              <a:rPr lang="en-US" sz="1200" kern="1200" dirty="0">
                <a:solidFill>
                  <a:schemeClr val="tx1"/>
                </a:solidFill>
                <a:effectLst/>
                <a:latin typeface="+mn-lt"/>
                <a:ea typeface="+mn-ea"/>
                <a:cs typeface="+mn-cs"/>
              </a:rPr>
              <a:t> </a:t>
            </a:r>
          </a:p>
          <a:p>
            <a:r>
              <a:rPr lang="en-US" dirty="0"/>
              <a:t>As a result, Siemens is positioned as</a:t>
            </a:r>
            <a:r>
              <a:rPr lang="en-US" baseline="0" dirty="0"/>
              <a:t> a leading brand</a:t>
            </a:r>
            <a:r>
              <a:rPr lang="en-US" dirty="0"/>
              <a:t> worldwide in home appliance industry as both a manufacturer and a digital innovator thanks to Agile transformation through </a:t>
            </a:r>
            <a:r>
              <a:rPr lang="en-US" dirty="0" err="1"/>
              <a:t>SAFe</a:t>
            </a:r>
            <a:r>
              <a:rPr lang="en-US" baseline="0" dirty="0"/>
              <a:t> Method.</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F0997390-036B-CC64-0081-F358E85B2FA2}"/>
              </a:ext>
            </a:extLst>
          </p:cNvPr>
          <p:cNvSpPr>
            <a:spLocks noGrp="1"/>
          </p:cNvSpPr>
          <p:nvPr>
            <p:ph type="sldNum" sz="quarter" idx="5"/>
          </p:nvPr>
        </p:nvSpPr>
        <p:spPr/>
        <p:txBody>
          <a:bodyPr/>
          <a:lstStyle/>
          <a:p>
            <a:fld id="{D19F4364-983E-4044-97C0-E34BB3FA4648}" type="slidenum">
              <a:rPr lang="en-US" smtClean="0"/>
              <a:t>9</a:t>
            </a:fld>
            <a:endParaRPr lang="en-US"/>
          </a:p>
        </p:txBody>
      </p:sp>
    </p:spTree>
    <p:extLst>
      <p:ext uri="{BB962C8B-B14F-4D97-AF65-F5344CB8AC3E}">
        <p14:creationId xmlns:p14="http://schemas.microsoft.com/office/powerpoint/2010/main" val="1802710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Management of the AI appliance initiative follows Siemens’ layered governance structure, where program managers oversee execution, product owners manage product roadmaps, and release train engineers (RTEs) coordinate Agile teams at scale (Scaled Agile Inc., 2021).</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Resources include: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 capital:</a:t>
            </a:r>
            <a:r>
              <a:rPr lang="en-US" sz="1200" kern="1200" dirty="0">
                <a:solidFill>
                  <a:schemeClr val="tx1"/>
                </a:solidFill>
                <a:effectLst/>
                <a:latin typeface="+mn-lt"/>
                <a:ea typeface="+mn-ea"/>
                <a:cs typeface="+mn-cs"/>
              </a:rPr>
              <a:t> AI engineers, IoT specialists, data scientists, UX designers, Agile coaches, and hardware engineers.</a:t>
            </a:r>
          </a:p>
          <a:p>
            <a:pPr marL="0" lvl="0" indent="0">
              <a:buFont typeface="Arial" panose="020B0604020202020204" pitchFamily="34" charset="0"/>
              <a:buNone/>
            </a:pP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Technical resources:</a:t>
            </a:r>
            <a:r>
              <a:rPr lang="en-US" sz="1200" kern="1200" dirty="0">
                <a:solidFill>
                  <a:schemeClr val="tx1"/>
                </a:solidFill>
                <a:effectLst/>
                <a:latin typeface="+mn-lt"/>
                <a:ea typeface="+mn-ea"/>
                <a:cs typeface="+mn-cs"/>
              </a:rPr>
              <a:t> Siemens’ </a:t>
            </a:r>
            <a:r>
              <a:rPr lang="en-US" sz="1200" kern="1200" dirty="0" err="1">
                <a:solidFill>
                  <a:schemeClr val="tx1"/>
                </a:solidFill>
                <a:effectLst/>
                <a:latin typeface="+mn-lt"/>
                <a:ea typeface="+mn-ea"/>
                <a:cs typeface="+mn-cs"/>
              </a:rPr>
              <a:t>Mendix</a:t>
            </a:r>
            <a:r>
              <a:rPr lang="en-US" sz="1200" kern="1200" dirty="0">
                <a:solidFill>
                  <a:schemeClr val="tx1"/>
                </a:solidFill>
                <a:effectLst/>
                <a:latin typeface="+mn-lt"/>
                <a:ea typeface="+mn-ea"/>
                <a:cs typeface="+mn-cs"/>
              </a:rPr>
              <a:t> low-code platform, Teamcenter Product Lifecycle Management (PLM) for collaboration, and </a:t>
            </a:r>
            <a:r>
              <a:rPr lang="en-US" sz="1200" kern="1200" dirty="0" err="1">
                <a:solidFill>
                  <a:schemeClr val="tx1"/>
                </a:solidFill>
                <a:effectLst/>
                <a:latin typeface="+mn-lt"/>
                <a:ea typeface="+mn-ea"/>
                <a:cs typeface="+mn-cs"/>
              </a:rPr>
              <a:t>MindSphere</a:t>
            </a:r>
            <a:r>
              <a:rPr lang="en-US" sz="1200" kern="1200" dirty="0">
                <a:solidFill>
                  <a:schemeClr val="tx1"/>
                </a:solidFill>
                <a:effectLst/>
                <a:latin typeface="+mn-lt"/>
                <a:ea typeface="+mn-ea"/>
                <a:cs typeface="+mn-cs"/>
              </a:rPr>
              <a:t> IoT for connected ecosystems.</a:t>
            </a:r>
          </a:p>
          <a:p>
            <a:pPr marL="0" lvl="0" indent="0">
              <a:buFont typeface="Arial" panose="020B0604020202020204" pitchFamily="34" charset="0"/>
              <a:buNone/>
            </a:pP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Organizational resources:</a:t>
            </a:r>
            <a:r>
              <a:rPr lang="en-US" sz="1200" kern="1200" dirty="0">
                <a:solidFill>
                  <a:schemeClr val="tx1"/>
                </a:solidFill>
                <a:effectLst/>
                <a:latin typeface="+mn-lt"/>
                <a:ea typeface="+mn-ea"/>
                <a:cs typeface="+mn-cs"/>
              </a:rPr>
              <a:t> Siemens’ Digital Experience Centers, which foster Agile innovation and prototyping across global hubs (Siemens, 2023).</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D19F4364-983E-4044-97C0-E34BB3FA4648}" type="slidenum">
              <a:rPr lang="en-US" smtClean="0"/>
              <a:t>10</a:t>
            </a:fld>
            <a:endParaRPr lang="en-US"/>
          </a:p>
        </p:txBody>
      </p:sp>
    </p:spTree>
    <p:extLst>
      <p:ext uri="{BB962C8B-B14F-4D97-AF65-F5344CB8AC3E}">
        <p14:creationId xmlns:p14="http://schemas.microsoft.com/office/powerpoint/2010/main" val="130388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9F4364-983E-4044-97C0-E34BB3FA4648}" type="slidenum">
              <a:rPr lang="en-US" smtClean="0"/>
              <a:t>11</a:t>
            </a:fld>
            <a:endParaRPr lang="en-US"/>
          </a:p>
        </p:txBody>
      </p:sp>
    </p:spTree>
    <p:extLst>
      <p:ext uri="{BB962C8B-B14F-4D97-AF65-F5344CB8AC3E}">
        <p14:creationId xmlns:p14="http://schemas.microsoft.com/office/powerpoint/2010/main" val="2551152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AI appliance program is driven by four main goals:</a:t>
            </a:r>
          </a:p>
          <a:p>
            <a:pPr lvl="0"/>
            <a:r>
              <a:rPr lang="en-US" sz="1200" b="1" kern="1200" dirty="0">
                <a:solidFill>
                  <a:schemeClr val="tx1"/>
                </a:solidFill>
                <a:effectLst/>
                <a:latin typeface="+mn-lt"/>
                <a:ea typeface="+mn-ea"/>
                <a:cs typeface="+mn-cs"/>
              </a:rPr>
              <a:t>Customer-Centric Innovation:</a:t>
            </a:r>
            <a:r>
              <a:rPr lang="en-US" sz="1200" kern="1200" dirty="0">
                <a:solidFill>
                  <a:schemeClr val="tx1"/>
                </a:solidFill>
                <a:effectLst/>
                <a:latin typeface="+mn-lt"/>
                <a:ea typeface="+mn-ea"/>
                <a:cs typeface="+mn-cs"/>
              </a:rPr>
              <a:t> Deliver adaptive appliances that learn from user behavior.</a:t>
            </a:r>
          </a:p>
          <a:p>
            <a:pPr lvl="0"/>
            <a:r>
              <a:rPr lang="en-US" sz="1200" b="1" kern="1200" dirty="0">
                <a:solidFill>
                  <a:schemeClr val="tx1"/>
                </a:solidFill>
                <a:effectLst/>
                <a:latin typeface="+mn-lt"/>
                <a:ea typeface="+mn-ea"/>
                <a:cs typeface="+mn-cs"/>
              </a:rPr>
              <a:t>Faster Time-to-Market:</a:t>
            </a:r>
            <a:r>
              <a:rPr lang="en-US" sz="1200" kern="1200" dirty="0">
                <a:solidFill>
                  <a:schemeClr val="tx1"/>
                </a:solidFill>
                <a:effectLst/>
                <a:latin typeface="+mn-lt"/>
                <a:ea typeface="+mn-ea"/>
                <a:cs typeface="+mn-cs"/>
              </a:rPr>
              <a:t> Achieve shorter product development cycles via iterative releases.</a:t>
            </a:r>
          </a:p>
          <a:p>
            <a:pPr lvl="0"/>
            <a:r>
              <a:rPr lang="en-US" sz="1200" b="1" kern="1200" dirty="0">
                <a:solidFill>
                  <a:schemeClr val="tx1"/>
                </a:solidFill>
                <a:effectLst/>
                <a:latin typeface="+mn-lt"/>
                <a:ea typeface="+mn-ea"/>
                <a:cs typeface="+mn-cs"/>
              </a:rPr>
              <a:t>Sustainability:</a:t>
            </a:r>
            <a:r>
              <a:rPr lang="en-US" sz="1200" kern="1200" dirty="0">
                <a:solidFill>
                  <a:schemeClr val="tx1"/>
                </a:solidFill>
                <a:effectLst/>
                <a:latin typeface="+mn-lt"/>
                <a:ea typeface="+mn-ea"/>
                <a:cs typeface="+mn-cs"/>
              </a:rPr>
              <a:t> Ensure appliances meet global energy efficiency standards.</a:t>
            </a:r>
          </a:p>
          <a:p>
            <a:pPr lvl="0"/>
            <a:r>
              <a:rPr lang="en-US" sz="1200" b="1" kern="1200" dirty="0">
                <a:solidFill>
                  <a:schemeClr val="tx1"/>
                </a:solidFill>
                <a:effectLst/>
                <a:latin typeface="+mn-lt"/>
                <a:ea typeface="+mn-ea"/>
                <a:cs typeface="+mn-cs"/>
              </a:rPr>
              <a:t>Market Differentiation:</a:t>
            </a:r>
            <a:r>
              <a:rPr lang="en-US" sz="1200" kern="1200" dirty="0">
                <a:solidFill>
                  <a:schemeClr val="tx1"/>
                </a:solidFill>
                <a:effectLst/>
                <a:latin typeface="+mn-lt"/>
                <a:ea typeface="+mn-ea"/>
                <a:cs typeface="+mn-cs"/>
              </a:rPr>
              <a:t> Compete effectively with digital-native rivals such as Samsung, Bosch, and Google (Gartner, 2023).</a:t>
            </a:r>
          </a:p>
          <a:p>
            <a:r>
              <a:rPr lang="en-US" sz="1200" kern="1200" dirty="0">
                <a:solidFill>
                  <a:schemeClr val="tx1"/>
                </a:solidFill>
                <a:effectLst/>
                <a:latin typeface="+mn-lt"/>
                <a:ea typeface="+mn-ea"/>
                <a:cs typeface="+mn-cs"/>
              </a:rPr>
              <a:t>These goals align with Siemens’ vision of becoming a leader in smart, sustainable living solutions.</a:t>
            </a:r>
          </a:p>
          <a:p>
            <a:endParaRPr lang="en-US" dirty="0"/>
          </a:p>
        </p:txBody>
      </p:sp>
      <p:sp>
        <p:nvSpPr>
          <p:cNvPr id="4" name="Slide Number Placeholder 3"/>
          <p:cNvSpPr>
            <a:spLocks noGrp="1"/>
          </p:cNvSpPr>
          <p:nvPr>
            <p:ph type="sldNum" sz="quarter" idx="5"/>
          </p:nvPr>
        </p:nvSpPr>
        <p:spPr/>
        <p:txBody>
          <a:bodyPr/>
          <a:lstStyle/>
          <a:p>
            <a:fld id="{D19F4364-983E-4044-97C0-E34BB3FA4648}" type="slidenum">
              <a:rPr lang="en-US" smtClean="0"/>
              <a:t>12</a:t>
            </a:fld>
            <a:endParaRPr lang="en-US"/>
          </a:p>
        </p:txBody>
      </p:sp>
    </p:spTree>
    <p:extLst>
      <p:ext uri="{BB962C8B-B14F-4D97-AF65-F5344CB8AC3E}">
        <p14:creationId xmlns:p14="http://schemas.microsoft.com/office/powerpoint/2010/main" val="3124535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4E4EC-613D-1F29-823D-0D919ACF2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D07EB-4A4D-B688-321C-F8D1CDF29E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87CBE-5849-7E37-D6B5-30DA979E5CE7}"/>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 program involves several cross-functional teams:</a:t>
            </a:r>
          </a:p>
          <a:p>
            <a:pPr lvl="0"/>
            <a:r>
              <a:rPr lang="en-US" sz="1200" b="1" kern="1200" dirty="0">
                <a:solidFill>
                  <a:schemeClr val="tx1"/>
                </a:solidFill>
                <a:effectLst/>
                <a:latin typeface="+mn-lt"/>
                <a:ea typeface="+mn-ea"/>
                <a:cs typeface="+mn-cs"/>
              </a:rPr>
              <a:t>Agile Release Trains (ARTs):</a:t>
            </a:r>
            <a:r>
              <a:rPr lang="en-US" sz="1200" kern="1200" dirty="0">
                <a:solidFill>
                  <a:schemeClr val="tx1"/>
                </a:solidFill>
                <a:effectLst/>
                <a:latin typeface="+mn-lt"/>
                <a:ea typeface="+mn-ea"/>
                <a:cs typeface="+mn-cs"/>
              </a:rPr>
              <a:t> Large teams (50–125 people) aligned with specific product lines (e.g., AI washing machines).</a:t>
            </a:r>
          </a:p>
          <a:p>
            <a:pPr lvl="0"/>
            <a:r>
              <a:rPr lang="en-US" sz="1200" b="1" kern="1200" dirty="0">
                <a:solidFill>
                  <a:schemeClr val="tx1"/>
                </a:solidFill>
                <a:effectLst/>
                <a:latin typeface="+mn-lt"/>
                <a:ea typeface="+mn-ea"/>
                <a:cs typeface="+mn-cs"/>
              </a:rPr>
              <a:t>Scrum Teams:</a:t>
            </a:r>
            <a:r>
              <a:rPr lang="en-US" sz="1200" kern="1200" dirty="0">
                <a:solidFill>
                  <a:schemeClr val="tx1"/>
                </a:solidFill>
                <a:effectLst/>
                <a:latin typeface="+mn-lt"/>
                <a:ea typeface="+mn-ea"/>
                <a:cs typeface="+mn-cs"/>
              </a:rPr>
              <a:t> Small, autonomous teams focusing on features such as predictive maintenance or voice recognition.</a:t>
            </a:r>
          </a:p>
          <a:p>
            <a:pPr lvl="0"/>
            <a:r>
              <a:rPr lang="en-US" sz="1200" b="1" kern="1200" dirty="0">
                <a:solidFill>
                  <a:schemeClr val="tx1"/>
                </a:solidFill>
                <a:effectLst/>
                <a:latin typeface="+mn-lt"/>
                <a:ea typeface="+mn-ea"/>
                <a:cs typeface="+mn-cs"/>
              </a:rPr>
              <a:t>System Architects:</a:t>
            </a:r>
            <a:r>
              <a:rPr lang="en-US" sz="1200" kern="1200" dirty="0">
                <a:solidFill>
                  <a:schemeClr val="tx1"/>
                </a:solidFill>
                <a:effectLst/>
                <a:latin typeface="+mn-lt"/>
                <a:ea typeface="+mn-ea"/>
                <a:cs typeface="+mn-cs"/>
              </a:rPr>
              <a:t> Responsible for defining AI and IoT architecture.</a:t>
            </a:r>
          </a:p>
          <a:p>
            <a:pPr lvl="0"/>
            <a:r>
              <a:rPr lang="en-US" sz="1200" b="1" kern="1200" dirty="0">
                <a:solidFill>
                  <a:schemeClr val="tx1"/>
                </a:solidFill>
                <a:effectLst/>
                <a:latin typeface="+mn-lt"/>
                <a:ea typeface="+mn-ea"/>
                <a:cs typeface="+mn-cs"/>
              </a:rPr>
              <a:t>Product Management:</a:t>
            </a:r>
            <a:r>
              <a:rPr lang="en-US" sz="1200" kern="1200" dirty="0">
                <a:solidFill>
                  <a:schemeClr val="tx1"/>
                </a:solidFill>
                <a:effectLst/>
                <a:latin typeface="+mn-lt"/>
                <a:ea typeface="+mn-ea"/>
                <a:cs typeface="+mn-cs"/>
              </a:rPr>
              <a:t> Ensures product backlogs align with customer needs.</a:t>
            </a:r>
          </a:p>
          <a:p>
            <a:pPr lvl="0"/>
            <a:r>
              <a:rPr lang="en-US" sz="1200" b="1" kern="1200" dirty="0">
                <a:solidFill>
                  <a:schemeClr val="tx1"/>
                </a:solidFill>
                <a:effectLst/>
                <a:latin typeface="+mn-lt"/>
                <a:ea typeface="+mn-ea"/>
                <a:cs typeface="+mn-cs"/>
              </a:rPr>
              <a:t>Release Train Engineers (RTEs):</a:t>
            </a:r>
            <a:r>
              <a:rPr lang="en-US" sz="1200" kern="1200" dirty="0">
                <a:solidFill>
                  <a:schemeClr val="tx1"/>
                </a:solidFill>
                <a:effectLst/>
                <a:latin typeface="+mn-lt"/>
                <a:ea typeface="+mn-ea"/>
                <a:cs typeface="+mn-cs"/>
              </a:rPr>
              <a:t> Coordinate Agile execution across global teams and implementation of AI software (Scaled Agile Inc., 2021).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B7C59D04-2559-75E1-BB19-2ED5C732E507}"/>
              </a:ext>
            </a:extLst>
          </p:cNvPr>
          <p:cNvSpPr>
            <a:spLocks noGrp="1"/>
          </p:cNvSpPr>
          <p:nvPr>
            <p:ph type="sldNum" sz="quarter" idx="5"/>
          </p:nvPr>
        </p:nvSpPr>
        <p:spPr/>
        <p:txBody>
          <a:bodyPr/>
          <a:lstStyle/>
          <a:p>
            <a:fld id="{D19F4364-983E-4044-97C0-E34BB3FA4648}" type="slidenum">
              <a:rPr lang="en-US" smtClean="0"/>
              <a:t>13</a:t>
            </a:fld>
            <a:endParaRPr lang="en-US"/>
          </a:p>
        </p:txBody>
      </p:sp>
    </p:spTree>
    <p:extLst>
      <p:ext uri="{BB962C8B-B14F-4D97-AF65-F5344CB8AC3E}">
        <p14:creationId xmlns:p14="http://schemas.microsoft.com/office/powerpoint/2010/main" val="2144138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a:t>
            </a:r>
            <a:r>
              <a:rPr lang="en-US" sz="1200" kern="1200" dirty="0" err="1">
                <a:solidFill>
                  <a:schemeClr val="tx1"/>
                </a:solidFill>
                <a:effectLst/>
                <a:latin typeface="+mn-lt"/>
                <a:ea typeface="+mn-ea"/>
                <a:cs typeface="+mn-cs"/>
              </a:rPr>
              <a:t>SAFe</a:t>
            </a:r>
            <a:r>
              <a:rPr lang="en-US" sz="1200" kern="1200" dirty="0">
                <a:solidFill>
                  <a:schemeClr val="tx1"/>
                </a:solidFill>
                <a:effectLst/>
                <a:latin typeface="+mn-lt"/>
                <a:ea typeface="+mn-ea"/>
                <a:cs typeface="+mn-cs"/>
              </a:rPr>
              <a:t> provides a clear roadmap for Siemens’ Agile transformation, certain risks may challenge implementation(</a:t>
            </a:r>
            <a:r>
              <a:rPr lang="en-US" sz="1200" kern="1200" dirty="0" err="1">
                <a:solidFill>
                  <a:schemeClr val="tx1"/>
                </a:solidFill>
                <a:effectLst/>
                <a:latin typeface="+mn-lt"/>
                <a:ea typeface="+mn-ea"/>
                <a:cs typeface="+mn-cs"/>
              </a:rPr>
              <a:t>VersionOne</a:t>
            </a:r>
            <a:r>
              <a:rPr lang="en-US" sz="1200" kern="1200" dirty="0">
                <a:solidFill>
                  <a:schemeClr val="tx1"/>
                </a:solidFill>
                <a:effectLst/>
                <a:latin typeface="+mn-lt"/>
                <a:ea typeface="+mn-ea"/>
                <a:cs typeface="+mn-cs"/>
              </a:rPr>
              <a:t>, 2020). </a:t>
            </a:r>
          </a:p>
          <a:p>
            <a:r>
              <a:rPr lang="en-US" sz="1200" kern="1200" dirty="0">
                <a:solidFill>
                  <a:schemeClr val="tx1"/>
                </a:solidFill>
                <a:effectLst/>
                <a:latin typeface="+mn-lt"/>
                <a:ea typeface="+mn-ea"/>
                <a:cs typeface="+mn-cs"/>
              </a:rPr>
              <a:t>By proactively identifying and mitigating these risks enhances success and alignment with Siemens’ strategic objectives (Scaled Agile Inc., 2021)</a:t>
            </a:r>
          </a:p>
          <a:p>
            <a:r>
              <a:rPr lang="en-US" sz="1200" b="1" kern="1200" dirty="0">
                <a:solidFill>
                  <a:schemeClr val="tx1"/>
                </a:solidFill>
                <a:effectLst/>
                <a:latin typeface="+mn-lt"/>
                <a:ea typeface="+mn-ea"/>
                <a:cs typeface="+mn-cs"/>
              </a:rPr>
              <a:t>1. Cultural Resistance</a:t>
            </a:r>
            <a:endParaRPr lang="en-US" sz="1200" kern="1200" dirty="0">
              <a:solidFill>
                <a:schemeClr val="tx1"/>
              </a:solidFill>
              <a:effectLst/>
              <a:latin typeface="+mn-lt"/>
              <a:ea typeface="+mn-ea"/>
              <a:cs typeface="+mn-cs"/>
            </a:endParaRPr>
          </a:p>
          <a:p>
            <a:pPr lvl="0"/>
            <a:r>
              <a:rPr lang="en-US" sz="1200" i="1" kern="1200" dirty="0">
                <a:solidFill>
                  <a:schemeClr val="tx1"/>
                </a:solidFill>
                <a:effectLst/>
                <a:latin typeface="+mn-lt"/>
                <a:ea typeface="+mn-ea"/>
                <a:cs typeface="+mn-cs"/>
              </a:rPr>
              <a:t>Risk:</a:t>
            </a:r>
            <a:r>
              <a:rPr lang="en-US" sz="1200" kern="1200" dirty="0">
                <a:solidFill>
                  <a:schemeClr val="tx1"/>
                </a:solidFill>
                <a:effectLst/>
                <a:latin typeface="+mn-lt"/>
                <a:ea typeface="+mn-ea"/>
                <a:cs typeface="+mn-cs"/>
              </a:rPr>
              <a:t> Employees accustomed to traditional management may resist Agile practices.</a:t>
            </a:r>
          </a:p>
          <a:p>
            <a:pPr lvl="0"/>
            <a:r>
              <a:rPr lang="en-US" sz="1200" i="1" kern="1200" dirty="0">
                <a:solidFill>
                  <a:schemeClr val="tx1"/>
                </a:solidFill>
                <a:effectLst/>
                <a:latin typeface="+mn-lt"/>
                <a:ea typeface="+mn-ea"/>
                <a:cs typeface="+mn-cs"/>
              </a:rPr>
              <a:t>Mitigation:</a:t>
            </a:r>
            <a:r>
              <a:rPr lang="en-US" sz="1200" kern="1200" dirty="0">
                <a:solidFill>
                  <a:schemeClr val="tx1"/>
                </a:solidFill>
                <a:effectLst/>
                <a:latin typeface="+mn-lt"/>
                <a:ea typeface="+mn-ea"/>
                <a:cs typeface="+mn-cs"/>
              </a:rPr>
              <a:t> Establish a </a:t>
            </a:r>
            <a:r>
              <a:rPr lang="en-US" sz="1200" b="1" kern="1200" dirty="0">
                <a:solidFill>
                  <a:schemeClr val="tx1"/>
                </a:solidFill>
                <a:effectLst/>
                <a:latin typeface="+mn-lt"/>
                <a:ea typeface="+mn-ea"/>
                <a:cs typeface="+mn-cs"/>
              </a:rPr>
              <a:t>Lean-Agile Center of Excellence (LACE)</a:t>
            </a:r>
            <a:r>
              <a:rPr lang="en-US" sz="1200" kern="1200" dirty="0">
                <a:solidFill>
                  <a:schemeClr val="tx1"/>
                </a:solidFill>
                <a:effectLst/>
                <a:latin typeface="+mn-lt"/>
                <a:ea typeface="+mn-ea"/>
                <a:cs typeface="+mn-cs"/>
              </a:rPr>
              <a:t>, offer </a:t>
            </a:r>
            <a:r>
              <a:rPr lang="en-US" sz="1200" b="1" kern="1200" dirty="0">
                <a:solidFill>
                  <a:schemeClr val="tx1"/>
                </a:solidFill>
                <a:effectLst/>
                <a:latin typeface="+mn-lt"/>
                <a:ea typeface="+mn-ea"/>
                <a:cs typeface="+mn-cs"/>
              </a:rPr>
              <a:t>servant leadership training</a:t>
            </a:r>
            <a:r>
              <a:rPr lang="en-US" sz="1200" kern="1200" dirty="0">
                <a:solidFill>
                  <a:schemeClr val="tx1"/>
                </a:solidFill>
                <a:effectLst/>
                <a:latin typeface="+mn-lt"/>
                <a:ea typeface="+mn-ea"/>
                <a:cs typeface="+mn-cs"/>
              </a:rPr>
              <a:t>, and appoint </a:t>
            </a:r>
            <a:r>
              <a:rPr lang="en-US" sz="1200" b="1" kern="1200" dirty="0">
                <a:solidFill>
                  <a:schemeClr val="tx1"/>
                </a:solidFill>
                <a:effectLst/>
                <a:latin typeface="+mn-lt"/>
                <a:ea typeface="+mn-ea"/>
                <a:cs typeface="+mn-cs"/>
              </a:rPr>
              <a:t>Agile champions</a:t>
            </a:r>
            <a:r>
              <a:rPr lang="en-US" sz="1200" kern="1200" dirty="0">
                <a:solidFill>
                  <a:schemeClr val="tx1"/>
                </a:solidFill>
                <a:effectLst/>
                <a:latin typeface="+mn-lt"/>
                <a:ea typeface="+mn-ea"/>
                <a:cs typeface="+mn-cs"/>
              </a:rPr>
              <a:t> across departments (Kotter, 2012).</a:t>
            </a:r>
          </a:p>
          <a:p>
            <a:r>
              <a:rPr lang="en-US" sz="1200" b="1" kern="1200" dirty="0">
                <a:solidFill>
                  <a:schemeClr val="tx1"/>
                </a:solidFill>
                <a:effectLst/>
                <a:latin typeface="+mn-lt"/>
                <a:ea typeface="+mn-ea"/>
                <a:cs typeface="+mn-cs"/>
              </a:rPr>
              <a:t>2. Overhead and Complexity of </a:t>
            </a:r>
            <a:r>
              <a:rPr lang="en-US" sz="1200" b="1" kern="1200" dirty="0" err="1">
                <a:solidFill>
                  <a:schemeClr val="tx1"/>
                </a:solidFill>
                <a:effectLst/>
                <a:latin typeface="+mn-lt"/>
                <a:ea typeface="+mn-ea"/>
                <a:cs typeface="+mn-cs"/>
              </a:rPr>
              <a:t>SAFe</a:t>
            </a:r>
            <a:endParaRPr lang="en-US" sz="1200" kern="1200" dirty="0">
              <a:solidFill>
                <a:schemeClr val="tx1"/>
              </a:solidFill>
              <a:effectLst/>
              <a:latin typeface="+mn-lt"/>
              <a:ea typeface="+mn-ea"/>
              <a:cs typeface="+mn-cs"/>
            </a:endParaRPr>
          </a:p>
          <a:p>
            <a:pPr lvl="0"/>
            <a:r>
              <a:rPr lang="en-US" sz="1200" i="1" kern="1200" dirty="0">
                <a:solidFill>
                  <a:schemeClr val="tx1"/>
                </a:solidFill>
                <a:effectLst/>
                <a:latin typeface="+mn-lt"/>
                <a:ea typeface="+mn-ea"/>
                <a:cs typeface="+mn-cs"/>
              </a:rPr>
              <a:t>Risk:</a:t>
            </a:r>
            <a:r>
              <a:rPr lang="en-US" sz="1200" kern="1200" dirty="0">
                <a:solidFill>
                  <a:schemeClr val="tx1"/>
                </a:solidFill>
                <a:effectLst/>
                <a:latin typeface="+mn-lt"/>
                <a:ea typeface="+mn-ea"/>
                <a:cs typeface="+mn-cs"/>
              </a:rPr>
              <a:t> Scaling </a:t>
            </a:r>
            <a:r>
              <a:rPr lang="en-US" sz="1200" kern="1200" dirty="0" err="1">
                <a:solidFill>
                  <a:schemeClr val="tx1"/>
                </a:solidFill>
                <a:effectLst/>
                <a:latin typeface="+mn-lt"/>
                <a:ea typeface="+mn-ea"/>
                <a:cs typeface="+mn-cs"/>
              </a:rPr>
              <a:t>SAFe</a:t>
            </a:r>
            <a:r>
              <a:rPr lang="en-US" sz="1200" kern="1200" dirty="0">
                <a:solidFill>
                  <a:schemeClr val="tx1"/>
                </a:solidFill>
                <a:effectLst/>
                <a:latin typeface="+mn-lt"/>
                <a:ea typeface="+mn-ea"/>
                <a:cs typeface="+mn-cs"/>
              </a:rPr>
              <a:t> across Siemens’ global operations could create bureaucratic overhead.</a:t>
            </a:r>
          </a:p>
          <a:p>
            <a:pPr lvl="0"/>
            <a:r>
              <a:rPr lang="en-US" sz="1200" i="1" kern="1200" dirty="0">
                <a:solidFill>
                  <a:schemeClr val="tx1"/>
                </a:solidFill>
                <a:effectLst/>
                <a:latin typeface="+mn-lt"/>
                <a:ea typeface="+mn-ea"/>
                <a:cs typeface="+mn-cs"/>
              </a:rPr>
              <a:t>Mitigation:</a:t>
            </a:r>
            <a:r>
              <a:rPr lang="en-US" sz="1200" kern="1200" dirty="0">
                <a:solidFill>
                  <a:schemeClr val="tx1"/>
                </a:solidFill>
                <a:effectLst/>
                <a:latin typeface="+mn-lt"/>
                <a:ea typeface="+mn-ea"/>
                <a:cs typeface="+mn-cs"/>
              </a:rPr>
              <a:t> Launch </a:t>
            </a:r>
            <a:r>
              <a:rPr lang="en-US" sz="1200" b="1" kern="1200" dirty="0">
                <a:solidFill>
                  <a:schemeClr val="tx1"/>
                </a:solidFill>
                <a:effectLst/>
                <a:latin typeface="+mn-lt"/>
                <a:ea typeface="+mn-ea"/>
                <a:cs typeface="+mn-cs"/>
              </a:rPr>
              <a:t>pilot Agile Release Trains (ARTs)</a:t>
            </a:r>
            <a:r>
              <a:rPr lang="en-US" sz="1200" kern="1200" dirty="0">
                <a:solidFill>
                  <a:schemeClr val="tx1"/>
                </a:solidFill>
                <a:effectLst/>
                <a:latin typeface="+mn-lt"/>
                <a:ea typeface="+mn-ea"/>
                <a:cs typeface="+mn-cs"/>
              </a:rPr>
              <a:t> on select product lines, evaluate results, and </a:t>
            </a:r>
            <a:r>
              <a:rPr lang="en-US" sz="1200" b="1" kern="1200" dirty="0">
                <a:solidFill>
                  <a:schemeClr val="tx1"/>
                </a:solidFill>
                <a:effectLst/>
                <a:latin typeface="+mn-lt"/>
                <a:ea typeface="+mn-ea"/>
                <a:cs typeface="+mn-cs"/>
              </a:rPr>
              <a:t>scale gradually</a:t>
            </a:r>
            <a:r>
              <a:rPr lang="en-US" sz="1200" kern="1200" dirty="0">
                <a:solidFill>
                  <a:schemeClr val="tx1"/>
                </a:solidFill>
                <a:effectLst/>
                <a:latin typeface="+mn-lt"/>
                <a:ea typeface="+mn-ea"/>
                <a:cs typeface="+mn-cs"/>
              </a:rPr>
              <a:t> (Scaled Agile Inc., 2021).</a:t>
            </a:r>
          </a:p>
          <a:p>
            <a:r>
              <a:rPr lang="en-US" sz="1200" b="1" kern="1200" dirty="0">
                <a:solidFill>
                  <a:schemeClr val="tx1"/>
                </a:solidFill>
                <a:effectLst/>
                <a:latin typeface="+mn-lt"/>
                <a:ea typeface="+mn-ea"/>
                <a:cs typeface="+mn-cs"/>
              </a:rPr>
              <a:t>3. Global Coordination Challenges</a:t>
            </a:r>
            <a:endParaRPr lang="en-US" sz="1200" kern="1200" dirty="0">
              <a:solidFill>
                <a:schemeClr val="tx1"/>
              </a:solidFill>
              <a:effectLst/>
              <a:latin typeface="+mn-lt"/>
              <a:ea typeface="+mn-ea"/>
              <a:cs typeface="+mn-cs"/>
            </a:endParaRPr>
          </a:p>
          <a:p>
            <a:pPr lvl="0"/>
            <a:r>
              <a:rPr lang="en-US" sz="1200" i="1" kern="1200" dirty="0">
                <a:solidFill>
                  <a:schemeClr val="tx1"/>
                </a:solidFill>
                <a:effectLst/>
                <a:latin typeface="+mn-lt"/>
                <a:ea typeface="+mn-ea"/>
                <a:cs typeface="+mn-cs"/>
              </a:rPr>
              <a:t>Risk:</a:t>
            </a:r>
            <a:r>
              <a:rPr lang="en-US" sz="1200" kern="1200" dirty="0">
                <a:solidFill>
                  <a:schemeClr val="tx1"/>
                </a:solidFill>
                <a:effectLst/>
                <a:latin typeface="+mn-lt"/>
                <a:ea typeface="+mn-ea"/>
                <a:cs typeface="+mn-cs"/>
              </a:rPr>
              <a:t> Distributed teams may struggle with time zones and collaboration</a:t>
            </a:r>
            <a:r>
              <a:rPr lang="en-US" sz="1200" kern="1200" baseline="0" dirty="0">
                <a:solidFill>
                  <a:schemeClr val="tx1"/>
                </a:solidFill>
                <a:effectLst/>
                <a:latin typeface="+mn-lt"/>
                <a:ea typeface="+mn-ea"/>
                <a:cs typeface="+mn-cs"/>
              </a:rPr>
              <a:t> issues.</a:t>
            </a:r>
            <a:endParaRPr lang="en-US" sz="1200" kern="1200" dirty="0">
              <a:solidFill>
                <a:schemeClr val="tx1"/>
              </a:solidFill>
              <a:effectLst/>
              <a:latin typeface="+mn-lt"/>
              <a:ea typeface="+mn-ea"/>
              <a:cs typeface="+mn-cs"/>
            </a:endParaRPr>
          </a:p>
          <a:p>
            <a:pPr lvl="0"/>
            <a:r>
              <a:rPr lang="en-US" sz="1200" i="1" kern="1200" dirty="0">
                <a:solidFill>
                  <a:schemeClr val="tx1"/>
                </a:solidFill>
                <a:effectLst/>
                <a:latin typeface="+mn-lt"/>
                <a:ea typeface="+mn-ea"/>
                <a:cs typeface="+mn-cs"/>
              </a:rPr>
              <a:t>Mitigation:</a:t>
            </a:r>
            <a:r>
              <a:rPr lang="en-US" sz="1200" kern="1200" dirty="0">
                <a:solidFill>
                  <a:schemeClr val="tx1"/>
                </a:solidFill>
                <a:effectLst/>
                <a:latin typeface="+mn-lt"/>
                <a:ea typeface="+mn-ea"/>
                <a:cs typeface="+mn-cs"/>
              </a:rPr>
              <a:t> Use </a:t>
            </a:r>
            <a:r>
              <a:rPr lang="en-US" sz="1200" b="1" kern="1200" dirty="0">
                <a:solidFill>
                  <a:schemeClr val="tx1"/>
                </a:solidFill>
                <a:effectLst/>
                <a:latin typeface="+mn-lt"/>
                <a:ea typeface="+mn-ea"/>
                <a:cs typeface="+mn-cs"/>
              </a:rPr>
              <a:t>hybrid Pipeline planning workshops</a:t>
            </a:r>
            <a:r>
              <a:rPr lang="en-US" sz="1200" kern="1200" dirty="0">
                <a:solidFill>
                  <a:schemeClr val="tx1"/>
                </a:solidFill>
                <a:effectLst/>
                <a:latin typeface="+mn-lt"/>
                <a:ea typeface="+mn-ea"/>
                <a:cs typeface="+mn-cs"/>
              </a:rPr>
              <a:t>, and digital collaboration tools such as Jira, Miro, and Microsoft Teams (Denning, 2018).</a:t>
            </a:r>
          </a:p>
          <a:p>
            <a:r>
              <a:rPr lang="en-US" sz="1200" b="1" kern="1200" dirty="0">
                <a:solidFill>
                  <a:schemeClr val="tx1"/>
                </a:solidFill>
                <a:effectLst/>
                <a:latin typeface="+mn-lt"/>
                <a:ea typeface="+mn-ea"/>
                <a:cs typeface="+mn-cs"/>
              </a:rPr>
              <a:t>4. Compliance and Security Risks</a:t>
            </a:r>
            <a:endParaRPr lang="en-US" sz="1200" kern="1200" dirty="0">
              <a:solidFill>
                <a:schemeClr val="tx1"/>
              </a:solidFill>
              <a:effectLst/>
              <a:latin typeface="+mn-lt"/>
              <a:ea typeface="+mn-ea"/>
              <a:cs typeface="+mn-cs"/>
            </a:endParaRPr>
          </a:p>
          <a:p>
            <a:pPr lvl="0"/>
            <a:r>
              <a:rPr lang="en-US" sz="1200" i="1" kern="1200" dirty="0">
                <a:solidFill>
                  <a:schemeClr val="tx1"/>
                </a:solidFill>
                <a:effectLst/>
                <a:latin typeface="+mn-lt"/>
                <a:ea typeface="+mn-ea"/>
                <a:cs typeface="+mn-cs"/>
              </a:rPr>
              <a:t>Risk:</a:t>
            </a:r>
            <a:r>
              <a:rPr lang="en-US" sz="1200" kern="1200" dirty="0">
                <a:solidFill>
                  <a:schemeClr val="tx1"/>
                </a:solidFill>
                <a:effectLst/>
                <a:latin typeface="+mn-lt"/>
                <a:ea typeface="+mn-ea"/>
                <a:cs typeface="+mn-cs"/>
              </a:rPr>
              <a:t> Rapid iterations may overlook cybersecurity and regulatory standards.</a:t>
            </a:r>
          </a:p>
          <a:p>
            <a:pPr lvl="0"/>
            <a:r>
              <a:rPr lang="en-US" sz="1200" i="1" kern="1200" dirty="0">
                <a:solidFill>
                  <a:schemeClr val="tx1"/>
                </a:solidFill>
                <a:effectLst/>
                <a:latin typeface="+mn-lt"/>
                <a:ea typeface="+mn-ea"/>
                <a:cs typeface="+mn-cs"/>
              </a:rPr>
              <a:t>Mitigation:</a:t>
            </a:r>
            <a:r>
              <a:rPr lang="en-US" sz="1200" kern="1200" dirty="0">
                <a:solidFill>
                  <a:schemeClr val="tx1"/>
                </a:solidFill>
                <a:effectLst/>
                <a:latin typeface="+mn-lt"/>
                <a:ea typeface="+mn-ea"/>
                <a:cs typeface="+mn-cs"/>
              </a:rPr>
              <a:t> By embedding </a:t>
            </a:r>
            <a:r>
              <a:rPr lang="en-US" sz="1200" b="1" kern="1200" dirty="0">
                <a:solidFill>
                  <a:schemeClr val="tx1"/>
                </a:solidFill>
                <a:effectLst/>
                <a:latin typeface="+mn-lt"/>
                <a:ea typeface="+mn-ea"/>
                <a:cs typeface="+mn-cs"/>
              </a:rPr>
              <a:t>compliance experts</a:t>
            </a:r>
            <a:r>
              <a:rPr lang="en-US" sz="1200" kern="1200" dirty="0">
                <a:solidFill>
                  <a:schemeClr val="tx1"/>
                </a:solidFill>
                <a:effectLst/>
                <a:latin typeface="+mn-lt"/>
                <a:ea typeface="+mn-ea"/>
                <a:cs typeface="+mn-cs"/>
              </a:rPr>
              <a:t> within Agile Release Trains, define </a:t>
            </a:r>
            <a:r>
              <a:rPr lang="en-US" sz="1200" b="1" kern="1200" dirty="0">
                <a:solidFill>
                  <a:schemeClr val="tx1"/>
                </a:solidFill>
                <a:effectLst/>
                <a:latin typeface="+mn-lt"/>
                <a:ea typeface="+mn-ea"/>
                <a:cs typeface="+mn-cs"/>
              </a:rPr>
              <a:t>regulatory checks</a:t>
            </a:r>
            <a:r>
              <a:rPr lang="en-US" sz="1200" kern="1200" dirty="0">
                <a:solidFill>
                  <a:schemeClr val="tx1"/>
                </a:solidFill>
                <a:effectLst/>
                <a:latin typeface="+mn-lt"/>
                <a:ea typeface="+mn-ea"/>
                <a:cs typeface="+mn-cs"/>
              </a:rPr>
              <a:t> in the </a:t>
            </a:r>
            <a:r>
              <a:rPr lang="en-US" sz="1200" b="1" kern="1200" dirty="0">
                <a:solidFill>
                  <a:schemeClr val="tx1"/>
                </a:solidFill>
                <a:effectLst/>
                <a:latin typeface="+mn-lt"/>
                <a:ea typeface="+mn-ea"/>
                <a:cs typeface="+mn-cs"/>
              </a:rPr>
              <a:t>Definition of Done (DoD)</a:t>
            </a:r>
            <a:r>
              <a:rPr lang="en-US" sz="1200" kern="1200" dirty="0">
                <a:solidFill>
                  <a:schemeClr val="tx1"/>
                </a:solidFill>
                <a:effectLst/>
                <a:latin typeface="+mn-lt"/>
                <a:ea typeface="+mn-ea"/>
                <a:cs typeface="+mn-cs"/>
              </a:rPr>
              <a:t>, and conduct regular audits (Schwaber &amp; Sutherland, 2020).</a:t>
            </a:r>
          </a:p>
          <a:p>
            <a:r>
              <a:rPr lang="en-US" sz="1200" b="1" kern="1200" dirty="0">
                <a:solidFill>
                  <a:schemeClr val="tx1"/>
                </a:solidFill>
                <a:effectLst/>
                <a:latin typeface="+mn-lt"/>
                <a:ea typeface="+mn-ea"/>
                <a:cs typeface="+mn-cs"/>
              </a:rPr>
              <a:t>5. Resource and Skill Gaps</a:t>
            </a:r>
            <a:endParaRPr lang="en-US" sz="1200" kern="1200" dirty="0">
              <a:solidFill>
                <a:schemeClr val="tx1"/>
              </a:solidFill>
              <a:effectLst/>
              <a:latin typeface="+mn-lt"/>
              <a:ea typeface="+mn-ea"/>
              <a:cs typeface="+mn-cs"/>
            </a:endParaRPr>
          </a:p>
          <a:p>
            <a:pPr lvl="0"/>
            <a:r>
              <a:rPr lang="en-US" sz="1200" i="1" kern="1200" dirty="0">
                <a:solidFill>
                  <a:schemeClr val="tx1"/>
                </a:solidFill>
                <a:effectLst/>
                <a:latin typeface="+mn-lt"/>
                <a:ea typeface="+mn-ea"/>
                <a:cs typeface="+mn-cs"/>
              </a:rPr>
              <a:t>Risk:</a:t>
            </a:r>
            <a:r>
              <a:rPr lang="en-US" sz="1200" kern="1200" dirty="0">
                <a:solidFill>
                  <a:schemeClr val="tx1"/>
                </a:solidFill>
                <a:effectLst/>
                <a:latin typeface="+mn-lt"/>
                <a:ea typeface="+mn-ea"/>
                <a:cs typeface="+mn-cs"/>
              </a:rPr>
              <a:t> Limited expertise in AI, IoT, or Agile may hinder progress.</a:t>
            </a:r>
          </a:p>
          <a:p>
            <a:pPr lvl="0"/>
            <a:r>
              <a:rPr lang="en-US" sz="1200" i="1" kern="1200" dirty="0">
                <a:solidFill>
                  <a:schemeClr val="tx1"/>
                </a:solidFill>
                <a:effectLst/>
                <a:latin typeface="+mn-lt"/>
                <a:ea typeface="+mn-ea"/>
                <a:cs typeface="+mn-cs"/>
              </a:rPr>
              <a:t>Mitigation:</a:t>
            </a:r>
            <a:r>
              <a:rPr lang="en-US" sz="1200" kern="1200" dirty="0">
                <a:solidFill>
                  <a:schemeClr val="tx1"/>
                </a:solidFill>
                <a:effectLst/>
                <a:latin typeface="+mn-lt"/>
                <a:ea typeface="+mn-ea"/>
                <a:cs typeface="+mn-cs"/>
              </a:rPr>
              <a:t> Provide </a:t>
            </a:r>
            <a:r>
              <a:rPr lang="en-US" sz="1200" b="1" kern="1200" dirty="0">
                <a:solidFill>
                  <a:schemeClr val="tx1"/>
                </a:solidFill>
                <a:effectLst/>
                <a:latin typeface="+mn-lt"/>
                <a:ea typeface="+mn-ea"/>
                <a:cs typeface="+mn-cs"/>
              </a:rPr>
              <a:t>continuous learning programs</a:t>
            </a:r>
            <a:r>
              <a:rPr lang="en-US" sz="1200" kern="1200" dirty="0">
                <a:solidFill>
                  <a:schemeClr val="tx1"/>
                </a:solidFill>
                <a:effectLst/>
                <a:latin typeface="+mn-lt"/>
                <a:ea typeface="+mn-ea"/>
                <a:cs typeface="+mn-cs"/>
              </a:rPr>
              <a:t>, hire </a:t>
            </a:r>
            <a:r>
              <a:rPr lang="en-US" sz="1200" b="1" kern="1200" dirty="0">
                <a:solidFill>
                  <a:schemeClr val="tx1"/>
                </a:solidFill>
                <a:effectLst/>
                <a:latin typeface="+mn-lt"/>
                <a:ea typeface="+mn-ea"/>
                <a:cs typeface="+mn-cs"/>
              </a:rPr>
              <a:t>specialized experts</a:t>
            </a:r>
            <a:r>
              <a:rPr lang="en-US" sz="1200" kern="1200" dirty="0">
                <a:solidFill>
                  <a:schemeClr val="tx1"/>
                </a:solidFill>
                <a:effectLst/>
                <a:latin typeface="+mn-lt"/>
                <a:ea typeface="+mn-ea"/>
                <a:cs typeface="+mn-cs"/>
              </a:rPr>
              <a:t>, and encourage </a:t>
            </a:r>
            <a:r>
              <a:rPr lang="en-US" sz="1200" b="1" kern="1200" dirty="0">
                <a:solidFill>
                  <a:schemeClr val="tx1"/>
                </a:solidFill>
                <a:effectLst/>
                <a:latin typeface="+mn-lt"/>
                <a:ea typeface="+mn-ea"/>
                <a:cs typeface="+mn-cs"/>
              </a:rPr>
              <a:t>knowledge-sharing sessions</a:t>
            </a:r>
            <a:r>
              <a:rPr lang="en-US" sz="1200" kern="1200" dirty="0">
                <a:solidFill>
                  <a:schemeClr val="tx1"/>
                </a:solidFill>
                <a:effectLst/>
                <a:latin typeface="+mn-lt"/>
                <a:ea typeface="+mn-ea"/>
                <a:cs typeface="+mn-cs"/>
              </a:rPr>
              <a:t> (Cohn, 2004; Denning, 2018).</a:t>
            </a:r>
          </a:p>
          <a:p>
            <a:endParaRPr lang="en-US" dirty="0"/>
          </a:p>
        </p:txBody>
      </p:sp>
      <p:sp>
        <p:nvSpPr>
          <p:cNvPr id="4" name="Slide Number Placeholder 3"/>
          <p:cNvSpPr>
            <a:spLocks noGrp="1"/>
          </p:cNvSpPr>
          <p:nvPr>
            <p:ph type="sldNum" sz="quarter" idx="5"/>
          </p:nvPr>
        </p:nvSpPr>
        <p:spPr/>
        <p:txBody>
          <a:bodyPr/>
          <a:lstStyle/>
          <a:p>
            <a:fld id="{D19F4364-983E-4044-97C0-E34BB3FA4648}" type="slidenum">
              <a:rPr lang="en-US" smtClean="0"/>
              <a:t>14</a:t>
            </a:fld>
            <a:endParaRPr lang="en-US"/>
          </a:p>
        </p:txBody>
      </p:sp>
    </p:spTree>
    <p:extLst>
      <p:ext uri="{BB962C8B-B14F-4D97-AF65-F5344CB8AC3E}">
        <p14:creationId xmlns:p14="http://schemas.microsoft.com/office/powerpoint/2010/main" val="1707826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One</a:t>
            </a:r>
            <a:r>
              <a:rPr lang="en-US" sz="1200" kern="1200" baseline="0" dirty="0">
                <a:solidFill>
                  <a:schemeClr val="tx1"/>
                </a:solidFill>
                <a:effectLst/>
                <a:latin typeface="+mn-lt"/>
                <a:ea typeface="+mn-ea"/>
                <a:cs typeface="+mn-cs"/>
              </a:rPr>
              <a:t> of the most important </a:t>
            </a:r>
            <a:r>
              <a:rPr lang="en-US" sz="1200" kern="1200" dirty="0">
                <a:solidFill>
                  <a:schemeClr val="tx1"/>
                </a:solidFill>
                <a:effectLst/>
                <a:latin typeface="+mn-lt"/>
                <a:ea typeface="+mn-ea"/>
                <a:cs typeface="+mn-cs"/>
              </a:rPr>
              <a:t>phase of project life</a:t>
            </a:r>
            <a:r>
              <a:rPr lang="en-US" sz="1200" kern="1200" baseline="0" dirty="0">
                <a:solidFill>
                  <a:schemeClr val="tx1"/>
                </a:solidFill>
                <a:effectLst/>
                <a:latin typeface="+mn-lt"/>
                <a:ea typeface="+mn-ea"/>
                <a:cs typeface="+mn-cs"/>
              </a:rPr>
              <a:t> cycle</a:t>
            </a:r>
            <a:r>
              <a:rPr lang="en-US" sz="1200" kern="1200" dirty="0">
                <a:solidFill>
                  <a:schemeClr val="tx1"/>
                </a:solidFill>
                <a:effectLst/>
                <a:latin typeface="+mn-lt"/>
                <a:ea typeface="+mn-ea"/>
                <a:cs typeface="+mn-cs"/>
              </a:rPr>
              <a:t> that extends from the start till the end. It</a:t>
            </a:r>
            <a:r>
              <a:rPr lang="en-US" sz="1200" kern="1200" baseline="0" dirty="0">
                <a:solidFill>
                  <a:schemeClr val="tx1"/>
                </a:solidFill>
                <a:effectLst/>
                <a:latin typeface="+mn-lt"/>
                <a:ea typeface="+mn-ea"/>
                <a:cs typeface="+mn-cs"/>
              </a:rPr>
              <a:t> is called the </a:t>
            </a:r>
            <a:r>
              <a:rPr lang="en-US" sz="1200" kern="1200" dirty="0">
                <a:solidFill>
                  <a:schemeClr val="tx1"/>
                </a:solidFill>
                <a:effectLst/>
                <a:latin typeface="+mn-lt"/>
                <a:ea typeface="+mn-ea"/>
                <a:cs typeface="+mn-cs"/>
              </a:rPr>
              <a:t>monitoring and evaluation Phase.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(M&amp;E) is critical to ensuring that Siemens' Agile transformation within the AI-enabled home appliances division delivers value consistently and aligns with its strategic vision of sustainability, digitalization, and customer-centric innovation (Rigby, Sutherland, &amp; Takeuchi, 2016).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Siemens can track delivery efficiency, product quality, team health, and long-term strategic alignment by using "AI paths" to run manufacturing simulations and combine quantitative flow-based metrics (</a:t>
            </a:r>
            <a:r>
              <a:rPr lang="en-US" dirty="0" err="1"/>
              <a:t>Ducharme</a:t>
            </a:r>
            <a:r>
              <a:rPr lang="en-US" dirty="0"/>
              <a:t>, 2023) with qualitative feedback loops of heuristic data (</a:t>
            </a:r>
            <a:r>
              <a:rPr lang="en-US" dirty="0" err="1"/>
              <a:t>Schwaber</a:t>
            </a:r>
            <a:r>
              <a:rPr lang="en-US" dirty="0"/>
              <a:t> &amp; Sutherland, 2020).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continuous inspection and adaptation is vital throughout the entire agile project lifecycle (Rubin, 2013), ensuring that projects stay on track and deliver expected benefits.</a:t>
            </a:r>
            <a:r>
              <a:rPr lang="de-DE" sz="1200" b="0" i="0" kern="1200" dirty="0">
                <a:solidFill>
                  <a:schemeClr val="tx1"/>
                </a:solidFill>
                <a:effectLst/>
                <a:latin typeface="+mn-lt"/>
                <a:ea typeface="+mn-ea"/>
                <a:cs typeface="+mn-cs"/>
              </a:rPr>
              <a:t> (Siemens Digital Industries Software, 2024).</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19F4364-983E-4044-97C0-E34BB3FA4648}" type="slidenum">
              <a:rPr lang="en-US" smtClean="0"/>
              <a:t>15</a:t>
            </a:fld>
            <a:endParaRPr lang="en-US"/>
          </a:p>
        </p:txBody>
      </p:sp>
    </p:spTree>
    <p:extLst>
      <p:ext uri="{BB962C8B-B14F-4D97-AF65-F5344CB8AC3E}">
        <p14:creationId xmlns:p14="http://schemas.microsoft.com/office/powerpoint/2010/main" val="2590420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ED751-2E83-4B8E-A33F-4DEA9B5C9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91C9A-D8C1-DC14-018D-BB95CED224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BA0FA-150D-1964-2ACA-F17B4ECE58B2}"/>
              </a:ext>
            </a:extLst>
          </p:cNvPr>
          <p:cNvSpPr>
            <a:spLocks noGrp="1"/>
          </p:cNvSpPr>
          <p:nvPr>
            <p:ph type="body" idx="1"/>
          </p:nvPr>
        </p:nvSpPr>
        <p:spPr/>
        <p:txBody>
          <a:bodyPr/>
          <a:lstStyle/>
          <a:p>
            <a:r>
              <a:rPr lang="en-US" dirty="0"/>
              <a:t>The effectiveness of value delivery across Agile Release Trains (ARTs) is shown by the flow-based metrics. The "Measure and Grow" competence model of the Scaled Agile Framework (</a:t>
            </a:r>
            <a:r>
              <a:rPr lang="en-US" dirty="0" err="1"/>
              <a:t>SAFe</a:t>
            </a:r>
            <a:r>
              <a:rPr lang="en-US" dirty="0"/>
              <a:t>) promotes the use of the Flow Framework</a:t>
            </a:r>
            <a:br>
              <a:rPr lang="en-US" dirty="0"/>
            </a:br>
            <a:br>
              <a:rPr lang="en-US" dirty="0"/>
            </a:br>
            <a:r>
              <a:rPr lang="en-US" dirty="0"/>
              <a:t>Flow Velocity: Shows productivity trends over time by counting the number of features, stories, or capabilities completed per iteration (Agile Hive, 2023).</a:t>
            </a:r>
          </a:p>
          <a:p>
            <a:br>
              <a:rPr lang="en-US" dirty="0"/>
            </a:br>
            <a:r>
              <a:rPr lang="en-US" dirty="0"/>
              <a:t>Flow Time: The amount of time it takes for a task to go from beginning to end, which helps Siemens provide AI capabilities as quickly as possible (Agile Hive, 2023).</a:t>
            </a:r>
          </a:p>
          <a:p>
            <a:endParaRPr lang="en-US" sz="1200" kern="1200" dirty="0">
              <a:solidFill>
                <a:schemeClr val="tx1"/>
              </a:solidFill>
              <a:effectLst/>
              <a:latin typeface="+mn-lt"/>
              <a:ea typeface="+mn-ea"/>
              <a:cs typeface="+mn-cs"/>
            </a:endParaRPr>
          </a:p>
          <a:p>
            <a:r>
              <a:rPr lang="en-US" dirty="0"/>
              <a:t>Flow Predictability: Verifies that Siemens fulfills its promises to customer-focused innovation by comparing planned and accomplished goals every Program Increment (PI) (</a:t>
            </a:r>
            <a:r>
              <a:rPr lang="en-US" dirty="0" err="1"/>
              <a:t>Planview</a:t>
            </a:r>
            <a:r>
              <a:rPr lang="en-US" dirty="0"/>
              <a:t>, 2024). </a:t>
            </a:r>
            <a:br>
              <a:rPr lang="en-US" dirty="0"/>
            </a:br>
            <a:endParaRPr lang="en-US" dirty="0"/>
          </a:p>
        </p:txBody>
      </p:sp>
      <p:sp>
        <p:nvSpPr>
          <p:cNvPr id="4" name="Slide Number Placeholder 3">
            <a:extLst>
              <a:ext uri="{FF2B5EF4-FFF2-40B4-BE49-F238E27FC236}">
                <a16:creationId xmlns:a16="http://schemas.microsoft.com/office/drawing/2014/main" id="{035A8FE1-C747-B02D-1DED-9C38FC18AF58}"/>
              </a:ext>
            </a:extLst>
          </p:cNvPr>
          <p:cNvSpPr>
            <a:spLocks noGrp="1"/>
          </p:cNvSpPr>
          <p:nvPr>
            <p:ph type="sldNum" sz="quarter" idx="5"/>
          </p:nvPr>
        </p:nvSpPr>
        <p:spPr/>
        <p:txBody>
          <a:bodyPr/>
          <a:lstStyle/>
          <a:p>
            <a:fld id="{D19F4364-983E-4044-97C0-E34BB3FA4648}" type="slidenum">
              <a:rPr lang="en-US" smtClean="0"/>
              <a:t>16</a:t>
            </a:fld>
            <a:endParaRPr lang="en-US"/>
          </a:p>
        </p:txBody>
      </p:sp>
    </p:spTree>
    <p:extLst>
      <p:ext uri="{BB962C8B-B14F-4D97-AF65-F5344CB8AC3E}">
        <p14:creationId xmlns:p14="http://schemas.microsoft.com/office/powerpoint/2010/main" val="23823991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1775B-4D6D-CF63-963E-D756AACE4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D8246-2D84-AC8D-7C1E-BDD40212E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99397-9D94-8BD6-72EE-E55A48C923AE}"/>
              </a:ext>
            </a:extLst>
          </p:cNvPr>
          <p:cNvSpPr>
            <a:spLocks noGrp="1"/>
          </p:cNvSpPr>
          <p:nvPr>
            <p:ph type="body" idx="1"/>
          </p:nvPr>
        </p:nvSpPr>
        <p:spPr/>
        <p:txBody>
          <a:bodyPr/>
          <a:lstStyle/>
          <a:p>
            <a:r>
              <a:rPr lang="en-US" dirty="0"/>
              <a:t>Siemens needs to monitor results about product quality and customer satisfaction, while keeping</a:t>
            </a:r>
            <a:r>
              <a:rPr lang="en-US" baseline="0" dirty="0"/>
              <a:t> the team motivated and empowered</a:t>
            </a:r>
            <a:r>
              <a:rPr lang="en-US" dirty="0"/>
              <a:t> with the help of Agile process management:</a:t>
            </a:r>
            <a:br>
              <a:rPr lang="en-US" dirty="0"/>
            </a:br>
            <a:endParaRPr lang="en-US" dirty="0"/>
          </a:p>
          <a:p>
            <a:r>
              <a:rPr lang="en-US" sz="1200" kern="1200" dirty="0">
                <a:solidFill>
                  <a:schemeClr val="tx1"/>
                </a:solidFill>
                <a:effectLst/>
                <a:latin typeface="+mn-lt"/>
                <a:ea typeface="+mn-ea"/>
                <a:cs typeface="+mn-cs"/>
              </a:rPr>
              <a:t>Agile process management</a:t>
            </a:r>
            <a:r>
              <a:rPr lang="en-US" sz="1200" kern="1200" baseline="0" dirty="0">
                <a:solidFill>
                  <a:schemeClr val="tx1"/>
                </a:solidFill>
                <a:effectLst/>
                <a:latin typeface="+mn-lt"/>
                <a:ea typeface="+mn-ea"/>
                <a:cs typeface="+mn-cs"/>
              </a:rPr>
              <a:t> provides </a:t>
            </a:r>
            <a:r>
              <a:rPr lang="en-US" sz="1200" kern="1200" dirty="0">
                <a:solidFill>
                  <a:schemeClr val="tx1"/>
                </a:solidFill>
                <a:effectLst/>
                <a:latin typeface="+mn-lt"/>
                <a:ea typeface="+mn-ea"/>
                <a:cs typeface="+mn-cs"/>
              </a:rPr>
              <a:t>flexibility</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motivation</a:t>
            </a:r>
            <a:r>
              <a:rPr lang="en-US" sz="1200" kern="1200" baseline="0" dirty="0">
                <a:solidFill>
                  <a:schemeClr val="tx1"/>
                </a:solidFill>
                <a:effectLst/>
                <a:latin typeface="+mn-lt"/>
                <a:ea typeface="+mn-ea"/>
                <a:cs typeface="+mn-cs"/>
              </a:rPr>
              <a:t> strategies and</a:t>
            </a:r>
            <a:r>
              <a:rPr lang="en-US" sz="1200" kern="1200" dirty="0">
                <a:solidFill>
                  <a:schemeClr val="tx1"/>
                </a:solidFill>
                <a:effectLst/>
                <a:latin typeface="+mn-lt"/>
                <a:ea typeface="+mn-ea"/>
                <a:cs typeface="+mn-cs"/>
              </a:rPr>
              <a:t> empower</a:t>
            </a:r>
            <a:r>
              <a:rPr lang="en-US" sz="1200" kern="1200" baseline="0" dirty="0">
                <a:solidFill>
                  <a:schemeClr val="tx1"/>
                </a:solidFill>
                <a:effectLst/>
                <a:latin typeface="+mn-lt"/>
                <a:ea typeface="+mn-ea"/>
                <a:cs typeface="+mn-cs"/>
              </a:rPr>
              <a:t> project team</a:t>
            </a:r>
            <a:r>
              <a:rPr lang="en-US" sz="1200" kern="1200" dirty="0">
                <a:solidFill>
                  <a:schemeClr val="tx1"/>
                </a:solidFill>
                <a:effectLst/>
                <a:latin typeface="+mn-lt"/>
                <a:ea typeface="+mn-ea"/>
                <a:cs typeface="+mn-cs"/>
              </a:rPr>
              <a:t>work with</a:t>
            </a:r>
            <a:r>
              <a:rPr lang="en-US" sz="1200" kern="1200" baseline="0" dirty="0">
                <a:solidFill>
                  <a:schemeClr val="tx1"/>
                </a:solidFill>
                <a:effectLst/>
                <a:latin typeface="+mn-lt"/>
                <a:ea typeface="+mn-ea"/>
                <a:cs typeface="+mn-cs"/>
              </a:rPr>
              <a:t> the help of collaboration tools</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For</a:t>
            </a:r>
            <a:r>
              <a:rPr lang="en-US" sz="1200" kern="1200" baseline="0" dirty="0">
                <a:solidFill>
                  <a:schemeClr val="tx1"/>
                </a:solidFill>
                <a:effectLst/>
                <a:latin typeface="+mn-lt"/>
                <a:ea typeface="+mn-ea"/>
                <a:cs typeface="+mn-cs"/>
              </a:rPr>
              <a:t> Team Quality Siemens conduct: </a:t>
            </a:r>
            <a:r>
              <a:rPr lang="en-US" sz="1200" kern="1200" dirty="0">
                <a:solidFill>
                  <a:schemeClr val="tx1"/>
                </a:solidFill>
                <a:effectLst/>
                <a:latin typeface="+mn-lt"/>
                <a:ea typeface="+mn-ea"/>
                <a:cs typeface="+mn-cs"/>
              </a:rPr>
              <a:t>Agile Maturity Assessments: Applying </a:t>
            </a:r>
            <a:r>
              <a:rPr lang="en-US" sz="1200" kern="1200" dirty="0" err="1">
                <a:solidFill>
                  <a:schemeClr val="tx1"/>
                </a:solidFill>
                <a:effectLst/>
                <a:latin typeface="+mn-lt"/>
                <a:ea typeface="+mn-ea"/>
                <a:cs typeface="+mn-cs"/>
              </a:rPr>
              <a:t>SAFe's</a:t>
            </a:r>
            <a:r>
              <a:rPr lang="en-US" sz="1200" kern="1200" dirty="0">
                <a:solidFill>
                  <a:schemeClr val="tx1"/>
                </a:solidFill>
                <a:effectLst/>
                <a:latin typeface="+mn-lt"/>
                <a:ea typeface="+mn-ea"/>
                <a:cs typeface="+mn-cs"/>
              </a:rPr>
              <a:t> Business Agility Assessment to evaluate competencies in Lean Portfolio Management, Agile Product Delivery, and Team Agility (Scaled Agile Inc., 2021).</a:t>
            </a:r>
          </a:p>
          <a:p>
            <a:endParaRPr lang="en-US" dirty="0"/>
          </a:p>
          <a:p>
            <a:r>
              <a:rPr lang="en-US" dirty="0"/>
              <a:t>For Product and Process Quality Management </a:t>
            </a:r>
            <a:r>
              <a:rPr lang="en-US" baseline="0" dirty="0"/>
              <a:t>Siemens Measures:</a:t>
            </a:r>
          </a:p>
          <a:p>
            <a:endParaRPr lang="en-US" baseline="0" dirty="0"/>
          </a:p>
          <a:p>
            <a:r>
              <a:rPr lang="en-US" dirty="0"/>
              <a:t>Defect Density and Escaped Defects: </a:t>
            </a:r>
          </a:p>
          <a:p>
            <a:r>
              <a:rPr lang="en-US" dirty="0"/>
              <a:t>To guarantee the quality of delivered appliances, software flaws must be monitored</a:t>
            </a:r>
            <a:r>
              <a:rPr lang="en-US" baseline="0" dirty="0"/>
              <a:t> via:</a:t>
            </a:r>
            <a:br>
              <a:rPr lang="en-US" dirty="0"/>
            </a:br>
            <a:endParaRPr lang="en-US" dirty="0"/>
          </a:p>
          <a:p>
            <a:r>
              <a:rPr lang="en-US" dirty="0"/>
              <a:t>Test Automation Coverage: The proportion of automated testing in CI/CD pipelines lowers the possibility of regressions or the introduction of new issues (</a:t>
            </a:r>
            <a:r>
              <a:rPr lang="en-US" dirty="0" err="1"/>
              <a:t>Agilemania</a:t>
            </a:r>
            <a:r>
              <a:rPr lang="en-US" dirty="0"/>
              <a:t>, 2022). </a:t>
            </a:r>
          </a:p>
          <a:p>
            <a:br>
              <a:rPr lang="en-US" dirty="0"/>
            </a:br>
            <a:r>
              <a:rPr lang="en-US" dirty="0"/>
              <a:t>Customer Feedback Metrics: Adaptive features such as predicted wash cycles are evaluated using Customer Satisfaction (CSAT) scores and the Net Promoter Score (NPS) (</a:t>
            </a:r>
            <a:r>
              <a:rPr lang="en-US" dirty="0" err="1"/>
              <a:t>Atlassian</a:t>
            </a:r>
            <a:r>
              <a:rPr lang="en-US" dirty="0"/>
              <a:t>, 2024). </a:t>
            </a:r>
            <a:br>
              <a:rPr lang="en-US" dirty="0"/>
            </a:br>
            <a:endParaRPr lang="en-US" dirty="0"/>
          </a:p>
          <a:p>
            <a:r>
              <a:rPr lang="en-US" dirty="0"/>
              <a:t>Adoption Rates: Monitoring the number of consumers utilizing AI-powered capabilities in various appliances (Gartner, 2023).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Retrospectives Scrum Meeting</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Holding reviews after each iteration to capture lessons learned and find opportunities for improvement (</a:t>
            </a:r>
            <a:r>
              <a:rPr lang="en-US" sz="1200" kern="1200" dirty="0" err="1">
                <a:solidFill>
                  <a:schemeClr val="tx1"/>
                </a:solidFill>
                <a:effectLst/>
                <a:latin typeface="+mn-lt"/>
                <a:ea typeface="+mn-ea"/>
                <a:cs typeface="+mn-cs"/>
              </a:rPr>
              <a:t>Schwaber</a:t>
            </a:r>
            <a:r>
              <a:rPr lang="en-US" sz="1200" kern="1200" dirty="0">
                <a:solidFill>
                  <a:schemeClr val="tx1"/>
                </a:solidFill>
                <a:effectLst/>
                <a:latin typeface="+mn-lt"/>
                <a:ea typeface="+mn-ea"/>
                <a:cs typeface="+mn-cs"/>
              </a:rPr>
              <a:t> and Sutherland, 2020).</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Employee Engagement Surveys: Using pulse surveys and employee Net Promoter Score (</a:t>
            </a:r>
            <a:r>
              <a:rPr lang="en-US" sz="1200" kern="1200" dirty="0" err="1">
                <a:solidFill>
                  <a:schemeClr val="tx1"/>
                </a:solidFill>
                <a:effectLst/>
                <a:latin typeface="+mn-lt"/>
                <a:ea typeface="+mn-ea"/>
                <a:cs typeface="+mn-cs"/>
              </a:rPr>
              <a:t>eNPS</a:t>
            </a:r>
            <a:r>
              <a:rPr lang="en-US" sz="1200" kern="1200" dirty="0">
                <a:solidFill>
                  <a:schemeClr val="tx1"/>
                </a:solidFill>
                <a:effectLst/>
                <a:latin typeface="+mn-lt"/>
                <a:ea typeface="+mn-ea"/>
                <a:cs typeface="+mn-cs"/>
              </a:rPr>
              <a:t>) to monitor the cultural shift from a traditional hierarchy to an Agile way of working (</a:t>
            </a:r>
            <a:r>
              <a:rPr lang="en-US" sz="1200" kern="1200" dirty="0" err="1">
                <a:solidFill>
                  <a:schemeClr val="tx1"/>
                </a:solidFill>
                <a:effectLst/>
                <a:latin typeface="+mn-lt"/>
                <a:ea typeface="+mn-ea"/>
                <a:cs typeface="+mn-cs"/>
              </a:rPr>
              <a:t>Gocious</a:t>
            </a:r>
            <a:r>
              <a:rPr lang="en-US" sz="1200" kern="1200" dirty="0">
                <a:solidFill>
                  <a:schemeClr val="tx1"/>
                </a:solidFill>
                <a:effectLst/>
                <a:latin typeface="+mn-lt"/>
                <a:ea typeface="+mn-ea"/>
                <a:cs typeface="+mn-cs"/>
              </a:rPr>
              <a:t>, 2023).</a:t>
            </a:r>
            <a:br>
              <a:rPr lang="en-US" dirty="0"/>
            </a:br>
            <a:endParaRPr lang="en-US" dirty="0"/>
          </a:p>
          <a:p>
            <a:r>
              <a:rPr lang="en-US" dirty="0"/>
              <a:t>Scaled</a:t>
            </a:r>
            <a:r>
              <a:rPr lang="en-US" baseline="0" dirty="0"/>
              <a:t> </a:t>
            </a:r>
            <a:r>
              <a:rPr lang="en-US" dirty="0"/>
              <a:t>Agile Framework</a:t>
            </a:r>
            <a:r>
              <a:rPr lang="en-US" baseline="0" dirty="0"/>
              <a:t> helps to track t</a:t>
            </a:r>
            <a:r>
              <a:rPr lang="en-US" dirty="0"/>
              <a:t>hese</a:t>
            </a:r>
            <a:r>
              <a:rPr lang="en-US" baseline="0" dirty="0"/>
              <a:t> matrixes for Siemens to </a:t>
            </a:r>
            <a:r>
              <a:rPr lang="en-US" dirty="0"/>
              <a:t>guarantee an healthy team environment</a:t>
            </a:r>
            <a:r>
              <a:rPr lang="en-US" baseline="0" dirty="0"/>
              <a:t> and </a:t>
            </a:r>
            <a:r>
              <a:rPr lang="en-US" dirty="0"/>
              <a:t>consistent</a:t>
            </a:r>
            <a:r>
              <a:rPr lang="en-US" baseline="0" dirty="0"/>
              <a:t> quality product delivery </a:t>
            </a:r>
            <a:r>
              <a:rPr lang="en-US" dirty="0"/>
              <a:t>in line with consumer preferences.</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1F8082C-14A9-A727-E373-04175EE57109}"/>
              </a:ext>
            </a:extLst>
          </p:cNvPr>
          <p:cNvSpPr>
            <a:spLocks noGrp="1"/>
          </p:cNvSpPr>
          <p:nvPr>
            <p:ph type="sldNum" sz="quarter" idx="5"/>
          </p:nvPr>
        </p:nvSpPr>
        <p:spPr/>
        <p:txBody>
          <a:bodyPr/>
          <a:lstStyle/>
          <a:p>
            <a:fld id="{D19F4364-983E-4044-97C0-E34BB3FA4648}" type="slidenum">
              <a:rPr lang="en-US" smtClean="0"/>
              <a:t>17</a:t>
            </a:fld>
            <a:endParaRPr lang="en-US"/>
          </a:p>
        </p:txBody>
      </p:sp>
    </p:spTree>
    <p:extLst>
      <p:ext uri="{BB962C8B-B14F-4D97-AF65-F5344CB8AC3E}">
        <p14:creationId xmlns:p14="http://schemas.microsoft.com/office/powerpoint/2010/main" val="45559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These</a:t>
            </a:r>
            <a:r>
              <a:rPr lang="en-US" sz="1200" kern="1200" baseline="0" dirty="0">
                <a:solidFill>
                  <a:schemeClr val="tx1"/>
                </a:solidFill>
                <a:effectLst/>
                <a:latin typeface="+mn-lt"/>
                <a:ea typeface="+mn-ea"/>
                <a:cs typeface="+mn-cs"/>
              </a:rPr>
              <a:t> three parameters are set for </a:t>
            </a:r>
            <a:r>
              <a:rPr lang="en-US" sz="1200" kern="1200" dirty="0">
                <a:solidFill>
                  <a:schemeClr val="tx1"/>
                </a:solidFill>
                <a:effectLst/>
                <a:latin typeface="+mn-lt"/>
                <a:ea typeface="+mn-ea"/>
                <a:cs typeface="+mn-cs"/>
              </a:rPr>
              <a:t>Siemens to ensure its innovation investments are aligned with the company's broader goals around digitalization and sustainability:</a:t>
            </a:r>
          </a:p>
          <a:p>
            <a:pPr lvl="0"/>
            <a:r>
              <a:rPr lang="en-US" sz="1200" b="1" kern="1200" dirty="0">
                <a:solidFill>
                  <a:schemeClr val="tx1"/>
                </a:solidFill>
                <a:effectLst/>
                <a:latin typeface="+mn-lt"/>
                <a:ea typeface="+mn-ea"/>
                <a:cs typeface="+mn-cs"/>
              </a:rPr>
              <a:t>Objectives and Key Results (OKRs)</a:t>
            </a:r>
            <a:r>
              <a:rPr lang="en-US" sz="1200" kern="1200" dirty="0">
                <a:solidFill>
                  <a:schemeClr val="tx1"/>
                </a:solidFill>
                <a:effectLst/>
                <a:latin typeface="+mn-lt"/>
                <a:ea typeface="+mn-ea"/>
                <a:cs typeface="+mn-cs"/>
              </a:rPr>
              <a:t>: Linking Program Increment (PI) objectives to Siemens' overarching strategies for sustainability and customer-centric innovation.</a:t>
            </a:r>
          </a:p>
          <a:p>
            <a:pPr lvl="0"/>
            <a:r>
              <a:rPr lang="en-US" sz="1200" b="1" kern="1200" dirty="0">
                <a:solidFill>
                  <a:schemeClr val="tx1"/>
                </a:solidFill>
                <a:effectLst/>
                <a:latin typeface="+mn-lt"/>
                <a:ea typeface="+mn-ea"/>
                <a:cs typeface="+mn-cs"/>
              </a:rPr>
              <a:t>Portfolio Kanban: </a:t>
            </a:r>
            <a:r>
              <a:rPr lang="en-US" sz="1200" kern="1200" dirty="0">
                <a:solidFill>
                  <a:schemeClr val="tx1"/>
                </a:solidFill>
                <a:effectLst/>
                <a:latin typeface="+mn-lt"/>
                <a:ea typeface="+mn-ea"/>
                <a:cs typeface="+mn-cs"/>
              </a:rPr>
              <a:t>Monitoring the progress of AI-powered initiatives from the idea stage to actual delivery (Scaled Agile, Inc., 2021).</a:t>
            </a:r>
          </a:p>
          <a:p>
            <a:pPr lvl="0"/>
            <a:r>
              <a:rPr lang="en-US" sz="1200" b="1" kern="1200" dirty="0">
                <a:solidFill>
                  <a:schemeClr val="tx1"/>
                </a:solidFill>
                <a:effectLst/>
                <a:latin typeface="+mn-lt"/>
                <a:ea typeface="+mn-ea"/>
                <a:cs typeface="+mn-cs"/>
              </a:rPr>
              <a:t>Sustainability and Compliance KPIs: </a:t>
            </a:r>
            <a:r>
              <a:rPr lang="en-US" sz="1200" kern="1200" dirty="0">
                <a:solidFill>
                  <a:schemeClr val="tx1"/>
                </a:solidFill>
                <a:effectLst/>
                <a:latin typeface="+mn-lt"/>
                <a:ea typeface="+mn-ea"/>
                <a:cs typeface="+mn-cs"/>
              </a:rPr>
              <a:t>Measuring things like energy efficiency, reduction in carbon footprint, and compliance with data protection laws (Siemens, 2024).</a:t>
            </a:r>
          </a:p>
          <a:p>
            <a:r>
              <a:rPr lang="en-US" sz="1200" kern="1200" dirty="0">
                <a:solidFill>
                  <a:schemeClr val="tx1"/>
                </a:solidFill>
                <a:effectLst/>
                <a:latin typeface="+mn-lt"/>
                <a:ea typeface="+mn-ea"/>
                <a:cs typeface="+mn-cs"/>
              </a:rPr>
              <a:t>This makes sure that success at the project level translates into concrete business results.</a:t>
            </a:r>
          </a:p>
        </p:txBody>
      </p:sp>
      <p:sp>
        <p:nvSpPr>
          <p:cNvPr id="4" name="Slide Number Placeholder 3"/>
          <p:cNvSpPr>
            <a:spLocks noGrp="1"/>
          </p:cNvSpPr>
          <p:nvPr>
            <p:ph type="sldNum" sz="quarter" idx="5"/>
          </p:nvPr>
        </p:nvSpPr>
        <p:spPr/>
        <p:txBody>
          <a:bodyPr/>
          <a:lstStyle/>
          <a:p>
            <a:fld id="{D19F4364-983E-4044-97C0-E34BB3FA4648}" type="slidenum">
              <a:rPr lang="en-US" smtClean="0"/>
              <a:t>18</a:t>
            </a:fld>
            <a:endParaRPr lang="en-US"/>
          </a:p>
        </p:txBody>
      </p:sp>
    </p:spTree>
    <p:extLst>
      <p:ext uri="{BB962C8B-B14F-4D97-AF65-F5344CB8AC3E}">
        <p14:creationId xmlns:p14="http://schemas.microsoft.com/office/powerpoint/2010/main" val="1678542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6F3D-971C-183E-B1A8-FEC7500F3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4802C-2983-C54F-C185-2F7A314497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6998EF-DBA3-39BB-407A-40D8ED38BEF1}"/>
              </a:ext>
            </a:extLst>
          </p:cNvPr>
          <p:cNvSpPr>
            <a:spLocks noGrp="1"/>
          </p:cNvSpPr>
          <p:nvPr>
            <p:ph type="body" idx="1"/>
          </p:nvPr>
        </p:nvSpPr>
        <p:spPr/>
        <p:txBody>
          <a:bodyPr/>
          <a:lstStyle/>
          <a:p>
            <a:r>
              <a:rPr lang="en-US" dirty="0"/>
              <a:t>This slide maps Siemens key stakeholders by their interest and influence:</a:t>
            </a:r>
            <a:r>
              <a:rPr lang="en-US" baseline="0" dirty="0"/>
              <a:t> </a:t>
            </a:r>
            <a:endParaRPr lang="en-US" dirty="0"/>
          </a:p>
          <a:p>
            <a:r>
              <a:rPr lang="en-US" dirty="0"/>
              <a:t>Executives and Regulatory Bodies have high influence and interest, so they manage them closely with regular updates.</a:t>
            </a:r>
          </a:p>
          <a:p>
            <a:r>
              <a:rPr lang="en-US" dirty="0"/>
              <a:t>Product Owners and Key Clients have high influence but less daily involvement; they keep them satisfied. Agile Teams and user communities are very interested but less influential; they keep them informed. </a:t>
            </a:r>
          </a:p>
          <a:p>
            <a:r>
              <a:rPr lang="en-US" dirty="0"/>
              <a:t>Customers have lower influence and interest; they monitor and update them as needed. </a:t>
            </a:r>
          </a:p>
          <a:p>
            <a:r>
              <a:rPr lang="en-US" dirty="0"/>
              <a:t>This approach ensures the right communication for each group, supporting project success.</a:t>
            </a:r>
          </a:p>
        </p:txBody>
      </p:sp>
      <p:sp>
        <p:nvSpPr>
          <p:cNvPr id="4" name="Slide Number Placeholder 3">
            <a:extLst>
              <a:ext uri="{FF2B5EF4-FFF2-40B4-BE49-F238E27FC236}">
                <a16:creationId xmlns:a16="http://schemas.microsoft.com/office/drawing/2014/main" id="{A2FAB087-5602-F994-5B9C-97717EA6407F}"/>
              </a:ext>
            </a:extLst>
          </p:cNvPr>
          <p:cNvSpPr>
            <a:spLocks noGrp="1"/>
          </p:cNvSpPr>
          <p:nvPr>
            <p:ph type="sldNum" sz="quarter" idx="5"/>
          </p:nvPr>
        </p:nvSpPr>
        <p:spPr/>
        <p:txBody>
          <a:bodyPr/>
          <a:lstStyle/>
          <a:p>
            <a:fld id="{D19F4364-983E-4044-97C0-E34BB3FA4648}" type="slidenum">
              <a:rPr lang="en-US" smtClean="0"/>
              <a:t>19</a:t>
            </a:fld>
            <a:endParaRPr lang="en-US"/>
          </a:p>
        </p:txBody>
      </p:sp>
    </p:spTree>
    <p:extLst>
      <p:ext uri="{BB962C8B-B14F-4D97-AF65-F5344CB8AC3E}">
        <p14:creationId xmlns:p14="http://schemas.microsoft.com/office/powerpoint/2010/main" val="15580671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15A1F-057F-C54A-06DD-D9842075D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407ED-77FB-2633-3FE4-910CEC6129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6C36C-85DE-4495-F9B8-A3BE5B41F0DC}"/>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we are showing how Siemens engage and collaborate with stakeholders throughout the project.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They use regular workshops like vision alignment sessions, sprint reviews, and showcases to share progress and gather feedback. These create real-time transparency and keep everyone aligned on project goals.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communication and collaboration, they leverage digital tools such as Microsoft and</a:t>
            </a:r>
            <a:r>
              <a:rPr lang="en-US" baseline="0" dirty="0"/>
              <a:t> Google Team </a:t>
            </a:r>
            <a:r>
              <a:rPr lang="en-US" dirty="0"/>
              <a:t>for instant updates and Q&amp;A, Miro for design and feedback collaboration, and Jira and Confluence for agile tracking and documentation. </a:t>
            </a:r>
          </a:p>
        </p:txBody>
      </p:sp>
      <p:sp>
        <p:nvSpPr>
          <p:cNvPr id="4" name="Slide Number Placeholder 3">
            <a:extLst>
              <a:ext uri="{FF2B5EF4-FFF2-40B4-BE49-F238E27FC236}">
                <a16:creationId xmlns:a16="http://schemas.microsoft.com/office/drawing/2014/main" id="{F8C14F07-A24A-7FB6-E369-04E0CB468DAD}"/>
              </a:ext>
            </a:extLst>
          </p:cNvPr>
          <p:cNvSpPr>
            <a:spLocks noGrp="1"/>
          </p:cNvSpPr>
          <p:nvPr>
            <p:ph type="sldNum" sz="quarter" idx="5"/>
          </p:nvPr>
        </p:nvSpPr>
        <p:spPr/>
        <p:txBody>
          <a:bodyPr/>
          <a:lstStyle/>
          <a:p>
            <a:fld id="{D19F4364-983E-4044-97C0-E34BB3FA4648}" type="slidenum">
              <a:rPr lang="en-US" smtClean="0"/>
              <a:t>20</a:t>
            </a:fld>
            <a:endParaRPr lang="en-US"/>
          </a:p>
        </p:txBody>
      </p:sp>
    </p:spTree>
    <p:extLst>
      <p:ext uri="{BB962C8B-B14F-4D97-AF65-F5344CB8AC3E}">
        <p14:creationId xmlns:p14="http://schemas.microsoft.com/office/powerpoint/2010/main" val="3519024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F1922-99F4-B73A-EEB0-096BF71C02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50DD2-FDD0-1897-358B-CB0415DD8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04245-8C66-1DEE-6F64-5720333BCE05}"/>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To effectively monitor and evaluate performance, Siemens can use:</a:t>
            </a:r>
          </a:p>
          <a:p>
            <a:pPr lvl="0"/>
            <a:r>
              <a:rPr lang="en-US" sz="1200" b="1" kern="1200" dirty="0">
                <a:solidFill>
                  <a:schemeClr val="tx1"/>
                </a:solidFill>
                <a:effectLst/>
                <a:latin typeface="+mn-lt"/>
                <a:ea typeface="+mn-ea"/>
                <a:cs typeface="+mn-cs"/>
              </a:rPr>
              <a:t>Jira and VersionOne for tracking user stories, velocity, and sprint burndown charts.</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Confluence for documenting retrospectives and capturing lessons learned.</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Power BI/Tableau for integrating financial, sustainability, and Agile metrics into executive dashboards.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Using visualization tools makes monitoring and evaluation transparent, accessible, and actionable across the organization.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Together, these mechanisms ensure effective engagement, clear communication, and smooth teamwork across distributed and cross-functional teams.</a:t>
            </a:r>
          </a:p>
          <a:p>
            <a:endParaRPr lang="en-US"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C91D40B6-3537-6B6E-530A-C5FEB0D994D7}"/>
              </a:ext>
            </a:extLst>
          </p:cNvPr>
          <p:cNvSpPr>
            <a:spLocks noGrp="1"/>
          </p:cNvSpPr>
          <p:nvPr>
            <p:ph type="sldNum" sz="quarter" idx="5"/>
          </p:nvPr>
        </p:nvSpPr>
        <p:spPr/>
        <p:txBody>
          <a:bodyPr/>
          <a:lstStyle/>
          <a:p>
            <a:fld id="{D19F4364-983E-4044-97C0-E34BB3FA4648}" type="slidenum">
              <a:rPr lang="en-US" smtClean="0"/>
              <a:t>21</a:t>
            </a:fld>
            <a:endParaRPr lang="en-US"/>
          </a:p>
        </p:txBody>
      </p:sp>
    </p:spTree>
    <p:extLst>
      <p:ext uri="{BB962C8B-B14F-4D97-AF65-F5344CB8AC3E}">
        <p14:creationId xmlns:p14="http://schemas.microsoft.com/office/powerpoint/2010/main" val="1130595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15A1F-057F-C54A-06DD-D9842075D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407ED-77FB-2633-3FE4-910CEC6129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6C36C-85DE-4495-F9B8-A3BE5B41F0DC}"/>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Siemens focus on how co-design and continuous feedback help them build better AI home appliances with there stakeholders.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Co-design happens through sprint review sessions open to clients and end-users, allowing direct feedback at every stage. They also hold joint ideation workshops where partners collaborate creatively, making sure their insights shape the product from early on. Plus, they use digital feedback tools embedded directly into the appliances, so users can share their thoughts in real time. Next, communication loops keep the whole team aligned and effective. Using the </a:t>
            </a:r>
            <a:r>
              <a:rPr lang="en-US" dirty="0" err="1"/>
              <a:t>SAFe</a:t>
            </a:r>
            <a:r>
              <a:rPr lang="en-US" dirty="0"/>
              <a:t> framework, they have regular PO and Scrum Master syncs that coordinate efforts and clarify priorities. Demo sessions and Inspect &amp; Adapt meetings build trust by showing progress openly and adjusting based on real-world input. Together, these approaches foster transparency, teamwork, and shared ownership, which are critical for successfully delivering innovative AI solutions at Siemens.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Next, communication loops keep the whole team aligned and effective. Using the </a:t>
            </a:r>
            <a:r>
              <a:rPr lang="en-US" dirty="0" err="1"/>
              <a:t>SAFe</a:t>
            </a:r>
            <a:r>
              <a:rPr lang="en-US" dirty="0"/>
              <a:t> framework, they have regular PO and Scrum Master syncs that coordinate efforts and clarify priorities. Demo sessions and Inspect &amp; Adapt meetings build trust by showing progress openly and adjusting based on real-world </a:t>
            </a:r>
            <a:r>
              <a:rPr lang="en-US" dirty="0" err="1"/>
              <a:t>input.Together</a:t>
            </a:r>
            <a:r>
              <a:rPr lang="en-US" dirty="0"/>
              <a:t>, these approaches foster transparency, teamwork, and shared ownership, which are critical for successfully delivering innovative AI solutions at Siemens.</a:t>
            </a:r>
          </a:p>
          <a:p>
            <a:endParaRPr lang="en-US" dirty="0"/>
          </a:p>
        </p:txBody>
      </p:sp>
      <p:sp>
        <p:nvSpPr>
          <p:cNvPr id="4" name="Slide Number Placeholder 3">
            <a:extLst>
              <a:ext uri="{FF2B5EF4-FFF2-40B4-BE49-F238E27FC236}">
                <a16:creationId xmlns:a16="http://schemas.microsoft.com/office/drawing/2014/main" id="{F8C14F07-A24A-7FB6-E369-04E0CB468DAD}"/>
              </a:ext>
            </a:extLst>
          </p:cNvPr>
          <p:cNvSpPr>
            <a:spLocks noGrp="1"/>
          </p:cNvSpPr>
          <p:nvPr>
            <p:ph type="sldNum" sz="quarter" idx="5"/>
          </p:nvPr>
        </p:nvSpPr>
        <p:spPr/>
        <p:txBody>
          <a:bodyPr/>
          <a:lstStyle/>
          <a:p>
            <a:fld id="{D19F4364-983E-4044-97C0-E34BB3FA4648}" type="slidenum">
              <a:rPr lang="en-US" smtClean="0"/>
              <a:t>22</a:t>
            </a:fld>
            <a:endParaRPr lang="en-US"/>
          </a:p>
        </p:txBody>
      </p:sp>
    </p:spTree>
    <p:extLst>
      <p:ext uri="{BB962C8B-B14F-4D97-AF65-F5344CB8AC3E}">
        <p14:creationId xmlns:p14="http://schemas.microsoft.com/office/powerpoint/2010/main" val="727264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2712C-EFB4-8F2E-6C21-DB898736F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95884-32B8-4447-49FC-926B0AB11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D1FF3-6F92-7EEF-2FBC-C0565DC103FA}"/>
              </a:ext>
            </a:extLst>
          </p:cNvPr>
          <p:cNvSpPr>
            <a:spLocks noGrp="1"/>
          </p:cNvSpPr>
          <p:nvPr>
            <p:ph type="body" idx="1"/>
          </p:nvPr>
        </p:nvSpPr>
        <p:spPr/>
        <p:txBody>
          <a:bodyPr/>
          <a:lstStyle/>
          <a:p>
            <a:r>
              <a:rPr lang="en-US" dirty="0"/>
              <a:t>To conclude, Siemens’ digital transformation journey is a great example of how Agile  especially the Scaled Agile Framework, or </a:t>
            </a:r>
            <a:r>
              <a:rPr lang="en-US" dirty="0" err="1"/>
              <a:t>SAFe</a:t>
            </a:r>
            <a:r>
              <a:rPr lang="en-US" dirty="0"/>
              <a:t>  can help large organizations innovate effectively.</a:t>
            </a:r>
          </a:p>
          <a:p>
            <a:r>
              <a:rPr lang="en-US" dirty="0"/>
              <a:t>By adopting Agile, Siemens has shifted from traditional, linear processes to a more flexible, team-based approach that values learning and adaptability.</a:t>
            </a:r>
          </a:p>
          <a:p>
            <a:endParaRPr lang="en-US" dirty="0"/>
          </a:p>
          <a:p>
            <a:pPr marL="171450" indent="-171450">
              <a:buFont typeface="Arial" panose="020B0604020202020204" pitchFamily="34" charset="0"/>
              <a:buChar char="•"/>
            </a:pPr>
            <a:r>
              <a:rPr lang="en-US" dirty="0"/>
              <a:t>First, this transformation has allowed Siemens to combine its strong industrial background with digital agility. With </a:t>
            </a:r>
            <a:r>
              <a:rPr lang="en-US" dirty="0" err="1"/>
              <a:t>SAFe</a:t>
            </a:r>
            <a:r>
              <a:rPr lang="en-US" dirty="0"/>
              <a:t>, teams across the world can now work together smoothly innovating faster while maintaining quality and consistency.</a:t>
            </a:r>
          </a:p>
          <a:p>
            <a:pPr marL="171450" indent="-171450">
              <a:buFont typeface="Arial" panose="020B0604020202020204" pitchFamily="34" charset="0"/>
              <a:buChar char="•"/>
            </a:pPr>
            <a:r>
              <a:rPr lang="en-US" dirty="0"/>
              <a:t>Second, collaboration has become the heart of how Siemens works. Cross-functional teams of developers, engineers, data scientists, and designers now work in short, iterative cycles. They test ideas quickly, gather feedback, and improve continuously  which helps bridge the gap between engineering and digital innovation.</a:t>
            </a:r>
          </a:p>
          <a:p>
            <a:pPr marL="171450" indent="-171450">
              <a:buFont typeface="Arial" panose="020B0604020202020204" pitchFamily="34" charset="0"/>
              <a:buChar char="•"/>
            </a:pPr>
            <a:r>
              <a:rPr lang="en-US" dirty="0"/>
              <a:t>Third, Siemens ensures all this innovation stays aligned with its business goals. Through lean portfolio management, every project and sprint directly supports customer needs and the company’s larger vision.</a:t>
            </a:r>
          </a:p>
          <a:p>
            <a:pPr marL="0" indent="0">
              <a:buFont typeface="Arial" panose="020B0604020202020204" pitchFamily="34" charset="0"/>
              <a:buNone/>
            </a:pPr>
            <a:endParaRPr lang="en-US" dirty="0"/>
          </a:p>
          <a:p>
            <a:r>
              <a:rPr lang="en-US" dirty="0"/>
              <a:t>Agile has also made Siemens much efficient</a:t>
            </a:r>
            <a:r>
              <a:rPr lang="en-US" baseline="0" dirty="0"/>
              <a:t> in product innovation and development.</a:t>
            </a:r>
            <a:r>
              <a:rPr lang="en-US" dirty="0"/>
              <a:t> The company can now deliver updates and new solutions quickly, giving it a strong advantage in the fast-changing digital market.</a:t>
            </a:r>
            <a:r>
              <a:rPr lang="en-US" baseline="0" dirty="0"/>
              <a:t> </a:t>
            </a:r>
            <a:r>
              <a:rPr lang="en-US" dirty="0"/>
              <a:t>Another key result is sustainability. Agile focus on continuous improvement helps Siemens design smarter, energy-efficient, and environmentally responsible products like AI-powered appliances that optimize energy use.</a:t>
            </a:r>
          </a:p>
          <a:p>
            <a:endParaRPr lang="en-US" dirty="0"/>
          </a:p>
          <a:p>
            <a:r>
              <a:rPr lang="en-US" dirty="0"/>
              <a:t>And finally, Siemens shows that agility is more than just a process it’s a mindset. It’s about creating a culture of teamwork, adaptability, and constant growth.</a:t>
            </a:r>
            <a:r>
              <a:rPr lang="en-US" baseline="0" dirty="0"/>
              <a:t> </a:t>
            </a:r>
            <a:r>
              <a:rPr lang="en-US" dirty="0"/>
              <a:t>Overall, Siemens’ journey proves that true digital transformation doesn’t start with technology it starts with an agile mindset that empowers people to think, work, and create together.</a:t>
            </a:r>
          </a:p>
        </p:txBody>
      </p:sp>
      <p:sp>
        <p:nvSpPr>
          <p:cNvPr id="4" name="Slide Number Placeholder 3">
            <a:extLst>
              <a:ext uri="{FF2B5EF4-FFF2-40B4-BE49-F238E27FC236}">
                <a16:creationId xmlns:a16="http://schemas.microsoft.com/office/drawing/2014/main" id="{D79255E8-EF51-082C-E7F9-4A7BDC98E6AC}"/>
              </a:ext>
            </a:extLst>
          </p:cNvPr>
          <p:cNvSpPr>
            <a:spLocks noGrp="1"/>
          </p:cNvSpPr>
          <p:nvPr>
            <p:ph type="sldNum" sz="quarter" idx="5"/>
          </p:nvPr>
        </p:nvSpPr>
        <p:spPr/>
        <p:txBody>
          <a:bodyPr/>
          <a:lstStyle/>
          <a:p>
            <a:fld id="{D19F4364-983E-4044-97C0-E34BB3FA4648}" type="slidenum">
              <a:rPr lang="en-US" smtClean="0"/>
              <a:t>23</a:t>
            </a:fld>
            <a:endParaRPr lang="en-US"/>
          </a:p>
        </p:txBody>
      </p:sp>
    </p:spTree>
    <p:extLst>
      <p:ext uri="{BB962C8B-B14F-4D97-AF65-F5344CB8AC3E}">
        <p14:creationId xmlns:p14="http://schemas.microsoft.com/office/powerpoint/2010/main" val="24644791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C5A69-B3E2-153A-BE22-F805B1834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4EA62-2869-AF9A-80F7-D924FF5D8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F4877-C165-85F7-B348-31D6E02C63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0B55DE-9292-04DB-6AB4-E2ECAFA51085}"/>
              </a:ext>
            </a:extLst>
          </p:cNvPr>
          <p:cNvSpPr>
            <a:spLocks noGrp="1"/>
          </p:cNvSpPr>
          <p:nvPr>
            <p:ph type="sldNum" sz="quarter" idx="5"/>
          </p:nvPr>
        </p:nvSpPr>
        <p:spPr/>
        <p:txBody>
          <a:bodyPr/>
          <a:lstStyle/>
          <a:p>
            <a:fld id="{D19F4364-983E-4044-97C0-E34BB3FA4648}" type="slidenum">
              <a:rPr lang="en-US" smtClean="0"/>
              <a:t>24</a:t>
            </a:fld>
            <a:endParaRPr lang="en-US"/>
          </a:p>
        </p:txBody>
      </p:sp>
    </p:spTree>
    <p:extLst>
      <p:ext uri="{BB962C8B-B14F-4D97-AF65-F5344CB8AC3E}">
        <p14:creationId xmlns:p14="http://schemas.microsoft.com/office/powerpoint/2010/main" val="3912226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F2F2-303C-F2AD-7054-DFF40D731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CCA09-C4D1-BB1D-0021-08AC8B7DD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D04B0-9F4D-1C4D-161F-43703DC869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EBABF-1B39-B487-DF98-38116E489973}"/>
              </a:ext>
            </a:extLst>
          </p:cNvPr>
          <p:cNvSpPr>
            <a:spLocks noGrp="1"/>
          </p:cNvSpPr>
          <p:nvPr>
            <p:ph type="sldNum" sz="quarter" idx="5"/>
          </p:nvPr>
        </p:nvSpPr>
        <p:spPr/>
        <p:txBody>
          <a:bodyPr/>
          <a:lstStyle/>
          <a:p>
            <a:fld id="{D19F4364-983E-4044-97C0-E34BB3FA4648}" type="slidenum">
              <a:rPr lang="en-US" smtClean="0"/>
              <a:t>25</a:t>
            </a:fld>
            <a:endParaRPr lang="en-US"/>
          </a:p>
        </p:txBody>
      </p:sp>
    </p:spTree>
    <p:extLst>
      <p:ext uri="{BB962C8B-B14F-4D97-AF65-F5344CB8AC3E}">
        <p14:creationId xmlns:p14="http://schemas.microsoft.com/office/powerpoint/2010/main" val="1749820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18" Type="http://schemas.openxmlformats.org/officeDocument/2006/relationships/image" Target="../media/image15.svg"/><Relationship Id="rId26" Type="http://schemas.openxmlformats.org/officeDocument/2006/relationships/image" Target="../media/image23.svg"/><Relationship Id="rId3" Type="http://schemas.openxmlformats.org/officeDocument/2006/relationships/slideLayout" Target="../slideLayouts/slideLayout7.xml"/><Relationship Id="rId21" Type="http://schemas.openxmlformats.org/officeDocument/2006/relationships/image" Target="../media/image18.png"/><Relationship Id="rId7" Type="http://schemas.openxmlformats.org/officeDocument/2006/relationships/image" Target="../media/image4.png"/><Relationship Id="rId12" Type="http://schemas.openxmlformats.org/officeDocument/2006/relationships/image" Target="../media/image9.svg"/><Relationship Id="rId17" Type="http://schemas.openxmlformats.org/officeDocument/2006/relationships/image" Target="../media/image14.png"/><Relationship Id="rId25" Type="http://schemas.openxmlformats.org/officeDocument/2006/relationships/image" Target="../media/image22.png"/><Relationship Id="rId2" Type="http://schemas.microsoft.com/office/2007/relationships/media" Target="../media/media1.m4a"/><Relationship Id="rId16" Type="http://schemas.openxmlformats.org/officeDocument/2006/relationships/image" Target="../media/image13.svg"/><Relationship Id="rId20" Type="http://schemas.openxmlformats.org/officeDocument/2006/relationships/image" Target="../media/image17.svg"/><Relationship Id="rId29" Type="http://schemas.openxmlformats.org/officeDocument/2006/relationships/image" Target="../media/image26.png"/><Relationship Id="rId1" Type="http://schemas.openxmlformats.org/officeDocument/2006/relationships/audio" Target="NULL" TargetMode="External"/><Relationship Id="rId6" Type="http://schemas.openxmlformats.org/officeDocument/2006/relationships/image" Target="../media/image3.svg"/><Relationship Id="rId11" Type="http://schemas.openxmlformats.org/officeDocument/2006/relationships/image" Target="../media/image8.png"/><Relationship Id="rId24" Type="http://schemas.openxmlformats.org/officeDocument/2006/relationships/image" Target="../media/image21.svg"/><Relationship Id="rId5" Type="http://schemas.openxmlformats.org/officeDocument/2006/relationships/image" Target="../media/image2.png"/><Relationship Id="rId15" Type="http://schemas.openxmlformats.org/officeDocument/2006/relationships/image" Target="../media/image12.png"/><Relationship Id="rId23" Type="http://schemas.openxmlformats.org/officeDocument/2006/relationships/image" Target="../media/image20.png"/><Relationship Id="rId28" Type="http://schemas.openxmlformats.org/officeDocument/2006/relationships/image" Target="../media/image25.png"/><Relationship Id="rId10" Type="http://schemas.openxmlformats.org/officeDocument/2006/relationships/image" Target="../media/image7.svg"/><Relationship Id="rId19" Type="http://schemas.openxmlformats.org/officeDocument/2006/relationships/image" Target="../media/image16.png"/><Relationship Id="rId4" Type="http://schemas.openxmlformats.org/officeDocument/2006/relationships/image" Target="../media/image1.jpeg"/><Relationship Id="rId9" Type="http://schemas.openxmlformats.org/officeDocument/2006/relationships/image" Target="../media/image6.png"/><Relationship Id="rId14" Type="http://schemas.openxmlformats.org/officeDocument/2006/relationships/image" Target="../media/image11.svg"/><Relationship Id="rId22" Type="http://schemas.openxmlformats.org/officeDocument/2006/relationships/image" Target="../media/image19.svg"/><Relationship Id="rId27" Type="http://schemas.openxmlformats.org/officeDocument/2006/relationships/image" Target="../media/image24.jpeg"/></Relationships>
</file>

<file path=ppt/slides/_rels/slide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7.xml"/><Relationship Id="rId7" Type="http://schemas.openxmlformats.org/officeDocument/2006/relationships/image" Target="../media/image28.svg"/><Relationship Id="rId2" Type="http://schemas.microsoft.com/office/2007/relationships/media" Target="../media/media1.m4a"/><Relationship Id="rId1" Type="http://schemas.openxmlformats.org/officeDocument/2006/relationships/audio" Target="NULL" TargetMode="External"/><Relationship Id="rId6" Type="http://schemas.openxmlformats.org/officeDocument/2006/relationships/image" Target="../media/image27.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7.xml"/><Relationship Id="rId7" Type="http://schemas.openxmlformats.org/officeDocument/2006/relationships/image" Target="../media/image30.svg"/><Relationship Id="rId2" Type="http://schemas.microsoft.com/office/2007/relationships/media" Target="../media/media1.m4a"/><Relationship Id="rId1" Type="http://schemas.openxmlformats.org/officeDocument/2006/relationships/audio" Target="NULL" TargetMode="External"/><Relationship Id="rId6" Type="http://schemas.openxmlformats.org/officeDocument/2006/relationships/image" Target="../media/image29.png"/><Relationship Id="rId5" Type="http://schemas.openxmlformats.org/officeDocument/2006/relationships/image" Target="../media/image1.jpeg"/><Relationship Id="rId10" Type="http://schemas.openxmlformats.org/officeDocument/2006/relationships/image" Target="../media/image26.png"/><Relationship Id="rId4" Type="http://schemas.openxmlformats.org/officeDocument/2006/relationships/notesSlide" Target="../notesSlides/notesSlide2.xml"/><Relationship Id="rId9" Type="http://schemas.openxmlformats.org/officeDocument/2006/relationships/image" Target="../media/image32.sv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1.m4a"/><Relationship Id="rId1" Type="http://schemas.openxmlformats.org/officeDocument/2006/relationships/audio" Target="NULL" TargetMode="External"/><Relationship Id="rId5" Type="http://schemas.openxmlformats.org/officeDocument/2006/relationships/image" Target="../media/image26.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6.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33.jpeg"/><Relationship Id="rId5" Type="http://schemas.openxmlformats.org/officeDocument/2006/relationships/image" Target="../media/image1.jpe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7.xml"/><Relationship Id="rId7" Type="http://schemas.openxmlformats.org/officeDocument/2006/relationships/image" Target="../media/image35.sv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4.png"/><Relationship Id="rId5" Type="http://schemas.openxmlformats.org/officeDocument/2006/relationships/image" Target="../media/image1.jpe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6.png"/><Relationship Id="rId2" Type="http://schemas.microsoft.com/office/2007/relationships/media" Target="../media/media4.m4a"/><Relationship Id="rId1" Type="http://schemas.openxmlformats.org/officeDocument/2006/relationships/audio" Target="NULL" TargetMode="External"/><Relationship Id="rId6" Type="http://schemas.microsoft.com/office/2007/relationships/hdphoto" Target="../media/hdphoto1.wdp"/><Relationship Id="rId5" Type="http://schemas.openxmlformats.org/officeDocument/2006/relationships/image" Target="../media/image36.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6.png"/><Relationship Id="rId2" Type="http://schemas.microsoft.com/office/2007/relationships/media" Target="../media/media4.m4a"/><Relationship Id="rId1" Type="http://schemas.openxmlformats.org/officeDocument/2006/relationships/audio" Target="NULL" TargetMode="External"/><Relationship Id="rId6" Type="http://schemas.openxmlformats.org/officeDocument/2006/relationships/image" Target="../media/image37.jpeg"/><Relationship Id="rId5" Type="http://schemas.openxmlformats.org/officeDocument/2006/relationships/image" Target="../media/image1.jpe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slideLayout" Target="../slideLayouts/slideLayout7.xml"/><Relationship Id="rId7" Type="http://schemas.openxmlformats.org/officeDocument/2006/relationships/image" Target="../media/image39.jpe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8.jpeg"/><Relationship Id="rId11" Type="http://schemas.openxmlformats.org/officeDocument/2006/relationships/image" Target="../media/image26.png"/><Relationship Id="rId5" Type="http://schemas.openxmlformats.org/officeDocument/2006/relationships/image" Target="../media/image1.jpeg"/><Relationship Id="rId10" Type="http://schemas.openxmlformats.org/officeDocument/2006/relationships/image" Target="../media/image42.jpeg"/><Relationship Id="rId4" Type="http://schemas.openxmlformats.org/officeDocument/2006/relationships/notesSlide" Target="../notesSlides/notesSlide7.xml"/><Relationship Id="rId9" Type="http://schemas.openxmlformats.org/officeDocument/2006/relationships/image" Target="../media/image41.jpe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7.xml"/><Relationship Id="rId7" Type="http://schemas.openxmlformats.org/officeDocument/2006/relationships/image" Target="../media/image30.sv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29.png"/><Relationship Id="rId5" Type="http://schemas.openxmlformats.org/officeDocument/2006/relationships/image" Target="../media/image1.jpeg"/><Relationship Id="rId10" Type="http://schemas.openxmlformats.org/officeDocument/2006/relationships/image" Target="../media/image44.png"/><Relationship Id="rId4" Type="http://schemas.openxmlformats.org/officeDocument/2006/relationships/notesSlide" Target="../notesSlides/notesSlide8.xml"/><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6.png"/><Relationship Id="rId5" Type="http://schemas.openxmlformats.org/officeDocument/2006/relationships/image" Target="../media/image24.jpe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7.xml"/><Relationship Id="rId7" Type="http://schemas.microsoft.com/office/2007/relationships/hdphoto" Target="../media/hdphoto2.wdp"/><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45.png"/><Relationship Id="rId5" Type="http://schemas.openxmlformats.org/officeDocument/2006/relationships/image" Target="../media/image1.jpeg"/><Relationship Id="rId4"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6.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46.jpeg"/><Relationship Id="rId5" Type="http://schemas.openxmlformats.org/officeDocument/2006/relationships/image" Target="../media/image1.jpe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6.png"/><Relationship Id="rId5" Type="http://schemas.openxmlformats.org/officeDocument/2006/relationships/image" Target="../media/image1.jpe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6.png"/><Relationship Id="rId5" Type="http://schemas.openxmlformats.org/officeDocument/2006/relationships/image" Target="../media/image47.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slideLayout" Target="../slideLayouts/slideLayout7.xml"/><Relationship Id="rId7" Type="http://schemas.openxmlformats.org/officeDocument/2006/relationships/diagramLayout" Target="../diagrams/layout1.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diagramData" Target="../diagrams/data1.xml"/><Relationship Id="rId11" Type="http://schemas.openxmlformats.org/officeDocument/2006/relationships/image" Target="../media/image26.png"/><Relationship Id="rId5" Type="http://schemas.openxmlformats.org/officeDocument/2006/relationships/image" Target="../media/image1.jpeg"/><Relationship Id="rId10" Type="http://schemas.microsoft.com/office/2007/relationships/diagramDrawing" Target="../diagrams/drawing1.xml"/><Relationship Id="rId4" Type="http://schemas.openxmlformats.org/officeDocument/2006/relationships/notesSlide" Target="../notesSlides/notesSlide14.xml"/><Relationship Id="rId9" Type="http://schemas.openxmlformats.org/officeDocument/2006/relationships/diagramColors" Target="../diagrams/colors1.xml"/></Relationships>
</file>

<file path=ppt/slides/_rels/slide1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slideLayout" Target="../slideLayouts/slideLayout7.xml"/><Relationship Id="rId7" Type="http://schemas.openxmlformats.org/officeDocument/2006/relationships/image" Target="../media/image30.sv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9.png"/><Relationship Id="rId5" Type="http://schemas.openxmlformats.org/officeDocument/2006/relationships/image" Target="../media/image1.jpeg"/><Relationship Id="rId10" Type="http://schemas.openxmlformats.org/officeDocument/2006/relationships/image" Target="../media/image26.png"/><Relationship Id="rId4" Type="http://schemas.openxmlformats.org/officeDocument/2006/relationships/notesSlide" Target="../notesSlides/notesSlide15.xml"/><Relationship Id="rId9" Type="http://schemas.openxmlformats.org/officeDocument/2006/relationships/image" Target="../media/image49.svg"/></Relationships>
</file>

<file path=ppt/slides/_rels/slide18.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slideLayout" Target="../slideLayouts/slideLayout7.xml"/><Relationship Id="rId7" Type="http://schemas.openxmlformats.org/officeDocument/2006/relationships/diagramLayout" Target="../diagrams/layout2.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diagramData" Target="../diagrams/data2.xml"/><Relationship Id="rId11" Type="http://schemas.openxmlformats.org/officeDocument/2006/relationships/image" Target="../media/image26.png"/><Relationship Id="rId5" Type="http://schemas.openxmlformats.org/officeDocument/2006/relationships/image" Target="../media/image1.jpeg"/><Relationship Id="rId10" Type="http://schemas.microsoft.com/office/2007/relationships/diagramDrawing" Target="../diagrams/drawing2.xml"/><Relationship Id="rId4" Type="http://schemas.openxmlformats.org/officeDocument/2006/relationships/notesSlide" Target="../notesSlides/notesSlide16.xml"/><Relationship Id="rId9" Type="http://schemas.openxmlformats.org/officeDocument/2006/relationships/diagramColors" Target="../diagrams/colors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6.png"/><Relationship Id="rId5" Type="http://schemas.openxmlformats.org/officeDocument/2006/relationships/image" Target="../media/image1.jpe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6.png"/><Relationship Id="rId2" Type="http://schemas.microsoft.com/office/2007/relationships/media" Target="../media/media16.mp3"/><Relationship Id="rId1" Type="http://schemas.openxmlformats.org/officeDocument/2006/relationships/audio" Target="NULL" TargetMode="Externa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slideLayout" Target="../slideLayouts/slideLayout7.xml"/><Relationship Id="rId7" Type="http://schemas.openxmlformats.org/officeDocument/2006/relationships/image" Target="../media/image53.png"/><Relationship Id="rId2" Type="http://schemas.microsoft.com/office/2007/relationships/media" Target="../media/media16.mp3"/><Relationship Id="rId1" Type="http://schemas.openxmlformats.org/officeDocument/2006/relationships/audio" Target="NULL" TargetMode="External"/><Relationship Id="rId6" Type="http://schemas.openxmlformats.org/officeDocument/2006/relationships/image" Target="../media/image52.jpeg"/><Relationship Id="rId5" Type="http://schemas.openxmlformats.org/officeDocument/2006/relationships/image" Target="../media/image1.jpeg"/><Relationship Id="rId10" Type="http://schemas.openxmlformats.org/officeDocument/2006/relationships/image" Target="../media/image26.png"/><Relationship Id="rId4" Type="http://schemas.openxmlformats.org/officeDocument/2006/relationships/notesSlide" Target="../notesSlides/notesSlide19.xml"/><Relationship Id="rId9"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26.png"/><Relationship Id="rId5" Type="http://schemas.openxmlformats.org/officeDocument/2006/relationships/image" Target="../media/image56.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8.m4a"/><Relationship Id="rId1" Type="http://schemas.microsoft.com/office/2007/relationships/media" Target="../media/media18.m4a"/><Relationship Id="rId5" Type="http://schemas.openxmlformats.org/officeDocument/2006/relationships/image" Target="../media/image26.png"/><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8" Type="http://schemas.openxmlformats.org/officeDocument/2006/relationships/hyperlink" Target="https://www.atlassian.com/agile/metrics" TargetMode="External"/><Relationship Id="rId13" Type="http://schemas.openxmlformats.org/officeDocument/2006/relationships/hyperlink" Target="https://www.rieti.go.jp/jp/publications/dp/24e027.pdf" TargetMode="External"/><Relationship Id="rId3" Type="http://schemas.openxmlformats.org/officeDocument/2006/relationships/image" Target="../media/image1.jpeg"/><Relationship Id="rId7" Type="http://schemas.openxmlformats.org/officeDocument/2006/relationships/hyperlink" Target="https://www.atlassian.com/agile/project-management/metrics?utm_source=chatgpt.com" TargetMode="External"/><Relationship Id="rId12" Type="http://schemas.openxmlformats.org/officeDocument/2006/relationships/hyperlink" Target="https://www.planview.com/resources/articles/safe-agile-metrics-measure-your-safe-success/?utm_source=chatgpt.com"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https://agilemania.com/safe%C2%AE-metrics-for-agile-transformation?utm_source=chatgpt.com" TargetMode="External"/><Relationship Id="rId11" Type="http://schemas.openxmlformats.org/officeDocument/2006/relationships/hyperlink" Target="https://infomineo.com/blog/five-stakeholder-mapping-models-every-professional-should-know/" TargetMode="External"/><Relationship Id="rId5" Type="http://schemas.openxmlformats.org/officeDocument/2006/relationships/hyperlink" Target="https://agile-hive.com/blog/understanding-flow-metrics-in-safe/?utm_source=chatgpt.com" TargetMode="External"/><Relationship Id="rId10" Type="http://schemas.openxmlformats.org/officeDocument/2006/relationships/hyperlink" Target="https://gocious.com/blog/three-agile-metrics-to-track-and-measure-outcomes-flow-competency?utm_source=chatgpt.com" TargetMode="External"/><Relationship Id="rId4" Type="http://schemas.openxmlformats.org/officeDocument/2006/relationships/hyperlink" Target="https://agile-hive.com/agile-metrics-flow-velocity" TargetMode="External"/><Relationship Id="rId9" Type="http://schemas.openxmlformats.org/officeDocument/2006/relationships/hyperlink" Target="https://www.gartner.com/en/documents/5810115"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scrumguides.org/scrum-guide.html" TargetMode="External"/><Relationship Id="rId13" Type="http://schemas.openxmlformats.org/officeDocument/2006/relationships/hyperlink" Target="https://www.plm.automation.siemens.com/media/global/en/Siemens_MindSphere_Whitepaper_tcm27-8639.pdf?utm_source=chatgpt.com" TargetMode="External"/><Relationship Id="rId3" Type="http://schemas.openxmlformats.org/officeDocument/2006/relationships/image" Target="../media/image1.jpeg"/><Relationship Id="rId7" Type="http://schemas.openxmlformats.org/officeDocument/2006/relationships/hyperlink" Target="https://www.scrum.org/resources/scrum-guide" TargetMode="External"/><Relationship Id="rId12" Type="http://schemas.openxmlformats.org/officeDocument/2006/relationships/hyperlink" Target="https://blogs.sw.siemens.com/tecnomatix/transforming-manufacturing-simulation-with-ai-bsh-journey%20/" TargetMode="External"/><Relationship Id="rId2" Type="http://schemas.openxmlformats.org/officeDocument/2006/relationships/notesSlide" Target="../notesSlides/notesSlide23.xml"/><Relationship Id="rId16" Type="http://schemas.openxmlformats.org/officeDocument/2006/relationships/hyperlink" Target="https://www.workingwell.com/projekte/siemens-disw-en/" TargetMode="External"/><Relationship Id="rId1" Type="http://schemas.openxmlformats.org/officeDocument/2006/relationships/slideLayout" Target="../slideLayouts/slideLayout7.xml"/><Relationship Id="rId6" Type="http://schemas.openxmlformats.org/officeDocument/2006/relationships/hyperlink" Target="https://framework.scaledagile.com/" TargetMode="External"/><Relationship Id="rId11" Type="http://schemas.openxmlformats.org/officeDocument/2006/relationships/hyperlink" Target="https://www.siemens.com/global/en/company/insights/digital-transformations-in-industrial-companies.html" TargetMode="External"/><Relationship Id="rId5" Type="http://schemas.openxmlformats.org/officeDocument/2006/relationships/hyperlink" Target="https://scaledagile.com/safe-business-agility-assessment" TargetMode="External"/><Relationship Id="rId15" Type="http://schemas.openxmlformats.org/officeDocument/2006/relationships/hyperlink" Target="https://www.valueglide.com/how-does-safe-handle-stakeholder-communication-and-collaboration/" TargetMode="External"/><Relationship Id="rId10" Type="http://schemas.openxmlformats.org/officeDocument/2006/relationships/hyperlink" Target="https://assets.new.siemens.com/siemens/assets/api/uuid:ce355caf49fa3fb7e05369b9653a71881a12df17/stakeholder-engagement-siemens.pdf" TargetMode="External"/><Relationship Id="rId4" Type="http://schemas.openxmlformats.org/officeDocument/2006/relationships/hyperlink" Target="https://hbr.org/2016/05/embracing-agile" TargetMode="External"/><Relationship Id="rId9" Type="http://schemas.openxmlformats.org/officeDocument/2006/relationships/hyperlink" Target="https://www.siemens-advanta.com/default/whitepapers/successful-digital-transformation?utm_source=chatgpt.com" TargetMode="External"/><Relationship Id="rId14" Type="http://schemas.openxmlformats.org/officeDocument/2006/relationships/hyperlink" Target="https://assets.new.siemens.com/siemens/assets/api/uuid:344347ec-a1bd-44cb-aaaa-711d1b3ec1b8/Siemens-Annual-Report-2024.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6951" y="0"/>
            <a:ext cx="18374951" cy="10521011"/>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5555" b="-5555"/>
            </a:stretch>
          </a:blipFill>
        </p:spPr>
        <p:txBody>
          <a:bodyPr/>
          <a:lstStyle/>
          <a:p>
            <a:pPr lvl="0" algn="ctr"/>
            <a:endParaRPr lang="en-US" sz="2400" dirty="0">
              <a:solidFill>
                <a:srgbClr val="0B4E7C"/>
              </a:solidFill>
              <a:latin typeface="AkayaTelivigala" pitchFamily="2" charset="77"/>
              <a:ea typeface="Rustic Printed"/>
              <a:cs typeface="AkayaTelivigala" pitchFamily="2" charset="77"/>
              <a:sym typeface="Rustic Printed"/>
            </a:endParaRPr>
          </a:p>
        </p:txBody>
      </p:sp>
      <p:sp>
        <p:nvSpPr>
          <p:cNvPr id="3" name="Freeform 3"/>
          <p:cNvSpPr/>
          <p:nvPr/>
        </p:nvSpPr>
        <p:spPr>
          <a:xfrm>
            <a:off x="-341827" y="-182244"/>
            <a:ext cx="2875332" cy="3635478"/>
          </a:xfrm>
          <a:custGeom>
            <a:avLst/>
            <a:gdLst/>
            <a:ahLst/>
            <a:cxnLst/>
            <a:rect l="l" t="t" r="r" b="b"/>
            <a:pathLst>
              <a:path w="2875332" h="3635478">
                <a:moveTo>
                  <a:pt x="0" y="0"/>
                </a:moveTo>
                <a:lnTo>
                  <a:pt x="2875333" y="0"/>
                </a:lnTo>
                <a:lnTo>
                  <a:pt x="2875333" y="3635478"/>
                </a:lnTo>
                <a:lnTo>
                  <a:pt x="0" y="363547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4" name="Freeform 4"/>
          <p:cNvSpPr/>
          <p:nvPr/>
        </p:nvSpPr>
        <p:spPr>
          <a:xfrm>
            <a:off x="-1044802" y="9301406"/>
            <a:ext cx="6686537" cy="1870436"/>
          </a:xfrm>
          <a:custGeom>
            <a:avLst/>
            <a:gdLst/>
            <a:ahLst/>
            <a:cxnLst/>
            <a:rect l="l" t="t" r="r" b="b"/>
            <a:pathLst>
              <a:path w="5315394" h="1913542">
                <a:moveTo>
                  <a:pt x="0" y="0"/>
                </a:moveTo>
                <a:lnTo>
                  <a:pt x="5315394" y="0"/>
                </a:lnTo>
                <a:lnTo>
                  <a:pt x="5315394" y="1913542"/>
                </a:lnTo>
                <a:lnTo>
                  <a:pt x="0" y="1913542"/>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5" name="Freeform 5"/>
          <p:cNvSpPr/>
          <p:nvPr/>
        </p:nvSpPr>
        <p:spPr>
          <a:xfrm rot="2830164">
            <a:off x="5890394" y="8079669"/>
            <a:ext cx="3901250" cy="4939581"/>
          </a:xfrm>
          <a:custGeom>
            <a:avLst/>
            <a:gdLst/>
            <a:ahLst/>
            <a:cxnLst/>
            <a:rect l="l" t="t" r="r" b="b"/>
            <a:pathLst>
              <a:path w="3550978" h="3705954">
                <a:moveTo>
                  <a:pt x="0" y="0"/>
                </a:moveTo>
                <a:lnTo>
                  <a:pt x="3550978" y="0"/>
                </a:lnTo>
                <a:lnTo>
                  <a:pt x="3550978" y="3705955"/>
                </a:lnTo>
                <a:lnTo>
                  <a:pt x="0" y="37059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 name="Freeform 6"/>
          <p:cNvSpPr/>
          <p:nvPr/>
        </p:nvSpPr>
        <p:spPr>
          <a:xfrm rot="-950933">
            <a:off x="-1865514" y="3372852"/>
            <a:ext cx="4236628" cy="7076428"/>
          </a:xfrm>
          <a:custGeom>
            <a:avLst/>
            <a:gdLst/>
            <a:ahLst/>
            <a:cxnLst/>
            <a:rect l="l" t="t" r="r" b="b"/>
            <a:pathLst>
              <a:path w="4236628" h="4828066">
                <a:moveTo>
                  <a:pt x="0" y="0"/>
                </a:moveTo>
                <a:lnTo>
                  <a:pt x="4236628" y="0"/>
                </a:lnTo>
                <a:lnTo>
                  <a:pt x="4236628" y="4828066"/>
                </a:lnTo>
                <a:lnTo>
                  <a:pt x="0" y="482806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sp>
        <p:nvSpPr>
          <p:cNvPr id="7" name="Freeform 7"/>
          <p:cNvSpPr/>
          <p:nvPr/>
        </p:nvSpPr>
        <p:spPr>
          <a:xfrm rot="19045697">
            <a:off x="12939080" y="-2274397"/>
            <a:ext cx="5228946" cy="4716841"/>
          </a:xfrm>
          <a:custGeom>
            <a:avLst/>
            <a:gdLst/>
            <a:ahLst/>
            <a:cxnLst/>
            <a:rect l="l" t="t" r="r" b="b"/>
            <a:pathLst>
              <a:path w="4623736" h="3907057">
                <a:moveTo>
                  <a:pt x="0" y="0"/>
                </a:moveTo>
                <a:lnTo>
                  <a:pt x="4623735" y="0"/>
                </a:lnTo>
                <a:lnTo>
                  <a:pt x="4623735" y="3907057"/>
                </a:lnTo>
                <a:lnTo>
                  <a:pt x="0" y="3907057"/>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sp>
        <p:nvSpPr>
          <p:cNvPr id="8" name="Freeform 8"/>
          <p:cNvSpPr/>
          <p:nvPr/>
        </p:nvSpPr>
        <p:spPr>
          <a:xfrm rot="-366315">
            <a:off x="15618174" y="135467"/>
            <a:ext cx="3659690" cy="6907273"/>
          </a:xfrm>
          <a:custGeom>
            <a:avLst/>
            <a:gdLst/>
            <a:ahLst/>
            <a:cxnLst/>
            <a:rect l="l" t="t" r="r" b="b"/>
            <a:pathLst>
              <a:path w="3659690" h="4299195">
                <a:moveTo>
                  <a:pt x="0" y="0"/>
                </a:moveTo>
                <a:lnTo>
                  <a:pt x="3659690" y="0"/>
                </a:lnTo>
                <a:lnTo>
                  <a:pt x="3659690" y="4299195"/>
                </a:lnTo>
                <a:lnTo>
                  <a:pt x="0" y="429919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9" name="Freeform 9"/>
          <p:cNvSpPr/>
          <p:nvPr/>
        </p:nvSpPr>
        <p:spPr>
          <a:xfrm>
            <a:off x="4830107" y="-1177620"/>
            <a:ext cx="2984971" cy="1614859"/>
          </a:xfrm>
          <a:custGeom>
            <a:avLst/>
            <a:gdLst/>
            <a:ahLst/>
            <a:cxnLst/>
            <a:rect l="l" t="t" r="r" b="b"/>
            <a:pathLst>
              <a:path w="4567505" h="4720935">
                <a:moveTo>
                  <a:pt x="0" y="0"/>
                </a:moveTo>
                <a:lnTo>
                  <a:pt x="4567505" y="0"/>
                </a:lnTo>
                <a:lnTo>
                  <a:pt x="4567505" y="4720935"/>
                </a:lnTo>
                <a:lnTo>
                  <a:pt x="0" y="4720935"/>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10" name="Freeform 10"/>
          <p:cNvSpPr/>
          <p:nvPr/>
        </p:nvSpPr>
        <p:spPr>
          <a:xfrm>
            <a:off x="9956183" y="8297227"/>
            <a:ext cx="5331561" cy="3445521"/>
          </a:xfrm>
          <a:custGeom>
            <a:avLst/>
            <a:gdLst/>
            <a:ahLst/>
            <a:cxnLst/>
            <a:rect l="l" t="t" r="r" b="b"/>
            <a:pathLst>
              <a:path w="5331561" h="3445521">
                <a:moveTo>
                  <a:pt x="0" y="0"/>
                </a:moveTo>
                <a:lnTo>
                  <a:pt x="5331562" y="0"/>
                </a:lnTo>
                <a:lnTo>
                  <a:pt x="5331562" y="3445521"/>
                </a:lnTo>
                <a:lnTo>
                  <a:pt x="0" y="3445521"/>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US"/>
          </a:p>
        </p:txBody>
      </p:sp>
      <p:sp>
        <p:nvSpPr>
          <p:cNvPr id="11" name="Freeform 11"/>
          <p:cNvSpPr/>
          <p:nvPr/>
        </p:nvSpPr>
        <p:spPr>
          <a:xfrm>
            <a:off x="14548670" y="6540479"/>
            <a:ext cx="3869837" cy="4265352"/>
          </a:xfrm>
          <a:custGeom>
            <a:avLst/>
            <a:gdLst/>
            <a:ahLst/>
            <a:cxnLst/>
            <a:rect l="l" t="t" r="r" b="b"/>
            <a:pathLst>
              <a:path w="3869837" h="4265352">
                <a:moveTo>
                  <a:pt x="0" y="0"/>
                </a:moveTo>
                <a:lnTo>
                  <a:pt x="3869837" y="0"/>
                </a:lnTo>
                <a:lnTo>
                  <a:pt x="3869837" y="4265352"/>
                </a:lnTo>
                <a:lnTo>
                  <a:pt x="0" y="4265352"/>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sp>
        <p:nvSpPr>
          <p:cNvPr id="12" name="Freeform 12"/>
          <p:cNvSpPr/>
          <p:nvPr/>
        </p:nvSpPr>
        <p:spPr>
          <a:xfrm rot="-10800000">
            <a:off x="6972639" y="-1115842"/>
            <a:ext cx="6660247" cy="2730701"/>
          </a:xfrm>
          <a:custGeom>
            <a:avLst/>
            <a:gdLst/>
            <a:ahLst/>
            <a:cxnLst/>
            <a:rect l="l" t="t" r="r" b="b"/>
            <a:pathLst>
              <a:path w="6660247" h="2730701">
                <a:moveTo>
                  <a:pt x="0" y="0"/>
                </a:moveTo>
                <a:lnTo>
                  <a:pt x="6660247" y="0"/>
                </a:lnTo>
                <a:lnTo>
                  <a:pt x="6660247" y="2730702"/>
                </a:lnTo>
                <a:lnTo>
                  <a:pt x="0" y="2730702"/>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txBody>
          <a:bodyPr/>
          <a:lstStyle/>
          <a:p>
            <a:endParaRPr lang="en-US"/>
          </a:p>
        </p:txBody>
      </p:sp>
      <p:sp>
        <p:nvSpPr>
          <p:cNvPr id="13" name="Freeform 13"/>
          <p:cNvSpPr/>
          <p:nvPr/>
        </p:nvSpPr>
        <p:spPr>
          <a:xfrm rot="-2611628">
            <a:off x="2385459" y="-1429790"/>
            <a:ext cx="3354378" cy="1977593"/>
          </a:xfrm>
          <a:custGeom>
            <a:avLst/>
            <a:gdLst/>
            <a:ahLst/>
            <a:cxnLst/>
            <a:rect l="l" t="t" r="r" b="b"/>
            <a:pathLst>
              <a:path w="4007991" h="3041063">
                <a:moveTo>
                  <a:pt x="0" y="0"/>
                </a:moveTo>
                <a:lnTo>
                  <a:pt x="4007991" y="0"/>
                </a:lnTo>
                <a:lnTo>
                  <a:pt x="4007991" y="3041063"/>
                </a:lnTo>
                <a:lnTo>
                  <a:pt x="0" y="3041063"/>
                </a:lnTo>
                <a:lnTo>
                  <a:pt x="0" y="0"/>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txBody>
          <a:bodyPr/>
          <a:lstStyle/>
          <a:p>
            <a:endParaRPr lang="en-US"/>
          </a:p>
        </p:txBody>
      </p:sp>
      <p:sp>
        <p:nvSpPr>
          <p:cNvPr id="14" name="TextBox 14"/>
          <p:cNvSpPr txBox="1"/>
          <p:nvPr/>
        </p:nvSpPr>
        <p:spPr>
          <a:xfrm>
            <a:off x="1610031" y="4363041"/>
            <a:ext cx="15298056" cy="1231106"/>
          </a:xfrm>
          <a:prstGeom prst="rect">
            <a:avLst/>
          </a:prstGeom>
        </p:spPr>
        <p:txBody>
          <a:bodyPr wrap="square" lIns="0" tIns="0" rIns="0" bIns="0" rtlCol="0" anchor="t">
            <a:spAutoFit/>
          </a:bodyPr>
          <a:lstStyle/>
          <a:p>
            <a:pPr algn="ctr"/>
            <a:r>
              <a:rPr lang="en-US" sz="4000" b="1" dirty="0">
                <a:solidFill>
                  <a:srgbClr val="0B4E7C"/>
                </a:solidFill>
                <a:latin typeface="+mj-lt"/>
              </a:rPr>
              <a:t>Module: PRM7010 Agile Methodologies in the Digital Business Environment</a:t>
            </a:r>
            <a:endParaRPr lang="en-US" sz="2400" b="1" dirty="0">
              <a:solidFill>
                <a:srgbClr val="0B4E7C"/>
              </a:solidFill>
              <a:latin typeface="+mj-lt"/>
              <a:ea typeface="Rustic Printed"/>
              <a:cs typeface="AkayaTelivigala" pitchFamily="2" charset="77"/>
              <a:sym typeface="Rustic Printed"/>
            </a:endParaRPr>
          </a:p>
        </p:txBody>
      </p:sp>
      <p:sp>
        <p:nvSpPr>
          <p:cNvPr id="21" name="TextBox 20">
            <a:extLst>
              <a:ext uri="{FF2B5EF4-FFF2-40B4-BE49-F238E27FC236}">
                <a16:creationId xmlns:a16="http://schemas.microsoft.com/office/drawing/2014/main" id="{C0A893DC-6BB0-AED3-6A7E-6EFFA191645D}"/>
              </a:ext>
            </a:extLst>
          </p:cNvPr>
          <p:cNvSpPr txBox="1"/>
          <p:nvPr/>
        </p:nvSpPr>
        <p:spPr>
          <a:xfrm>
            <a:off x="4234563" y="1957524"/>
            <a:ext cx="11053181" cy="2123658"/>
          </a:xfrm>
          <a:prstGeom prst="rect">
            <a:avLst/>
          </a:prstGeom>
          <a:solidFill>
            <a:schemeClr val="bg1">
              <a:lumMod val="95000"/>
            </a:schemeClr>
          </a:solidFill>
        </p:spPr>
        <p:txBody>
          <a:bodyPr wrap="square">
            <a:spAutoFit/>
          </a:bodyPr>
          <a:lstStyle/>
          <a:p>
            <a:pPr algn="ctr"/>
            <a:r>
              <a:rPr lang="en-US" sz="6600" b="1" dirty="0">
                <a:solidFill>
                  <a:srgbClr val="5CBCAE"/>
                </a:solidFill>
                <a:latin typeface="+mj-lt"/>
                <a:cs typeface="AkayaTelivigala" pitchFamily="2" charset="77"/>
              </a:rPr>
              <a:t>“Siemens</a:t>
            </a:r>
            <a:r>
              <a:rPr lang="en-US" sz="6600" b="1" dirty="0">
                <a:latin typeface="+mj-lt"/>
                <a:cs typeface="AkayaTelivigala" pitchFamily="2" charset="77"/>
              </a:rPr>
              <a:t> Digital Software for AI Home Appliances”</a:t>
            </a:r>
            <a:endParaRPr lang="en-US" sz="6600" b="1" dirty="0">
              <a:latin typeface="+mj-lt"/>
            </a:endParaRPr>
          </a:p>
        </p:txBody>
      </p:sp>
      <p:pic>
        <p:nvPicPr>
          <p:cNvPr id="23" name="Picture 22">
            <a:extLst>
              <a:ext uri="{FF2B5EF4-FFF2-40B4-BE49-F238E27FC236}">
                <a16:creationId xmlns:a16="http://schemas.microsoft.com/office/drawing/2014/main" id="{280B3692-C85D-DEEA-7C24-7BB22D682C57}"/>
              </a:ext>
            </a:extLst>
          </p:cNvPr>
          <p:cNvPicPr>
            <a:picLocks noChangeAspect="1"/>
          </p:cNvPicPr>
          <p:nvPr/>
        </p:nvPicPr>
        <p:blipFill>
          <a:blip r:embed="rId27"/>
          <a:stretch>
            <a:fillRect/>
          </a:stretch>
        </p:blipFill>
        <p:spPr>
          <a:xfrm>
            <a:off x="1324051" y="18330"/>
            <a:ext cx="2910512" cy="291051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7" name="TextBox 14">
            <a:extLst>
              <a:ext uri="{FF2B5EF4-FFF2-40B4-BE49-F238E27FC236}">
                <a16:creationId xmlns:a16="http://schemas.microsoft.com/office/drawing/2014/main" id="{6964B3C1-2C58-3B21-7501-48420F7BDE58}"/>
              </a:ext>
            </a:extLst>
          </p:cNvPr>
          <p:cNvSpPr txBox="1"/>
          <p:nvPr/>
        </p:nvSpPr>
        <p:spPr>
          <a:xfrm>
            <a:off x="2596303" y="5165969"/>
            <a:ext cx="4102367" cy="4308872"/>
          </a:xfrm>
          <a:prstGeom prst="rect">
            <a:avLst/>
          </a:prstGeom>
          <a:noFill/>
        </p:spPr>
        <p:txBody>
          <a:bodyPr wrap="square" lIns="0" tIns="0" rIns="0" bIns="0" rtlCol="0" anchor="t">
            <a:spAutoFit/>
          </a:bodyPr>
          <a:lstStyle>
            <a:defPPr>
              <a:defRPr lang="en-US"/>
            </a:defPPr>
            <a:lvl1pPr algn="ctr">
              <a:defRPr sz="4000">
                <a:solidFill>
                  <a:srgbClr val="0B4E7C"/>
                </a:solidFill>
                <a:latin typeface="Rustic Printed"/>
              </a:defRPr>
            </a:lvl1pPr>
          </a:lstStyle>
          <a:p>
            <a:r>
              <a:rPr lang="en-US" b="1" dirty="0">
                <a:solidFill>
                  <a:schemeClr val="tx1"/>
                </a:solidFill>
                <a:latin typeface="+mj-lt"/>
                <a:sym typeface="Rustic Printed"/>
              </a:rPr>
              <a:t>Group Assignment:</a:t>
            </a:r>
          </a:p>
          <a:p>
            <a:pPr marL="457200" indent="-457200" algn="l">
              <a:buFont typeface="Arial" panose="020B0604020202020204" pitchFamily="34" charset="0"/>
              <a:buChar char="•"/>
            </a:pPr>
            <a:r>
              <a:rPr lang="en-US" b="1" dirty="0">
                <a:latin typeface="+mj-lt"/>
                <a:sym typeface="Rustic Printed"/>
              </a:rPr>
              <a:t>24215373</a:t>
            </a:r>
          </a:p>
          <a:p>
            <a:pPr marL="457200" indent="-457200" algn="l">
              <a:buFont typeface="Arial" panose="020B0604020202020204" pitchFamily="34" charset="0"/>
              <a:buChar char="•"/>
            </a:pPr>
            <a:r>
              <a:rPr lang="en-US" b="1" dirty="0">
                <a:latin typeface="+mj-lt"/>
                <a:sym typeface="Rustic Printed"/>
              </a:rPr>
              <a:t>STU1066043</a:t>
            </a:r>
          </a:p>
          <a:p>
            <a:pPr marL="457200" indent="-457200" algn="l">
              <a:buFont typeface="Arial" panose="020B0604020202020204" pitchFamily="34" charset="0"/>
              <a:buChar char="•"/>
            </a:pPr>
            <a:r>
              <a:rPr lang="en-US" b="1" dirty="0">
                <a:latin typeface="+mj-lt"/>
                <a:sym typeface="Rustic Printed"/>
              </a:rPr>
              <a:t>STU1210642</a:t>
            </a:r>
          </a:p>
          <a:p>
            <a:pPr marL="457200" indent="-457200" algn="l">
              <a:buFont typeface="Arial" panose="020B0604020202020204" pitchFamily="34" charset="0"/>
              <a:buChar char="•"/>
            </a:pPr>
            <a:r>
              <a:rPr lang="en-US" b="1" dirty="0">
                <a:latin typeface="+mj-lt"/>
                <a:sym typeface="Rustic Printed"/>
              </a:rPr>
              <a:t>24173427</a:t>
            </a:r>
          </a:p>
          <a:p>
            <a:pPr marL="457200" indent="-457200" algn="l">
              <a:buFont typeface="Arial" panose="020B0604020202020204" pitchFamily="34" charset="0"/>
              <a:buChar char="•"/>
            </a:pPr>
            <a:r>
              <a:rPr lang="en-US" b="1" dirty="0">
                <a:latin typeface="+mj-lt"/>
                <a:sym typeface="Rustic Printed"/>
              </a:rPr>
              <a:t>24169993</a:t>
            </a:r>
          </a:p>
          <a:p>
            <a:endParaRPr lang="en-US" b="1" dirty="0">
              <a:latin typeface="+mj-lt"/>
              <a:sym typeface="Rustic Printed"/>
            </a:endParaRPr>
          </a:p>
        </p:txBody>
      </p:sp>
      <p:pic>
        <p:nvPicPr>
          <p:cNvPr id="20" name="Picture 19"/>
          <p:cNvPicPr>
            <a:picLocks noChangeAspect="1"/>
          </p:cNvPicPr>
          <p:nvPr/>
        </p:nvPicPr>
        <p:blipFill>
          <a:blip r:embed="rId28"/>
          <a:stretch>
            <a:fillRect/>
          </a:stretch>
        </p:blipFill>
        <p:spPr>
          <a:xfrm>
            <a:off x="14185565" y="5512975"/>
            <a:ext cx="2204357" cy="2605149"/>
          </a:xfrm>
          <a:prstGeom prst="rect">
            <a:avLst/>
          </a:prstGeom>
          <a:effectLst>
            <a:outerShdw blurRad="76200" dist="12700" dir="8100000" sy="-23000" kx="800400" algn="br" rotWithShape="0">
              <a:prstClr val="black">
                <a:alpha val="20000"/>
              </a:prstClr>
            </a:outerShdw>
          </a:effectLst>
        </p:spPr>
      </p:pic>
      <p:sp>
        <p:nvSpPr>
          <p:cNvPr id="25" name="TextBox 24"/>
          <p:cNvSpPr txBox="1"/>
          <p:nvPr/>
        </p:nvSpPr>
        <p:spPr>
          <a:xfrm>
            <a:off x="6472579" y="7000531"/>
            <a:ext cx="7763315" cy="707886"/>
          </a:xfrm>
          <a:prstGeom prst="rect">
            <a:avLst/>
          </a:prstGeom>
          <a:noFill/>
        </p:spPr>
        <p:txBody>
          <a:bodyPr wrap="square" rtlCol="0">
            <a:spAutoFit/>
          </a:bodyPr>
          <a:lstStyle/>
          <a:p>
            <a:pPr lvl="0" algn="ctr"/>
            <a:r>
              <a:rPr lang="en-US" sz="4000" b="1" dirty="0">
                <a:latin typeface="+mj-lt"/>
              </a:rPr>
              <a:t>Module Instructor: </a:t>
            </a:r>
            <a:r>
              <a:rPr lang="en-US" sz="4000" b="1" dirty="0" err="1">
                <a:latin typeface="+mj-lt"/>
              </a:rPr>
              <a:t>Mahtab</a:t>
            </a:r>
            <a:r>
              <a:rPr lang="en-US" sz="4000" b="1" dirty="0">
                <a:latin typeface="+mj-lt"/>
              </a:rPr>
              <a:t> </a:t>
            </a:r>
            <a:r>
              <a:rPr lang="en-US" sz="4000" b="1" dirty="0" err="1">
                <a:latin typeface="+mj-lt"/>
              </a:rPr>
              <a:t>Afsari</a:t>
            </a:r>
            <a:r>
              <a:rPr lang="en-US" sz="4000" b="1" dirty="0">
                <a:latin typeface="+mj-lt"/>
              </a:rPr>
              <a:t> </a:t>
            </a:r>
            <a:endParaRPr lang="en-US" sz="2400" b="1" dirty="0">
              <a:latin typeface="+mj-lt"/>
              <a:ea typeface="Rustic Printed"/>
              <a:cs typeface="AkayaTelivigala" pitchFamily="2" charset="77"/>
              <a:sym typeface="Rustic Printed"/>
            </a:endParaRPr>
          </a:p>
        </p:txBody>
      </p:sp>
      <p:pic>
        <p:nvPicPr>
          <p:cNvPr id="15" name="Introduction_Olusola">
            <a:hlinkClick r:id="" action="ppaction://media"/>
          </p:cNvPr>
          <p:cNvPicPr>
            <a:picLocks noChangeAspect="1"/>
          </p:cNvPicPr>
          <p:nvPr>
            <a:audioFile r:link="rId1"/>
            <p:extLst>
              <p:ext uri="{DAA4B4D4-6D71-4841-9C94-3DE7FCFB9230}">
                <p14:media xmlns:p14="http://schemas.microsoft.com/office/powerpoint/2010/main" r:embed="rId2">
                  <p14:trim end="300057.6666"/>
                </p14:media>
              </p:ext>
            </p:extLst>
          </p:nvPr>
        </p:nvPicPr>
        <p:blipFill>
          <a:blip r:embed="rId29"/>
          <a:stretch>
            <a:fillRect/>
          </a:stretch>
        </p:blipFill>
        <p:spPr>
          <a:xfrm>
            <a:off x="14953829" y="9091218"/>
            <a:ext cx="1177581" cy="1177581"/>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8193" fill="hold"/>
                                        <p:tgtEl>
                                          <p:spTgt spid="15"/>
                                        </p:tgtEl>
                                      </p:cBhvr>
                                    </p:cmd>
                                  </p:childTnLst>
                                </p:cTn>
                              </p:par>
                            </p:childTnLst>
                          </p:cTn>
                        </p:par>
                      </p:childTnLst>
                    </p:cTn>
                  </p:par>
                </p:childTnLst>
              </p:cTn>
              <p:nextCondLst>
                <p:cond evt="onClick" delay="0">
                  <p:tgtEl>
                    <p:spTgt spid="15"/>
                  </p:tgtEl>
                </p:cond>
              </p:nextCondLst>
            </p:seq>
            <p:audio>
              <p:cMediaNode vol="80000">
                <p:cTn id="7" fill="hold" display="0">
                  <p:stCondLst>
                    <p:cond delay="indefinite"/>
                  </p:stCondLst>
                  <p:endCondLst>
                    <p:cond evt="onStopAudio" delay="0">
                      <p:tgtEl>
                        <p:sldTgt/>
                      </p:tgtEl>
                    </p:cond>
                  </p:endCondLst>
                </p:cTn>
                <p:tgtEl>
                  <p:spTgt spid="1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053" y="1002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sp>
        <p:nvSpPr>
          <p:cNvPr id="3" name="TextBox 3"/>
          <p:cNvSpPr txBox="1"/>
          <p:nvPr/>
        </p:nvSpPr>
        <p:spPr>
          <a:xfrm>
            <a:off x="212876" y="521183"/>
            <a:ext cx="17822141" cy="1231106"/>
          </a:xfrm>
          <a:prstGeom prst="rect">
            <a:avLst/>
          </a:prstGeom>
        </p:spPr>
        <p:txBody>
          <a:bodyPr wrap="square" lIns="0" tIns="0" rIns="0" bIns="0" rtlCol="0" anchor="t">
            <a:spAutoFit/>
          </a:bodyPr>
          <a:lstStyle/>
          <a:p>
            <a:pPr marL="0" lvl="0" indent="0" algn="ctr">
              <a:lnSpc>
                <a:spcPts val="9600"/>
              </a:lnSpc>
            </a:pPr>
            <a:r>
              <a:rPr lang="en-US" sz="5400" b="1" spc="-150" dirty="0">
                <a:solidFill>
                  <a:srgbClr val="0B4E7C"/>
                </a:solidFill>
                <a:latin typeface="+mj-lt"/>
                <a:ea typeface="Rustic Printed"/>
                <a:cs typeface="Rustic Printed"/>
                <a:sym typeface="Rustic Printed"/>
              </a:rPr>
              <a:t>INTRODUCTION: SIEMENS DIGITAL INDUSTRIES SOFTWARE</a:t>
            </a:r>
          </a:p>
        </p:txBody>
      </p:sp>
      <p:sp>
        <p:nvSpPr>
          <p:cNvPr id="4" name="TextBox 4"/>
          <p:cNvSpPr txBox="1"/>
          <p:nvPr/>
        </p:nvSpPr>
        <p:spPr>
          <a:xfrm>
            <a:off x="998730" y="1805191"/>
            <a:ext cx="13682469" cy="8481809"/>
          </a:xfrm>
          <a:prstGeom prst="rect">
            <a:avLst/>
          </a:prstGeom>
        </p:spPr>
        <p:txBody>
          <a:bodyPr wrap="square" lIns="0" tIns="0" rIns="0" bIns="0" rtlCol="0" anchor="t">
            <a:spAutoFit/>
          </a:bodyPr>
          <a:lstStyle/>
          <a:p>
            <a:r>
              <a:rPr lang="en-US" sz="2800" dirty="0"/>
              <a:t> </a:t>
            </a:r>
            <a:r>
              <a:rPr lang="en-US" sz="2800" b="1" spc="102" dirty="0">
                <a:solidFill>
                  <a:srgbClr val="0B4E7C"/>
                </a:solidFill>
              </a:rPr>
              <a:t> </a:t>
            </a:r>
          </a:p>
          <a:p>
            <a:pPr marL="285750" lvl="0" indent="-285750">
              <a:buFont typeface="Arial" panose="020B0604020202020204" pitchFamily="34" charset="0"/>
              <a:buChar char="•"/>
            </a:pPr>
            <a:r>
              <a:rPr lang="en-US" sz="2800" b="1" spc="102" dirty="0">
                <a:solidFill>
                  <a:srgbClr val="0B4E7C"/>
                </a:solidFill>
              </a:rPr>
              <a:t>Global Presence:</a:t>
            </a:r>
            <a:r>
              <a:rPr lang="en-US" sz="2800" spc="102" dirty="0">
                <a:solidFill>
                  <a:srgbClr val="0B4E7C"/>
                </a:solidFill>
              </a:rPr>
              <a:t> Siemens AG is one of the world’s largest technology and manufacturing corporations, operating in 190+ countries with over 300,000 employees (Siemens, 2024).</a:t>
            </a:r>
          </a:p>
          <a:p>
            <a:pPr lvl="0"/>
            <a:endParaRPr lang="en-US" sz="2800" spc="102" dirty="0">
              <a:solidFill>
                <a:srgbClr val="0B4E7C"/>
              </a:solidFill>
            </a:endParaRPr>
          </a:p>
          <a:p>
            <a:pPr marL="285750" lvl="0" indent="-285750">
              <a:buFont typeface="Arial" panose="020B0604020202020204" pitchFamily="34" charset="0"/>
              <a:buChar char="•"/>
            </a:pPr>
            <a:r>
              <a:rPr lang="en-US" sz="2800" b="1" spc="102" dirty="0">
                <a:solidFill>
                  <a:srgbClr val="0B4E7C"/>
                </a:solidFill>
              </a:rPr>
              <a:t>Digital Focus: </a:t>
            </a:r>
            <a:r>
              <a:rPr lang="en-US" sz="2800" spc="102" dirty="0">
                <a:solidFill>
                  <a:srgbClr val="0B4E7C"/>
                </a:solidFill>
              </a:rPr>
              <a:t>Siemens Digital Industries Software (DISW) drives the “Digital Enterprise” vision, integrating AI, </a:t>
            </a:r>
            <a:r>
              <a:rPr lang="en-US" sz="2800" spc="102" dirty="0" err="1">
                <a:solidFill>
                  <a:srgbClr val="0B4E7C"/>
                </a:solidFill>
              </a:rPr>
              <a:t>IoT</a:t>
            </a:r>
            <a:r>
              <a:rPr lang="en-US" sz="2800" spc="102" dirty="0">
                <a:solidFill>
                  <a:srgbClr val="0B4E7C"/>
                </a:solidFill>
              </a:rPr>
              <a:t>, automation, and cloud computing for digital transformation.</a:t>
            </a:r>
          </a:p>
          <a:p>
            <a:pPr lvl="0"/>
            <a:endParaRPr lang="en-US" sz="2800" spc="102" dirty="0">
              <a:solidFill>
                <a:srgbClr val="0B4E7C"/>
              </a:solidFill>
            </a:endParaRPr>
          </a:p>
          <a:p>
            <a:pPr marL="285750" lvl="0" indent="-285750">
              <a:buFont typeface="Arial" panose="020B0604020202020204" pitchFamily="34" charset="0"/>
              <a:buChar char="•"/>
            </a:pPr>
            <a:r>
              <a:rPr lang="en-US" sz="2800" b="1" spc="102" dirty="0">
                <a:solidFill>
                  <a:srgbClr val="0B4E7C"/>
                </a:solidFill>
              </a:rPr>
              <a:t>Core Offerings: </a:t>
            </a:r>
            <a:r>
              <a:rPr lang="en-US" sz="2800" spc="102" dirty="0">
                <a:solidFill>
                  <a:srgbClr val="0B4E7C"/>
                </a:solidFill>
              </a:rPr>
              <a:t>Software platforms such as </a:t>
            </a:r>
            <a:r>
              <a:rPr lang="en-US" sz="2800" spc="102" dirty="0" err="1">
                <a:solidFill>
                  <a:srgbClr val="0B4E7C"/>
                </a:solidFill>
              </a:rPr>
              <a:t>MindSphere</a:t>
            </a:r>
            <a:r>
              <a:rPr lang="en-US" sz="2800" spc="102" dirty="0">
                <a:solidFill>
                  <a:srgbClr val="0B4E7C"/>
                </a:solidFill>
              </a:rPr>
              <a:t> (</a:t>
            </a:r>
            <a:r>
              <a:rPr lang="en-US" sz="2800" spc="102" dirty="0" err="1">
                <a:solidFill>
                  <a:srgbClr val="0B4E7C"/>
                </a:solidFill>
              </a:rPr>
              <a:t>IoT</a:t>
            </a:r>
            <a:r>
              <a:rPr lang="en-US" sz="2800" spc="102" dirty="0">
                <a:solidFill>
                  <a:srgbClr val="0B4E7C"/>
                </a:solidFill>
              </a:rPr>
              <a:t>), </a:t>
            </a:r>
            <a:r>
              <a:rPr lang="en-US" sz="2800" spc="102" dirty="0" err="1">
                <a:solidFill>
                  <a:srgbClr val="0B4E7C"/>
                </a:solidFill>
              </a:rPr>
              <a:t>Teamcenter</a:t>
            </a:r>
            <a:r>
              <a:rPr lang="en-US" sz="2800" spc="102" dirty="0">
                <a:solidFill>
                  <a:srgbClr val="0B4E7C"/>
                </a:solidFill>
              </a:rPr>
              <a:t> (product lifecycle), and </a:t>
            </a:r>
            <a:r>
              <a:rPr lang="en-US" sz="2800" spc="102" dirty="0" err="1">
                <a:solidFill>
                  <a:srgbClr val="0B4E7C"/>
                </a:solidFill>
              </a:rPr>
              <a:t>Mendix</a:t>
            </a:r>
            <a:r>
              <a:rPr lang="en-US" sz="2800" spc="102" dirty="0">
                <a:solidFill>
                  <a:srgbClr val="0B4E7C"/>
                </a:solidFill>
              </a:rPr>
              <a:t> (low-code) power digital innovation across industries.</a:t>
            </a:r>
          </a:p>
          <a:p>
            <a:pPr lvl="0"/>
            <a:endParaRPr lang="en-US" sz="2800" spc="102" dirty="0">
              <a:solidFill>
                <a:srgbClr val="0B4E7C"/>
              </a:solidFill>
            </a:endParaRPr>
          </a:p>
          <a:p>
            <a:pPr marL="285750" lvl="0" indent="-285750">
              <a:buFont typeface="Arial" panose="020B0604020202020204" pitchFamily="34" charset="0"/>
              <a:buChar char="•"/>
            </a:pPr>
            <a:r>
              <a:rPr lang="en-US" sz="2800" b="1" spc="102" dirty="0">
                <a:solidFill>
                  <a:srgbClr val="0B4E7C"/>
                </a:solidFill>
              </a:rPr>
              <a:t>AI-Enabled Home Appliances: </a:t>
            </a:r>
            <a:r>
              <a:rPr lang="en-US" sz="2800" spc="102" dirty="0">
                <a:solidFill>
                  <a:srgbClr val="0B4E7C"/>
                </a:solidFill>
              </a:rPr>
              <a:t>Intelligent washing machines, smart ovens, and connected refrigerators using AI and data analytics for personalization and energy efficiency.</a:t>
            </a:r>
          </a:p>
          <a:p>
            <a:pPr lvl="0"/>
            <a:endParaRPr lang="en-US" sz="2800" spc="102" dirty="0">
              <a:solidFill>
                <a:srgbClr val="0B4E7C"/>
              </a:solidFill>
            </a:endParaRPr>
          </a:p>
          <a:p>
            <a:pPr marL="285750" lvl="0" indent="-285750">
              <a:buFont typeface="Arial" panose="020B0604020202020204" pitchFamily="34" charset="0"/>
              <a:buChar char="•"/>
            </a:pPr>
            <a:r>
              <a:rPr lang="en-US" sz="2800" b="1" spc="102" dirty="0">
                <a:solidFill>
                  <a:srgbClr val="0B4E7C"/>
                </a:solidFill>
              </a:rPr>
              <a:t>Digital Leadership: </a:t>
            </a:r>
            <a:r>
              <a:rPr lang="en-US" sz="2800" spc="102" dirty="0">
                <a:solidFill>
                  <a:srgbClr val="0B4E7C"/>
                </a:solidFill>
              </a:rPr>
              <a:t>Siemens combines traditional engineering expertise with advanced digitalization strategies.</a:t>
            </a:r>
          </a:p>
          <a:p>
            <a:r>
              <a:rPr lang="en-US" sz="2800" b="1" spc="102" dirty="0">
                <a:solidFill>
                  <a:srgbClr val="0B4E7C"/>
                </a:solidFill>
              </a:rPr>
              <a:t> </a:t>
            </a:r>
          </a:p>
          <a:p>
            <a:pPr marL="0" lvl="0" indent="0">
              <a:lnSpc>
                <a:spcPts val="2295"/>
              </a:lnSpc>
              <a:spcBef>
                <a:spcPct val="0"/>
              </a:spcBef>
            </a:pPr>
            <a:endParaRPr lang="en-US" sz="2800" b="1" u="none" spc="102" dirty="0">
              <a:solidFill>
                <a:srgbClr val="0B4E7C"/>
              </a:solidFill>
              <a:ea typeface="Canva Sans Medium"/>
              <a:cs typeface="Canva Sans Medium"/>
              <a:sym typeface="Canva Sans Medium"/>
            </a:endParaRPr>
          </a:p>
        </p:txBody>
      </p:sp>
      <p:sp>
        <p:nvSpPr>
          <p:cNvPr id="5" name="Freeform 5"/>
          <p:cNvSpPr/>
          <p:nvPr/>
        </p:nvSpPr>
        <p:spPr>
          <a:xfrm>
            <a:off x="14193981" y="5694218"/>
            <a:ext cx="2930237" cy="2837867"/>
          </a:xfrm>
          <a:custGeom>
            <a:avLst/>
            <a:gdLst/>
            <a:ahLst/>
            <a:cxnLst/>
            <a:rect l="l" t="t" r="r" b="b"/>
            <a:pathLst>
              <a:path w="6273391" h="5862769">
                <a:moveTo>
                  <a:pt x="0" y="0"/>
                </a:moveTo>
                <a:lnTo>
                  <a:pt x="6273391" y="0"/>
                </a:lnTo>
                <a:lnTo>
                  <a:pt x="6273391" y="5862768"/>
                </a:lnTo>
                <a:lnTo>
                  <a:pt x="0" y="58627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pic>
        <p:nvPicPr>
          <p:cNvPr id="6" name="Introduction_Olusola">
            <a:hlinkClick r:id="" action="ppaction://media"/>
          </p:cNvPr>
          <p:cNvPicPr>
            <a:picLocks noChangeAspect="1"/>
          </p:cNvPicPr>
          <p:nvPr>
            <a:audioFile r:link="rId1"/>
            <p:extLst>
              <p:ext uri="{DAA4B4D4-6D71-4841-9C94-3DE7FCFB9230}">
                <p14:media xmlns:p14="http://schemas.microsoft.com/office/powerpoint/2010/main" r:embed="rId2">
                  <p14:trim st="17574" end="255155.6666"/>
                </p14:media>
              </p:ext>
            </p:extLst>
          </p:nvPr>
        </p:nvPicPr>
        <p:blipFill>
          <a:blip r:embed="rId8"/>
          <a:stretch>
            <a:fillRect/>
          </a:stretch>
        </p:blipFill>
        <p:spPr>
          <a:xfrm>
            <a:off x="15161966" y="3421146"/>
            <a:ext cx="1573006" cy="1573006"/>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5521"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sp>
        <p:nvSpPr>
          <p:cNvPr id="3" name="Freeform 3"/>
          <p:cNvSpPr/>
          <p:nvPr/>
        </p:nvSpPr>
        <p:spPr>
          <a:xfrm>
            <a:off x="658670" y="2973705"/>
            <a:ext cx="5183697" cy="6337002"/>
          </a:xfrm>
          <a:custGeom>
            <a:avLst/>
            <a:gdLst/>
            <a:ahLst/>
            <a:cxnLst/>
            <a:rect l="l" t="t" r="r" b="b"/>
            <a:pathLst>
              <a:path w="6940374" h="6132766">
                <a:moveTo>
                  <a:pt x="0" y="0"/>
                </a:moveTo>
                <a:lnTo>
                  <a:pt x="6940374" y="0"/>
                </a:lnTo>
                <a:lnTo>
                  <a:pt x="6940374" y="6132766"/>
                </a:lnTo>
                <a:lnTo>
                  <a:pt x="0" y="613276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4" name="Freeform 4"/>
          <p:cNvSpPr/>
          <p:nvPr/>
        </p:nvSpPr>
        <p:spPr>
          <a:xfrm>
            <a:off x="6295606" y="2973704"/>
            <a:ext cx="5773586" cy="6960005"/>
          </a:xfrm>
          <a:custGeom>
            <a:avLst/>
            <a:gdLst/>
            <a:ahLst/>
            <a:cxnLst/>
            <a:rect l="l" t="t" r="r" b="b"/>
            <a:pathLst>
              <a:path w="6940374" h="6132766">
                <a:moveTo>
                  <a:pt x="0" y="0"/>
                </a:moveTo>
                <a:lnTo>
                  <a:pt x="6940374" y="0"/>
                </a:lnTo>
                <a:lnTo>
                  <a:pt x="6940374" y="6132766"/>
                </a:lnTo>
                <a:lnTo>
                  <a:pt x="0" y="6132766"/>
                </a:lnTo>
                <a:lnTo>
                  <a:pt x="0" y="0"/>
                </a:lnTo>
                <a:close/>
              </a:path>
            </a:pathLst>
          </a:custGeom>
          <a:solidFill>
            <a:schemeClr val="tx1">
              <a:lumMod val="75000"/>
              <a:lumOff val="25000"/>
            </a:schemeClr>
          </a:solidFill>
          <a:ln cap="sq">
            <a:noFill/>
            <a:prstDash val="solid"/>
            <a:miter/>
          </a:ln>
        </p:spPr>
        <p:txBody>
          <a:bodyPr/>
          <a:lstStyle/>
          <a:p>
            <a:endParaRPr lang="en-US"/>
          </a:p>
        </p:txBody>
      </p:sp>
      <p:sp>
        <p:nvSpPr>
          <p:cNvPr id="5" name="TextBox 5"/>
          <p:cNvSpPr txBox="1"/>
          <p:nvPr/>
        </p:nvSpPr>
        <p:spPr>
          <a:xfrm>
            <a:off x="0" y="981075"/>
            <a:ext cx="18288000" cy="1167051"/>
          </a:xfrm>
          <a:prstGeom prst="rect">
            <a:avLst/>
          </a:prstGeom>
        </p:spPr>
        <p:txBody>
          <a:bodyPr wrap="square" lIns="0" tIns="0" rIns="0" bIns="0" rtlCol="0" anchor="t">
            <a:spAutoFit/>
          </a:bodyPr>
          <a:lstStyle/>
          <a:p>
            <a:pPr marL="0" lvl="0" indent="0" algn="ctr">
              <a:lnSpc>
                <a:spcPts val="9600"/>
              </a:lnSpc>
            </a:pPr>
            <a:r>
              <a:rPr lang="en-US" sz="6000" b="1" dirty="0">
                <a:solidFill>
                  <a:srgbClr val="0B4E7C"/>
                </a:solidFill>
                <a:latin typeface="+mj-lt"/>
                <a:ea typeface="Rustic Printed"/>
                <a:cs typeface="Rustic Printed"/>
                <a:sym typeface="Rustic Printed"/>
              </a:rPr>
              <a:t>PROJECT RELEVANCE AND STRATEGIC FIT</a:t>
            </a:r>
          </a:p>
        </p:txBody>
      </p:sp>
      <p:sp>
        <p:nvSpPr>
          <p:cNvPr id="6" name="TextBox 6"/>
          <p:cNvSpPr txBox="1"/>
          <p:nvPr/>
        </p:nvSpPr>
        <p:spPr>
          <a:xfrm>
            <a:off x="1694083" y="3660065"/>
            <a:ext cx="3112870" cy="695960"/>
          </a:xfrm>
          <a:prstGeom prst="rect">
            <a:avLst/>
          </a:prstGeom>
        </p:spPr>
        <p:txBody>
          <a:bodyPr lIns="0" tIns="0" rIns="0" bIns="0" rtlCol="0" anchor="t">
            <a:spAutoFit/>
          </a:bodyPr>
          <a:lstStyle/>
          <a:p>
            <a:pPr marL="0" lvl="0" indent="0" algn="ctr">
              <a:lnSpc>
                <a:spcPts val="5280"/>
              </a:lnSpc>
              <a:spcBef>
                <a:spcPct val="0"/>
              </a:spcBef>
            </a:pPr>
            <a:r>
              <a:rPr lang="en-US" sz="5500" b="1" u="none" strike="noStrike" spc="-330" dirty="0">
                <a:solidFill>
                  <a:srgbClr val="FFFFFF"/>
                </a:solidFill>
                <a:latin typeface="+mj-lt"/>
                <a:ea typeface="Rustic Printed"/>
                <a:cs typeface="Rustic Printed"/>
                <a:sym typeface="Rustic Printed"/>
              </a:rPr>
              <a:t>HOW?</a:t>
            </a:r>
          </a:p>
        </p:txBody>
      </p:sp>
      <p:sp>
        <p:nvSpPr>
          <p:cNvPr id="7" name="TextBox 7"/>
          <p:cNvSpPr txBox="1"/>
          <p:nvPr/>
        </p:nvSpPr>
        <p:spPr>
          <a:xfrm>
            <a:off x="1030356" y="5058778"/>
            <a:ext cx="4548622" cy="2954655"/>
          </a:xfrm>
          <a:prstGeom prst="rect">
            <a:avLst/>
          </a:prstGeom>
        </p:spPr>
        <p:txBody>
          <a:bodyPr lIns="0" tIns="0" rIns="0" bIns="0" rtlCol="0" anchor="t">
            <a:spAutoFit/>
          </a:bodyPr>
          <a:lstStyle/>
          <a:p>
            <a:pPr lvl="0" algn="ctr"/>
            <a:r>
              <a:rPr lang="en-US" sz="2400" b="1" spc="300" dirty="0">
                <a:solidFill>
                  <a:srgbClr val="FFFFFF"/>
                </a:solidFill>
              </a:rPr>
              <a:t>Siemens integrates industrial heritage with digital innovation, showcasing real-world challenges of scaling agility in complex enterprises (Rigby, Sutherland &amp; Takeuchi, 2016). </a:t>
            </a:r>
          </a:p>
        </p:txBody>
      </p:sp>
      <p:sp>
        <p:nvSpPr>
          <p:cNvPr id="8" name="TextBox 8"/>
          <p:cNvSpPr txBox="1"/>
          <p:nvPr/>
        </p:nvSpPr>
        <p:spPr>
          <a:xfrm>
            <a:off x="6923837" y="3354994"/>
            <a:ext cx="4440326" cy="695960"/>
          </a:xfrm>
          <a:prstGeom prst="rect">
            <a:avLst/>
          </a:prstGeom>
        </p:spPr>
        <p:txBody>
          <a:bodyPr lIns="0" tIns="0" rIns="0" bIns="0" rtlCol="0" anchor="t">
            <a:spAutoFit/>
          </a:bodyPr>
          <a:lstStyle/>
          <a:p>
            <a:pPr marL="0" lvl="0" indent="0" algn="ctr">
              <a:lnSpc>
                <a:spcPts val="5280"/>
              </a:lnSpc>
              <a:spcBef>
                <a:spcPct val="0"/>
              </a:spcBef>
            </a:pPr>
            <a:r>
              <a:rPr lang="en-US" sz="5500" b="1" spc="-330" dirty="0">
                <a:solidFill>
                  <a:srgbClr val="FFFFFF"/>
                </a:solidFill>
                <a:latin typeface="+mj-lt"/>
                <a:ea typeface="Rustic Printed"/>
                <a:cs typeface="Rustic Printed"/>
                <a:sym typeface="Rustic Printed"/>
              </a:rPr>
              <a:t>WHY?</a:t>
            </a:r>
            <a:endParaRPr lang="en-US" sz="5500" b="1" u="none" strike="noStrike" spc="-330" dirty="0">
              <a:solidFill>
                <a:srgbClr val="FFFFFF"/>
              </a:solidFill>
              <a:latin typeface="+mj-lt"/>
              <a:ea typeface="Rustic Printed"/>
              <a:cs typeface="Rustic Printed"/>
              <a:sym typeface="Rustic Printed"/>
            </a:endParaRPr>
          </a:p>
        </p:txBody>
      </p:sp>
      <p:sp>
        <p:nvSpPr>
          <p:cNvPr id="9" name="TextBox 9"/>
          <p:cNvSpPr txBox="1"/>
          <p:nvPr/>
        </p:nvSpPr>
        <p:spPr>
          <a:xfrm>
            <a:off x="6667933" y="4391166"/>
            <a:ext cx="5260193" cy="5542543"/>
          </a:xfrm>
          <a:prstGeom prst="rect">
            <a:avLst/>
          </a:prstGeom>
        </p:spPr>
        <p:txBody>
          <a:bodyPr wrap="square" lIns="0" tIns="0" rIns="0" bIns="0" rtlCol="0" anchor="t">
            <a:spAutoFit/>
          </a:bodyPr>
          <a:lstStyle/>
          <a:p>
            <a:pPr algn="ctr"/>
            <a:r>
              <a:rPr lang="en-US" sz="2400" b="1" spc="300" dirty="0">
                <a:solidFill>
                  <a:srgbClr val="FFFFFF"/>
                </a:solidFill>
              </a:rPr>
              <a:t>The AI-enabled home appliance initiative exemplifies Siemens’ commitment to sustainable, smart living, aligning with global digital transformation trends (</a:t>
            </a:r>
            <a:r>
              <a:rPr lang="en-US" sz="2400" b="1" spc="300" dirty="0" err="1">
                <a:solidFill>
                  <a:srgbClr val="FFFFFF"/>
                </a:solidFill>
              </a:rPr>
              <a:t>Dennehy</a:t>
            </a:r>
            <a:r>
              <a:rPr lang="en-US" sz="2400" b="1" spc="300" dirty="0">
                <a:solidFill>
                  <a:srgbClr val="FFFFFF"/>
                </a:solidFill>
              </a:rPr>
              <a:t> &amp; </a:t>
            </a:r>
            <a:r>
              <a:rPr lang="en-US" sz="2400" b="1" spc="300" dirty="0" err="1">
                <a:solidFill>
                  <a:srgbClr val="FFFFFF"/>
                </a:solidFill>
              </a:rPr>
              <a:t>Conboy</a:t>
            </a:r>
            <a:r>
              <a:rPr lang="en-US" sz="2400" b="1" spc="300" dirty="0">
                <a:solidFill>
                  <a:srgbClr val="FFFFFF"/>
                </a:solidFill>
              </a:rPr>
              <a:t>, 2019).</a:t>
            </a:r>
          </a:p>
          <a:p>
            <a:pPr algn="ctr"/>
            <a:r>
              <a:rPr lang="en-US" sz="2400" b="1" spc="300" dirty="0">
                <a:solidFill>
                  <a:srgbClr val="FFFFFF"/>
                </a:solidFill>
              </a:rPr>
              <a:t>Siemens is actively adopting Agile and </a:t>
            </a:r>
            <a:r>
              <a:rPr lang="en-US" sz="2400" b="1" spc="300" dirty="0" err="1">
                <a:solidFill>
                  <a:srgbClr val="FFFFFF"/>
                </a:solidFill>
              </a:rPr>
              <a:t>SAFe</a:t>
            </a:r>
            <a:r>
              <a:rPr lang="en-US" sz="2400" b="1" spc="300" dirty="0">
                <a:solidFill>
                  <a:srgbClr val="FFFFFF"/>
                </a:solidFill>
              </a:rPr>
              <a:t> practices to accelerate innovation and compete with digital-native companies like Samsung, Bosch, and Google (</a:t>
            </a:r>
            <a:r>
              <a:rPr lang="en-US" sz="2400" b="1" spc="300" dirty="0" err="1">
                <a:solidFill>
                  <a:srgbClr val="FFFFFF"/>
                </a:solidFill>
              </a:rPr>
              <a:t>Dikert</a:t>
            </a:r>
            <a:r>
              <a:rPr lang="en-US" sz="2400" b="1" spc="300" dirty="0">
                <a:solidFill>
                  <a:srgbClr val="FFFFFF"/>
                </a:solidFill>
              </a:rPr>
              <a:t>, </a:t>
            </a:r>
            <a:r>
              <a:rPr lang="en-US" sz="2400" b="1" spc="300" dirty="0" err="1">
                <a:solidFill>
                  <a:srgbClr val="FFFFFF"/>
                </a:solidFill>
              </a:rPr>
              <a:t>Paasivaara</a:t>
            </a:r>
            <a:r>
              <a:rPr lang="en-US" sz="2400" b="1" spc="300" dirty="0">
                <a:solidFill>
                  <a:srgbClr val="FFFFFF"/>
                </a:solidFill>
              </a:rPr>
              <a:t> &amp; </a:t>
            </a:r>
            <a:r>
              <a:rPr lang="en-US" sz="2400" b="1" spc="300" dirty="0" err="1">
                <a:solidFill>
                  <a:srgbClr val="FFFFFF"/>
                </a:solidFill>
              </a:rPr>
              <a:t>Lassenius</a:t>
            </a:r>
            <a:r>
              <a:rPr lang="en-US" sz="2400" b="1" spc="300" dirty="0">
                <a:solidFill>
                  <a:srgbClr val="FFFFFF"/>
                </a:solidFill>
              </a:rPr>
              <a:t>, 2016). </a:t>
            </a:r>
          </a:p>
          <a:p>
            <a:pPr algn="ctr">
              <a:lnSpc>
                <a:spcPts val="2859"/>
              </a:lnSpc>
            </a:pPr>
            <a:endParaRPr lang="en-US" sz="2400" b="1" spc="300" dirty="0">
              <a:solidFill>
                <a:srgbClr val="FFFFFF"/>
              </a:solidFill>
              <a:ea typeface="Canva Sans Medium"/>
              <a:cs typeface="Canva Sans Medium"/>
              <a:sym typeface="Canva Sans Medium"/>
            </a:endParaRPr>
          </a:p>
        </p:txBody>
      </p:sp>
      <p:sp>
        <p:nvSpPr>
          <p:cNvPr id="15" name="Freeform 4"/>
          <p:cNvSpPr/>
          <p:nvPr/>
        </p:nvSpPr>
        <p:spPr>
          <a:xfrm>
            <a:off x="12332581" y="2973704"/>
            <a:ext cx="5061801" cy="4316096"/>
          </a:xfrm>
          <a:custGeom>
            <a:avLst/>
            <a:gdLst/>
            <a:ahLst/>
            <a:cxnLst/>
            <a:rect l="l" t="t" r="r" b="b"/>
            <a:pathLst>
              <a:path w="6940374" h="6132766">
                <a:moveTo>
                  <a:pt x="0" y="0"/>
                </a:moveTo>
                <a:lnTo>
                  <a:pt x="6940374" y="0"/>
                </a:lnTo>
                <a:lnTo>
                  <a:pt x="6940374" y="6132766"/>
                </a:lnTo>
                <a:lnTo>
                  <a:pt x="0" y="6132766"/>
                </a:lnTo>
                <a:lnTo>
                  <a:pt x="0" y="0"/>
                </a:lnTo>
                <a:close/>
              </a:path>
            </a:pathLst>
          </a:custGeom>
          <a:solidFill>
            <a:schemeClr val="tx1">
              <a:lumMod val="75000"/>
              <a:lumOff val="25000"/>
            </a:schemeClr>
          </a:solidFill>
          <a:ln cap="sq">
            <a:noFill/>
            <a:prstDash val="solid"/>
            <a:miter/>
          </a:ln>
        </p:spPr>
        <p:txBody>
          <a:bodyPr/>
          <a:lstStyle/>
          <a:p>
            <a:endParaRPr lang="en-US"/>
          </a:p>
        </p:txBody>
      </p:sp>
      <p:sp>
        <p:nvSpPr>
          <p:cNvPr id="11" name="TextBox 8">
            <a:extLst>
              <a:ext uri="{FF2B5EF4-FFF2-40B4-BE49-F238E27FC236}">
                <a16:creationId xmlns:a16="http://schemas.microsoft.com/office/drawing/2014/main" id="{0D0E15A2-D7F3-742F-8F16-ED48751BA8B8}"/>
              </a:ext>
            </a:extLst>
          </p:cNvPr>
          <p:cNvSpPr txBox="1"/>
          <p:nvPr/>
        </p:nvSpPr>
        <p:spPr>
          <a:xfrm>
            <a:off x="12663489" y="3660065"/>
            <a:ext cx="4440326" cy="695960"/>
          </a:xfrm>
          <a:prstGeom prst="rect">
            <a:avLst/>
          </a:prstGeom>
        </p:spPr>
        <p:txBody>
          <a:bodyPr lIns="0" tIns="0" rIns="0" bIns="0" rtlCol="0" anchor="t">
            <a:spAutoFit/>
          </a:bodyPr>
          <a:lstStyle/>
          <a:p>
            <a:pPr marL="0" lvl="0" indent="0" algn="ctr">
              <a:lnSpc>
                <a:spcPts val="5280"/>
              </a:lnSpc>
              <a:spcBef>
                <a:spcPct val="0"/>
              </a:spcBef>
            </a:pPr>
            <a:r>
              <a:rPr lang="en-US" sz="5500" b="1" spc="-330" dirty="0">
                <a:solidFill>
                  <a:srgbClr val="FFFFFF"/>
                </a:solidFill>
                <a:latin typeface="+mj-lt"/>
                <a:ea typeface="Rustic Printed"/>
                <a:cs typeface="Rustic Printed"/>
                <a:sym typeface="Rustic Printed"/>
              </a:rPr>
              <a:t>FOR WHAT?</a:t>
            </a:r>
            <a:endParaRPr lang="en-US" sz="5500" b="1" u="none" strike="noStrike" spc="-330" dirty="0">
              <a:solidFill>
                <a:srgbClr val="FFFFFF"/>
              </a:solidFill>
              <a:latin typeface="+mj-lt"/>
              <a:ea typeface="Rustic Printed"/>
              <a:cs typeface="Rustic Printed"/>
              <a:sym typeface="Rustic Printed"/>
            </a:endParaRPr>
          </a:p>
        </p:txBody>
      </p:sp>
      <p:sp>
        <p:nvSpPr>
          <p:cNvPr id="13" name="TextBox 12">
            <a:extLst>
              <a:ext uri="{FF2B5EF4-FFF2-40B4-BE49-F238E27FC236}">
                <a16:creationId xmlns:a16="http://schemas.microsoft.com/office/drawing/2014/main" id="{C5CAE926-3A9F-D69B-DA2A-ACD93C2BF22A}"/>
              </a:ext>
            </a:extLst>
          </p:cNvPr>
          <p:cNvSpPr txBox="1"/>
          <p:nvPr/>
        </p:nvSpPr>
        <p:spPr>
          <a:xfrm>
            <a:off x="12663489" y="4892680"/>
            <a:ext cx="4440326" cy="2208746"/>
          </a:xfrm>
          <a:prstGeom prst="rect">
            <a:avLst/>
          </a:prstGeom>
          <a:noFill/>
        </p:spPr>
        <p:txBody>
          <a:bodyPr wrap="square">
            <a:spAutoFit/>
          </a:bodyPr>
          <a:lstStyle/>
          <a:p>
            <a:pPr marR="0" lvl="0" algn="ctr">
              <a:lnSpc>
                <a:spcPct val="116000"/>
              </a:lnSpc>
              <a:spcBef>
                <a:spcPts val="1200"/>
              </a:spcBef>
              <a:spcAft>
                <a:spcPts val="1200"/>
              </a:spcAft>
            </a:pPr>
            <a:r>
              <a:rPr lang="en-US" sz="2400" b="1" spc="300" dirty="0">
                <a:solidFill>
                  <a:srgbClr val="FFFFFF"/>
                </a:solidFill>
              </a:rPr>
              <a:t>To align digital strategy with agile execution and deliver smarter, customer-centric innovations. </a:t>
            </a:r>
          </a:p>
        </p:txBody>
      </p:sp>
      <p:sp>
        <p:nvSpPr>
          <p:cNvPr id="16" name="Freeform 3">
            <a:extLst>
              <a:ext uri="{FF2B5EF4-FFF2-40B4-BE49-F238E27FC236}">
                <a16:creationId xmlns:a16="http://schemas.microsoft.com/office/drawing/2014/main" id="{1A654D08-7D5B-08F3-EDDE-1F72DEDBCF0D}"/>
              </a:ext>
            </a:extLst>
          </p:cNvPr>
          <p:cNvSpPr/>
          <p:nvPr/>
        </p:nvSpPr>
        <p:spPr>
          <a:xfrm flipH="1">
            <a:off x="14824610" y="7101426"/>
            <a:ext cx="2715056" cy="3003873"/>
          </a:xfrm>
          <a:custGeom>
            <a:avLst/>
            <a:gdLst/>
            <a:ahLst/>
            <a:cxnLst/>
            <a:rect l="l" t="t" r="r" b="b"/>
            <a:pathLst>
              <a:path w="7259909" h="7233510">
                <a:moveTo>
                  <a:pt x="0" y="0"/>
                </a:moveTo>
                <a:lnTo>
                  <a:pt x="7259909" y="0"/>
                </a:lnTo>
                <a:lnTo>
                  <a:pt x="7259909" y="7233510"/>
                </a:lnTo>
                <a:lnTo>
                  <a:pt x="0" y="7233510"/>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pic>
        <p:nvPicPr>
          <p:cNvPr id="14" name="Introduction_Olusola">
            <a:hlinkClick r:id="" action="ppaction://media"/>
          </p:cNvPr>
          <p:cNvPicPr>
            <a:picLocks noChangeAspect="1"/>
          </p:cNvPicPr>
          <p:nvPr>
            <a:audioFile r:link="rId1"/>
            <p:extLst>
              <p:ext uri="{DAA4B4D4-6D71-4841-9C94-3DE7FCFB9230}">
                <p14:media xmlns:p14="http://schemas.microsoft.com/office/powerpoint/2010/main" r:embed="rId2">
                  <p14:trim st="63035" end="189642.6666"/>
                </p14:media>
              </p:ext>
            </p:extLst>
          </p:nvPr>
        </p:nvPicPr>
        <p:blipFill>
          <a:blip r:embed="rId10"/>
          <a:stretch>
            <a:fillRect/>
          </a:stretch>
        </p:blipFill>
        <p:spPr>
          <a:xfrm>
            <a:off x="16108229" y="159765"/>
            <a:ext cx="1723345" cy="1723345"/>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65573" fill="hold"/>
                                        <p:tgtEl>
                                          <p:spTgt spid="14"/>
                                        </p:tgtEl>
                                      </p:cBhvr>
                                    </p:cmd>
                                  </p:childTnLst>
                                </p:cTn>
                              </p:par>
                            </p:childTnLst>
                          </p:cTn>
                        </p:par>
                      </p:childTnLst>
                    </p:cTn>
                  </p:par>
                </p:childTnLst>
              </p:cTn>
              <p:nextCondLst>
                <p:cond evt="onClick" delay="0">
                  <p:tgtEl>
                    <p:spTgt spid="14"/>
                  </p:tgtEl>
                </p:cond>
              </p:nextCondLst>
            </p:seq>
            <p:audio>
              <p:cMediaNode vol="80000">
                <p:cTn id="7" fill="hold" display="0">
                  <p:stCondLst>
                    <p:cond delay="indefinite"/>
                  </p:stCondLst>
                  <p:endCondLst>
                    <p:cond evt="onStopAudio" delay="0">
                      <p:tgtEl>
                        <p:sldTgt/>
                      </p:tgtEl>
                    </p:cond>
                  </p:endCondLst>
                </p:cTn>
                <p:tgtEl>
                  <p:spTgt spid="1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288"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5555" b="-5555"/>
            </a:stretch>
          </a:blipFill>
        </p:spPr>
        <p:txBody>
          <a:bodyPr/>
          <a:lstStyle/>
          <a:p>
            <a:endParaRPr lang="en-US"/>
          </a:p>
        </p:txBody>
      </p:sp>
      <p:grpSp>
        <p:nvGrpSpPr>
          <p:cNvPr id="3" name="Group 3"/>
          <p:cNvGrpSpPr/>
          <p:nvPr/>
        </p:nvGrpSpPr>
        <p:grpSpPr>
          <a:xfrm>
            <a:off x="-18288" y="0"/>
            <a:ext cx="18306288" cy="10287000"/>
            <a:chOff x="0" y="0"/>
            <a:chExt cx="4274726" cy="2167467"/>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grpSpPr>
        <p:sp>
          <p:nvSpPr>
            <p:cNvPr id="4" name="Freeform 4"/>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grpFill/>
          </p:spPr>
          <p:txBody>
            <a:bodyPr/>
            <a:lstStyle/>
            <a:p>
              <a:endParaRPr lang="en-US"/>
            </a:p>
          </p:txBody>
        </p:sp>
        <p:sp>
          <p:nvSpPr>
            <p:cNvPr id="5" name="TextBox 5"/>
            <p:cNvSpPr txBox="1"/>
            <p:nvPr/>
          </p:nvSpPr>
          <p:spPr>
            <a:xfrm>
              <a:off x="0" y="-38100"/>
              <a:ext cx="4274726" cy="2205567"/>
            </a:xfrm>
            <a:prstGeom prst="rect">
              <a:avLst/>
            </a:prstGeom>
            <a:grpFill/>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4724400" y="-117601"/>
            <a:ext cx="10950655" cy="1231106"/>
          </a:xfrm>
          <a:prstGeom prst="rect">
            <a:avLst/>
          </a:prstGeom>
        </p:spPr>
        <p:txBody>
          <a:bodyPr wrap="square" lIns="0" tIns="0" rIns="0" bIns="0" rtlCol="0" anchor="t">
            <a:spAutoFit/>
          </a:bodyPr>
          <a:lstStyle/>
          <a:p>
            <a:pPr marL="0" lvl="0" indent="0" algn="ctr">
              <a:lnSpc>
                <a:spcPts val="9600"/>
              </a:lnSpc>
            </a:pPr>
            <a:r>
              <a:rPr lang="en-US" sz="4400" b="1" dirty="0">
                <a:solidFill>
                  <a:srgbClr val="FFFFFF"/>
                </a:solidFill>
                <a:latin typeface="+mj-lt"/>
                <a:ea typeface="Rustic Printed"/>
                <a:cs typeface="Rustic Printed"/>
                <a:sym typeface="Rustic Printed"/>
              </a:rPr>
              <a:t>INDUSTRIAL CHALLENGES &amp; OPPORTUNITIES</a:t>
            </a:r>
          </a:p>
        </p:txBody>
      </p:sp>
      <p:graphicFrame>
        <p:nvGraphicFramePr>
          <p:cNvPr id="16" name="Table 15">
            <a:extLst>
              <a:ext uri="{FF2B5EF4-FFF2-40B4-BE49-F238E27FC236}">
                <a16:creationId xmlns:a16="http://schemas.microsoft.com/office/drawing/2014/main" id="{9B798AEF-BD39-43B6-5508-CB1F9D5D94B2}"/>
              </a:ext>
            </a:extLst>
          </p:cNvPr>
          <p:cNvGraphicFramePr>
            <a:graphicFrameLocks noGrp="1"/>
          </p:cNvGraphicFramePr>
          <p:nvPr>
            <p:extLst>
              <p:ext uri="{D42A27DB-BD31-4B8C-83A1-F6EECF244321}">
                <p14:modId xmlns:p14="http://schemas.microsoft.com/office/powerpoint/2010/main" val="2499558864"/>
              </p:ext>
            </p:extLst>
          </p:nvPr>
        </p:nvGraphicFramePr>
        <p:xfrm>
          <a:off x="537624" y="1253019"/>
          <a:ext cx="17194463" cy="8412191"/>
        </p:xfrm>
        <a:graphic>
          <a:graphicData uri="http://schemas.openxmlformats.org/drawingml/2006/table">
            <a:tbl>
              <a:tblPr firstRow="1" firstCol="1">
                <a:tableStyleId>{5C22544A-7EE6-4342-B048-85BDC9FD1C3A}</a:tableStyleId>
              </a:tblPr>
              <a:tblGrid>
                <a:gridCol w="4117503">
                  <a:extLst>
                    <a:ext uri="{9D8B030D-6E8A-4147-A177-3AD203B41FA5}">
                      <a16:colId xmlns:a16="http://schemas.microsoft.com/office/drawing/2014/main" val="4052152662"/>
                    </a:ext>
                  </a:extLst>
                </a:gridCol>
                <a:gridCol w="6322254">
                  <a:extLst>
                    <a:ext uri="{9D8B030D-6E8A-4147-A177-3AD203B41FA5}">
                      <a16:colId xmlns:a16="http://schemas.microsoft.com/office/drawing/2014/main" val="2447678831"/>
                    </a:ext>
                  </a:extLst>
                </a:gridCol>
                <a:gridCol w="6754706">
                  <a:extLst>
                    <a:ext uri="{9D8B030D-6E8A-4147-A177-3AD203B41FA5}">
                      <a16:colId xmlns:a16="http://schemas.microsoft.com/office/drawing/2014/main" val="1479850990"/>
                    </a:ext>
                  </a:extLst>
                </a:gridCol>
              </a:tblGrid>
              <a:tr h="935344">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Challenge/Opportunity</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err="1">
                          <a:solidFill>
                            <a:srgbClr val="FFFFFF"/>
                          </a:solidFill>
                          <a:latin typeface="+mn-lt"/>
                          <a:ea typeface="+mn-ea"/>
                          <a:cs typeface="+mn-cs"/>
                        </a:rPr>
                        <a:t>SAFe</a:t>
                      </a:r>
                      <a:r>
                        <a:rPr lang="en-US" sz="2800" b="1" kern="1200" dirty="0">
                          <a:solidFill>
                            <a:srgbClr val="FFFFFF"/>
                          </a:solidFill>
                          <a:latin typeface="+mn-lt"/>
                          <a:ea typeface="+mn-ea"/>
                          <a:cs typeface="+mn-cs"/>
                        </a:rPr>
                        <a:t> Practice to Address It</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Why It Fits Siemens</a:t>
                      </a:r>
                    </a:p>
                  </a:txBody>
                  <a:tcPr marL="68580" marR="68580" marT="0" marB="0" anchor="ctr">
                    <a:solidFill>
                      <a:srgbClr val="145C94"/>
                    </a:solidFill>
                  </a:tcPr>
                </a:tc>
                <a:extLst>
                  <a:ext uri="{0D108BD9-81ED-4DB2-BD59-A6C34878D82A}">
                    <a16:rowId xmlns:a16="http://schemas.microsoft.com/office/drawing/2014/main" val="510136171"/>
                  </a:ext>
                </a:extLst>
              </a:tr>
              <a:tr h="1197819">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Complexity of integration (AI, </a:t>
                      </a:r>
                      <a:r>
                        <a:rPr lang="en-US" sz="2800" b="1" kern="1200" dirty="0" err="1">
                          <a:solidFill>
                            <a:srgbClr val="FFFFFF"/>
                          </a:solidFill>
                          <a:latin typeface="+mn-lt"/>
                          <a:ea typeface="+mn-ea"/>
                          <a:cs typeface="+mn-cs"/>
                        </a:rPr>
                        <a:t>IoT</a:t>
                      </a:r>
                      <a:r>
                        <a:rPr lang="en-US" sz="2800" b="1" kern="1200" dirty="0">
                          <a:solidFill>
                            <a:srgbClr val="FFFFFF"/>
                          </a:solidFill>
                          <a:latin typeface="+mn-lt"/>
                          <a:ea typeface="+mn-ea"/>
                          <a:cs typeface="+mn-cs"/>
                        </a:rPr>
                        <a:t>, hardware)</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Agile Release Trains (ARTs)</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a:solidFill>
                            <a:srgbClr val="FFFFFF"/>
                          </a:solidFill>
                          <a:latin typeface="+mn-lt"/>
                          <a:ea typeface="+mn-ea"/>
                          <a:cs typeface="+mn-cs"/>
                        </a:rPr>
                        <a:t>Synchronize multiple cross-functional teams working on hardware + software.</a:t>
                      </a:r>
                    </a:p>
                  </a:txBody>
                  <a:tcPr marL="68580" marR="68580" marT="0" marB="0" anchor="ctr">
                    <a:solidFill>
                      <a:srgbClr val="145C94"/>
                    </a:solidFill>
                  </a:tcPr>
                </a:tc>
                <a:extLst>
                  <a:ext uri="{0D108BD9-81ED-4DB2-BD59-A6C34878D82A}">
                    <a16:rowId xmlns:a16="http://schemas.microsoft.com/office/drawing/2014/main" val="964342036"/>
                  </a:ext>
                </a:extLst>
              </a:tr>
              <a:tr h="1813053">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Speed to market</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Program Increment (PI) Planning + Continuous Delivery Pipeline</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Aligns global teams every 8–12 weeks, shortens delivery cycles, accelerates innovation.</a:t>
                      </a:r>
                    </a:p>
                  </a:txBody>
                  <a:tcPr marL="68580" marR="68580" marT="0" marB="0" anchor="ctr">
                    <a:solidFill>
                      <a:srgbClr val="145C94"/>
                    </a:solidFill>
                  </a:tcPr>
                </a:tc>
                <a:extLst>
                  <a:ext uri="{0D108BD9-81ED-4DB2-BD59-A6C34878D82A}">
                    <a16:rowId xmlns:a16="http://schemas.microsoft.com/office/drawing/2014/main" val="1520373469"/>
                  </a:ext>
                </a:extLst>
              </a:tr>
              <a:tr h="1197819">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Cross-functional collaboration</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Scrum of Scrums + System Demos</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a:solidFill>
                            <a:srgbClr val="FFFFFF"/>
                          </a:solidFill>
                          <a:latin typeface="+mn-lt"/>
                          <a:ea typeface="+mn-ea"/>
                          <a:cs typeface="+mn-cs"/>
                        </a:rPr>
                        <a:t>Keeps global AI/IoT/software teams aligned and provides fast feedback loops.</a:t>
                      </a:r>
                    </a:p>
                  </a:txBody>
                  <a:tcPr marL="68580" marR="68580" marT="0" marB="0" anchor="ctr">
                    <a:solidFill>
                      <a:srgbClr val="145C94"/>
                    </a:solidFill>
                  </a:tcPr>
                </a:tc>
                <a:extLst>
                  <a:ext uri="{0D108BD9-81ED-4DB2-BD59-A6C34878D82A}">
                    <a16:rowId xmlns:a16="http://schemas.microsoft.com/office/drawing/2014/main" val="2609975067"/>
                  </a:ext>
                </a:extLst>
              </a:tr>
              <a:tr h="1813053">
                <a:tc>
                  <a:txBody>
                    <a:bodyPr/>
                    <a:lstStyle/>
                    <a:p>
                      <a:pPr marL="0" marR="0" algn="ctr">
                        <a:lnSpc>
                          <a:spcPct val="116000"/>
                        </a:lnSpc>
                        <a:spcAft>
                          <a:spcPts val="800"/>
                        </a:spcAft>
                        <a:buNone/>
                      </a:pPr>
                      <a:r>
                        <a:rPr lang="en-US" sz="2800" b="1" kern="1200">
                          <a:solidFill>
                            <a:srgbClr val="FFFFFF"/>
                          </a:solidFill>
                          <a:latin typeface="+mn-lt"/>
                          <a:ea typeface="+mn-ea"/>
                          <a:cs typeface="+mn-cs"/>
                        </a:rPr>
                        <a:t>Cultural transformation</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Lean-Agile Leadership + Servant Leadership</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Leaders model agile behaviors, empower teams, and shift culture from hierarchy to collaboration.</a:t>
                      </a:r>
                    </a:p>
                  </a:txBody>
                  <a:tcPr marL="68580" marR="68580" marT="0" marB="0" anchor="ctr">
                    <a:solidFill>
                      <a:srgbClr val="145C94"/>
                    </a:solidFill>
                  </a:tcPr>
                </a:tc>
                <a:extLst>
                  <a:ext uri="{0D108BD9-81ED-4DB2-BD59-A6C34878D82A}">
                    <a16:rowId xmlns:a16="http://schemas.microsoft.com/office/drawing/2014/main" val="3372142672"/>
                  </a:ext>
                </a:extLst>
              </a:tr>
              <a:tr h="1245465">
                <a:tc>
                  <a:txBody>
                    <a:bodyPr/>
                    <a:lstStyle/>
                    <a:p>
                      <a:pPr marL="0" marR="0" algn="ctr">
                        <a:lnSpc>
                          <a:spcPct val="116000"/>
                        </a:lnSpc>
                        <a:spcAft>
                          <a:spcPts val="800"/>
                        </a:spcAft>
                        <a:buNone/>
                      </a:pPr>
                      <a:r>
                        <a:rPr lang="en-US" sz="2800" b="1" kern="1200">
                          <a:solidFill>
                            <a:srgbClr val="FFFFFF"/>
                          </a:solidFill>
                          <a:latin typeface="+mn-lt"/>
                          <a:ea typeface="+mn-ea"/>
                          <a:cs typeface="+mn-cs"/>
                        </a:rPr>
                        <a:t>Sustainability &amp; regulation</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Lean Portfolio Management</a:t>
                      </a:r>
                    </a:p>
                  </a:txBody>
                  <a:tcPr marL="68580" marR="68580" marT="0" marB="0" anchor="ctr">
                    <a:solidFill>
                      <a:srgbClr val="145C94"/>
                    </a:solidFill>
                  </a:tcPr>
                </a:tc>
                <a:tc>
                  <a:txBody>
                    <a:bodyPr/>
                    <a:lstStyle/>
                    <a:p>
                      <a:pPr marL="0" marR="0" algn="ctr">
                        <a:lnSpc>
                          <a:spcPct val="116000"/>
                        </a:lnSpc>
                        <a:spcAft>
                          <a:spcPts val="800"/>
                        </a:spcAft>
                        <a:buNone/>
                      </a:pPr>
                      <a:r>
                        <a:rPr lang="en-US" sz="2800" b="1" kern="1200" dirty="0">
                          <a:solidFill>
                            <a:srgbClr val="FFFFFF"/>
                          </a:solidFill>
                          <a:latin typeface="+mn-lt"/>
                          <a:ea typeface="+mn-ea"/>
                          <a:cs typeface="+mn-cs"/>
                        </a:rPr>
                        <a:t>Ensures innovation is aligned with compliance, ESG targets, and customer value.</a:t>
                      </a:r>
                    </a:p>
                  </a:txBody>
                  <a:tcPr marL="68580" marR="68580" marT="0" marB="0" anchor="ctr">
                    <a:solidFill>
                      <a:srgbClr val="145C94"/>
                    </a:solidFill>
                  </a:tcPr>
                </a:tc>
                <a:extLst>
                  <a:ext uri="{0D108BD9-81ED-4DB2-BD59-A6C34878D82A}">
                    <a16:rowId xmlns:a16="http://schemas.microsoft.com/office/drawing/2014/main" val="2802694530"/>
                  </a:ext>
                </a:extLst>
              </a:tr>
            </a:tbl>
          </a:graphicData>
        </a:graphic>
      </p:graphicFrame>
      <p:sp>
        <p:nvSpPr>
          <p:cNvPr id="6" name="TextBox 5"/>
          <p:cNvSpPr txBox="1"/>
          <p:nvPr/>
        </p:nvSpPr>
        <p:spPr>
          <a:xfrm>
            <a:off x="3636817" y="9626602"/>
            <a:ext cx="11391692" cy="461665"/>
          </a:xfrm>
          <a:prstGeom prst="rect">
            <a:avLst/>
          </a:prstGeom>
          <a:noFill/>
        </p:spPr>
        <p:txBody>
          <a:bodyPr wrap="square" rtlCol="0">
            <a:spAutoFit/>
          </a:bodyPr>
          <a:lstStyle/>
          <a:p>
            <a:r>
              <a:rPr lang="en-US" sz="2400" b="1" dirty="0"/>
              <a:t>Table 1: Siemens’s  industrial Challenges and Opportunities with </a:t>
            </a:r>
            <a:r>
              <a:rPr lang="en-US" sz="2400" b="1" dirty="0" err="1"/>
              <a:t>SAFe</a:t>
            </a:r>
            <a:r>
              <a:rPr lang="en-US" sz="2400" b="1" dirty="0"/>
              <a:t> implementations. </a:t>
            </a:r>
          </a:p>
        </p:txBody>
      </p:sp>
      <p:pic>
        <p:nvPicPr>
          <p:cNvPr id="8" name="Introduction_Olusola">
            <a:hlinkClick r:id="" action="ppaction://media"/>
          </p:cNvPr>
          <p:cNvPicPr>
            <a:picLocks noChangeAspect="1"/>
          </p:cNvPicPr>
          <p:nvPr>
            <a:audioFile r:link="rId1"/>
            <p:extLst>
              <p:ext uri="{DAA4B4D4-6D71-4841-9C94-3DE7FCFB9230}">
                <p14:media xmlns:p14="http://schemas.microsoft.com/office/powerpoint/2010/main" r:embed="rId2">
                  <p14:trim st="209777" end="15818.6666"/>
                </p14:media>
              </p:ext>
            </p:extLst>
          </p:nvPr>
        </p:nvPicPr>
        <p:blipFill>
          <a:blip r:embed="rId5"/>
          <a:stretch>
            <a:fillRect/>
          </a:stretch>
        </p:blipFill>
        <p:spPr>
          <a:xfrm>
            <a:off x="2431045" y="-85343"/>
            <a:ext cx="1793227" cy="1793227"/>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2655" fill="hold"/>
                                        <p:tgtEl>
                                          <p:spTgt spid="8"/>
                                        </p:tgtEl>
                                      </p:cBhvr>
                                    </p:cmd>
                                  </p:childTnLst>
                                </p:cTn>
                              </p:par>
                            </p:childTnLst>
                          </p:cTn>
                        </p:par>
                      </p:childTnLst>
                    </p:cTn>
                  </p:par>
                </p:childTnLst>
              </p:cTn>
              <p:nextCondLst>
                <p:cond evt="onClick" delay="0">
                  <p:tgtEl>
                    <p:spTgt spid="8"/>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7A367-E01E-D603-E369-8C0E83CB8F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6A9AB7-C97B-3C13-5244-0A4585FB465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C5859D4B-75FF-DFA1-5498-1DBF0D42072B}"/>
              </a:ext>
            </a:extLst>
          </p:cNvPr>
          <p:cNvGrpSpPr/>
          <p:nvPr/>
        </p:nvGrpSpPr>
        <p:grpSpPr>
          <a:xfrm>
            <a:off x="1028700" y="0"/>
            <a:ext cx="16230600" cy="10287000"/>
            <a:chOff x="0" y="0"/>
            <a:chExt cx="4274726" cy="2167467"/>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grpSpPr>
        <p:sp>
          <p:nvSpPr>
            <p:cNvPr id="4" name="Freeform 4">
              <a:extLst>
                <a:ext uri="{FF2B5EF4-FFF2-40B4-BE49-F238E27FC236}">
                  <a16:creationId xmlns:a16="http://schemas.microsoft.com/office/drawing/2014/main" id="{66B7359E-3603-D42B-2988-2A8A62600A44}"/>
                </a:ext>
              </a:extLst>
            </p:cNvPr>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grpFill/>
          </p:spPr>
          <p:txBody>
            <a:bodyPr/>
            <a:lstStyle/>
            <a:p>
              <a:endParaRPr lang="en-US"/>
            </a:p>
          </p:txBody>
        </p:sp>
        <p:sp>
          <p:nvSpPr>
            <p:cNvPr id="5" name="TextBox 5">
              <a:extLst>
                <a:ext uri="{FF2B5EF4-FFF2-40B4-BE49-F238E27FC236}">
                  <a16:creationId xmlns:a16="http://schemas.microsoft.com/office/drawing/2014/main" id="{493C4886-71A6-9338-F79E-B0F2EDE276C4}"/>
                </a:ext>
              </a:extLst>
            </p:cNvPr>
            <p:cNvSpPr txBox="1"/>
            <p:nvPr/>
          </p:nvSpPr>
          <p:spPr>
            <a:xfrm>
              <a:off x="0" y="-38100"/>
              <a:ext cx="4274726" cy="2205567"/>
            </a:xfrm>
            <a:prstGeom prst="rect">
              <a:avLst/>
            </a:prstGeom>
            <a:grpFill/>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292A3071-627D-9989-A002-B53B663C5C12}"/>
              </a:ext>
            </a:extLst>
          </p:cNvPr>
          <p:cNvSpPr txBox="1"/>
          <p:nvPr/>
        </p:nvSpPr>
        <p:spPr>
          <a:xfrm>
            <a:off x="1123950" y="789978"/>
            <a:ext cx="16040099" cy="1231106"/>
          </a:xfrm>
          <a:prstGeom prst="rect">
            <a:avLst/>
          </a:prstGeom>
        </p:spPr>
        <p:txBody>
          <a:bodyPr wrap="square" lIns="0" tIns="0" rIns="0" bIns="0" rtlCol="0" anchor="t">
            <a:spAutoFit/>
          </a:bodyPr>
          <a:lstStyle/>
          <a:p>
            <a:pPr algn="ctr">
              <a:lnSpc>
                <a:spcPts val="9600"/>
              </a:lnSpc>
            </a:pPr>
            <a:r>
              <a:rPr lang="en-US" sz="6000" b="1" dirty="0">
                <a:solidFill>
                  <a:srgbClr val="FFFFFF"/>
                </a:solidFill>
                <a:latin typeface="+mj-lt"/>
              </a:rPr>
              <a:t>Siemens AI Home Appliances (SAHA) Content:</a:t>
            </a:r>
          </a:p>
        </p:txBody>
      </p:sp>
      <p:sp>
        <p:nvSpPr>
          <p:cNvPr id="9" name="TextBox 8">
            <a:extLst>
              <a:ext uri="{FF2B5EF4-FFF2-40B4-BE49-F238E27FC236}">
                <a16:creationId xmlns:a16="http://schemas.microsoft.com/office/drawing/2014/main" id="{46FD3D73-73C1-D7E0-494F-AED323865E4E}"/>
              </a:ext>
            </a:extLst>
          </p:cNvPr>
          <p:cNvSpPr txBox="1"/>
          <p:nvPr/>
        </p:nvSpPr>
        <p:spPr>
          <a:xfrm>
            <a:off x="1600200" y="2887943"/>
            <a:ext cx="8208818" cy="4898457"/>
          </a:xfrm>
          <a:prstGeom prst="rect">
            <a:avLst/>
          </a:prstGeom>
          <a:noFill/>
        </p:spPr>
        <p:txBody>
          <a:bodyPr wrap="square">
            <a:spAutoFit/>
          </a:bodyPr>
          <a:lstStyle/>
          <a:p>
            <a:pPr marL="342900" indent="-342900" algn="just">
              <a:lnSpc>
                <a:spcPct val="116000"/>
              </a:lnSpc>
              <a:spcAft>
                <a:spcPts val="800"/>
              </a:spcAft>
              <a:buFont typeface="Symbol" pitchFamily="2" charset="2"/>
              <a:buChar char=""/>
            </a:pPr>
            <a:r>
              <a:rPr lang="en-US" sz="2800" b="1" dirty="0">
                <a:solidFill>
                  <a:srgbClr val="FFFFFF"/>
                </a:solidFill>
                <a:latin typeface="Canva Sans Medium"/>
              </a:rPr>
              <a:t>SAHA is part of Siemens Digital Industries Software.</a:t>
            </a:r>
          </a:p>
          <a:p>
            <a:pPr marL="342900" indent="-342900" algn="just">
              <a:lnSpc>
                <a:spcPct val="116000"/>
              </a:lnSpc>
              <a:spcAft>
                <a:spcPts val="800"/>
              </a:spcAft>
              <a:buFont typeface="Symbol" pitchFamily="2" charset="2"/>
              <a:buChar char=""/>
            </a:pPr>
            <a:r>
              <a:rPr lang="en-US" sz="2800" b="1" dirty="0">
                <a:solidFill>
                  <a:srgbClr val="FFFFFF"/>
                </a:solidFill>
                <a:latin typeface="Canva Sans Medium"/>
              </a:rPr>
              <a:t>Focuses on embedding AI, </a:t>
            </a:r>
            <a:r>
              <a:rPr lang="en-US" sz="2800" b="1" dirty="0" err="1">
                <a:solidFill>
                  <a:srgbClr val="FFFFFF"/>
                </a:solidFill>
                <a:latin typeface="Canva Sans Medium"/>
              </a:rPr>
              <a:t>IoT</a:t>
            </a:r>
            <a:r>
              <a:rPr lang="en-US" sz="2800" b="1" dirty="0">
                <a:solidFill>
                  <a:srgbClr val="FFFFFF"/>
                </a:solidFill>
                <a:latin typeface="Canva Sans Medium"/>
              </a:rPr>
              <a:t>, and cloud into appliances (washing machines, smart ovens, etc.).</a:t>
            </a:r>
          </a:p>
          <a:p>
            <a:pPr marL="342900" indent="-342900" algn="just">
              <a:lnSpc>
                <a:spcPct val="116000"/>
              </a:lnSpc>
              <a:spcAft>
                <a:spcPts val="800"/>
              </a:spcAft>
              <a:buFont typeface="Symbol" pitchFamily="2" charset="2"/>
              <a:buChar char=""/>
            </a:pPr>
            <a:r>
              <a:rPr lang="en-US" sz="2800" b="1" dirty="0">
                <a:solidFill>
                  <a:srgbClr val="FFFFFF"/>
                </a:solidFill>
                <a:latin typeface="Canva Sans Medium"/>
              </a:rPr>
              <a:t>Mission: Deliver intelligent, sustainable, and adaptive solutions (Siemens, 2024).</a:t>
            </a:r>
          </a:p>
          <a:p>
            <a:pPr marL="342900" indent="-342900" algn="just">
              <a:lnSpc>
                <a:spcPct val="116000"/>
              </a:lnSpc>
              <a:spcAft>
                <a:spcPts val="800"/>
              </a:spcAft>
              <a:buFont typeface="Symbol" pitchFamily="2" charset="2"/>
              <a:buChar char=""/>
            </a:pPr>
            <a:r>
              <a:rPr lang="en-US" sz="2800" b="1" dirty="0">
                <a:solidFill>
                  <a:srgbClr val="FFFFFF"/>
                </a:solidFill>
                <a:latin typeface="Canva Sans Medium"/>
              </a:rPr>
              <a:t>Aligns with Siemens’ Digital Enterprise strategy for connectivity and innovation.</a:t>
            </a:r>
          </a:p>
        </p:txBody>
      </p:sp>
      <p:pic>
        <p:nvPicPr>
          <p:cNvPr id="14" name="Picture 13">
            <a:extLst>
              <a:ext uri="{FF2B5EF4-FFF2-40B4-BE49-F238E27FC236}">
                <a16:creationId xmlns:a16="http://schemas.microsoft.com/office/drawing/2014/main" id="{A7548CFD-A550-0949-C5C8-95A2CBEFFA02}"/>
              </a:ext>
            </a:extLst>
          </p:cNvPr>
          <p:cNvPicPr>
            <a:picLocks noChangeAspect="1"/>
          </p:cNvPicPr>
          <p:nvPr/>
        </p:nvPicPr>
        <p:blipFill>
          <a:blip r:embed="rId6"/>
          <a:stretch>
            <a:fillRect/>
          </a:stretch>
        </p:blipFill>
        <p:spPr>
          <a:xfrm>
            <a:off x="10413492" y="2602844"/>
            <a:ext cx="6033516" cy="5044865"/>
          </a:xfrm>
          <a:prstGeom prst="rect">
            <a:avLst/>
          </a:prstGeom>
        </p:spPr>
      </p:pic>
      <p:sp>
        <p:nvSpPr>
          <p:cNvPr id="10" name="TextBox 9"/>
          <p:cNvSpPr txBox="1"/>
          <p:nvPr/>
        </p:nvSpPr>
        <p:spPr>
          <a:xfrm>
            <a:off x="9809017" y="7860575"/>
            <a:ext cx="7796437" cy="830997"/>
          </a:xfrm>
          <a:prstGeom prst="rect">
            <a:avLst/>
          </a:prstGeom>
          <a:noFill/>
        </p:spPr>
        <p:txBody>
          <a:bodyPr wrap="square" rtlCol="0">
            <a:spAutoFit/>
          </a:bodyPr>
          <a:lstStyle/>
          <a:p>
            <a:r>
              <a:rPr lang="en-US" sz="2400" b="1" dirty="0"/>
              <a:t>Image 1: AI Home appliances powered House depiction (personal collection, 2025)</a:t>
            </a:r>
          </a:p>
        </p:txBody>
      </p:sp>
      <p:pic>
        <p:nvPicPr>
          <p:cNvPr id="7" name="Vera 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5054601" y="7860575"/>
            <a:ext cx="2133599" cy="2133599"/>
          </a:xfrm>
          <a:prstGeom prst="rect">
            <a:avLst/>
          </a:prstGeom>
        </p:spPr>
      </p:pic>
    </p:spTree>
    <p:extLst>
      <p:ext uri="{BB962C8B-B14F-4D97-AF65-F5344CB8AC3E}">
        <p14:creationId xmlns:p14="http://schemas.microsoft.com/office/powerpoint/2010/main" val="141756198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0016" fill="hold"/>
                                        <p:tgtEl>
                                          <p:spTgt spid="7"/>
                                        </p:tgtEl>
                                      </p:cBhvr>
                                    </p:cmd>
                                  </p:childTnLst>
                                </p:cTn>
                              </p:par>
                            </p:childTnLst>
                          </p:cTn>
                        </p:par>
                      </p:childTnLst>
                    </p:cTn>
                  </p:par>
                </p:childTnLst>
              </p:cTn>
              <p:nextCondLst>
                <p:cond evt="onClick" delay="0">
                  <p:tgtEl>
                    <p:spTgt spid="7"/>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7408-7C24-5ADF-18DE-F778C8EA28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876180-84A5-0F28-C191-AF7EE26BAC5F}"/>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sp>
        <p:nvSpPr>
          <p:cNvPr id="5" name="TextBox 5">
            <a:extLst>
              <a:ext uri="{FF2B5EF4-FFF2-40B4-BE49-F238E27FC236}">
                <a16:creationId xmlns:a16="http://schemas.microsoft.com/office/drawing/2014/main" id="{9449D66E-372F-AE1B-E8CE-23F176778612}"/>
              </a:ext>
            </a:extLst>
          </p:cNvPr>
          <p:cNvSpPr txBox="1"/>
          <p:nvPr/>
        </p:nvSpPr>
        <p:spPr>
          <a:xfrm>
            <a:off x="0" y="411118"/>
            <a:ext cx="18288000" cy="1231106"/>
          </a:xfrm>
          <a:prstGeom prst="rect">
            <a:avLst/>
          </a:prstGeom>
        </p:spPr>
        <p:txBody>
          <a:bodyPr wrap="square" lIns="0" tIns="0" rIns="0" bIns="0" rtlCol="0" anchor="t">
            <a:spAutoFit/>
          </a:bodyPr>
          <a:lstStyle/>
          <a:p>
            <a:pPr lvl="0" algn="ctr">
              <a:lnSpc>
                <a:spcPts val="9600"/>
              </a:lnSpc>
            </a:pPr>
            <a:r>
              <a:rPr lang="en-US" sz="6600" b="1" dirty="0">
                <a:solidFill>
                  <a:srgbClr val="0B4E7C"/>
                </a:solidFill>
                <a:latin typeface="+mj-lt"/>
              </a:rPr>
              <a:t>S.A.H.A Project’s Budget Overview</a:t>
            </a:r>
            <a:endParaRPr lang="en-US" sz="6600" b="1" dirty="0">
              <a:solidFill>
                <a:srgbClr val="0B4E7C"/>
              </a:solidFill>
              <a:latin typeface="+mj-lt"/>
              <a:sym typeface="Rustic Printed"/>
            </a:endParaRPr>
          </a:p>
        </p:txBody>
      </p:sp>
      <p:sp>
        <p:nvSpPr>
          <p:cNvPr id="15" name="TextBox 14">
            <a:extLst>
              <a:ext uri="{FF2B5EF4-FFF2-40B4-BE49-F238E27FC236}">
                <a16:creationId xmlns:a16="http://schemas.microsoft.com/office/drawing/2014/main" id="{1B2A8DB6-DE1B-C09A-8523-5148CCCFBA82}"/>
              </a:ext>
            </a:extLst>
          </p:cNvPr>
          <p:cNvSpPr txBox="1"/>
          <p:nvPr/>
        </p:nvSpPr>
        <p:spPr>
          <a:xfrm>
            <a:off x="-2" y="2387898"/>
            <a:ext cx="18288001" cy="6028573"/>
          </a:xfrm>
          <a:prstGeom prst="rect">
            <a:avLst/>
          </a:prstGeom>
          <a:solidFill>
            <a:srgbClr val="145C94"/>
          </a:solidFill>
        </p:spPr>
        <p:txBody>
          <a:bodyPr wrap="square">
            <a:spAutoFit/>
          </a:bodyPr>
          <a:lstStyle/>
          <a:p>
            <a:pPr marL="0" marR="0">
              <a:lnSpc>
                <a:spcPct val="116000"/>
              </a:lnSpc>
              <a:spcAft>
                <a:spcPts val="800"/>
              </a:spcAft>
              <a:buNone/>
            </a:pPr>
            <a:r>
              <a:rPr lang="en-US" sz="3600" b="1" spc="300" dirty="0">
                <a:solidFill>
                  <a:schemeClr val="bg1"/>
                </a:solidFill>
                <a:latin typeface="Canva Sans Medium"/>
              </a:rPr>
              <a:t>Budget Highlights</a:t>
            </a:r>
          </a:p>
          <a:p>
            <a:pPr marL="342900" marR="0" lvl="0" indent="-342900">
              <a:lnSpc>
                <a:spcPct val="116000"/>
              </a:lnSpc>
              <a:buFont typeface="Symbol" pitchFamily="2" charset="2"/>
              <a:buChar char=""/>
            </a:pPr>
            <a:r>
              <a:rPr lang="en-US" sz="3600" b="1" spc="300" dirty="0">
                <a:solidFill>
                  <a:schemeClr val="bg1"/>
                </a:solidFill>
                <a:latin typeface="Canva Sans Medium"/>
              </a:rPr>
              <a:t>Siemens invests €6B+ annually in R&amp;D, prioritizing AI and digitalization (Siemens, 2024).</a:t>
            </a:r>
          </a:p>
          <a:p>
            <a:pPr marL="342900" marR="0" lvl="0" indent="-342900">
              <a:lnSpc>
                <a:spcPct val="116000"/>
              </a:lnSpc>
              <a:buFont typeface="Symbol" pitchFamily="2" charset="2"/>
              <a:buChar char=""/>
            </a:pPr>
            <a:r>
              <a:rPr lang="en-US" sz="3600" b="1" spc="300" dirty="0">
                <a:solidFill>
                  <a:schemeClr val="bg1"/>
                </a:solidFill>
                <a:latin typeface="Canva Sans Medium"/>
              </a:rPr>
              <a:t>Focus on:</a:t>
            </a:r>
          </a:p>
          <a:p>
            <a:pPr marL="742950" marR="0" lvl="1" indent="-285750">
              <a:lnSpc>
                <a:spcPct val="116000"/>
              </a:lnSpc>
              <a:buFont typeface="Courier New" panose="02070309020205020404" pitchFamily="49" charset="0"/>
              <a:buChar char="o"/>
            </a:pPr>
            <a:r>
              <a:rPr lang="en-US" sz="3600" b="1" spc="300" dirty="0">
                <a:solidFill>
                  <a:schemeClr val="bg1"/>
                </a:solidFill>
                <a:latin typeface="Canva Sans Medium"/>
              </a:rPr>
              <a:t>AI/ML model testing</a:t>
            </a:r>
          </a:p>
          <a:p>
            <a:pPr marL="742950" marR="0" lvl="1" indent="-285750">
              <a:lnSpc>
                <a:spcPct val="116000"/>
              </a:lnSpc>
              <a:buFont typeface="Courier New" panose="02070309020205020404" pitchFamily="49" charset="0"/>
              <a:buChar char="o"/>
            </a:pPr>
            <a:r>
              <a:rPr lang="en-US" sz="3600" b="1" spc="300" dirty="0">
                <a:solidFill>
                  <a:schemeClr val="bg1"/>
                </a:solidFill>
                <a:latin typeface="Canva Sans Medium"/>
              </a:rPr>
              <a:t>IoT/cloud infrastructure (</a:t>
            </a:r>
            <a:r>
              <a:rPr lang="en-US" sz="3600" b="1" spc="300" dirty="0" err="1">
                <a:solidFill>
                  <a:schemeClr val="bg1"/>
                </a:solidFill>
                <a:latin typeface="Canva Sans Medium"/>
              </a:rPr>
              <a:t>MindSphere</a:t>
            </a:r>
            <a:r>
              <a:rPr lang="en-US" sz="3600" b="1" spc="300" dirty="0">
                <a:solidFill>
                  <a:schemeClr val="bg1"/>
                </a:solidFill>
                <a:latin typeface="Canva Sans Medium"/>
              </a:rPr>
              <a:t>, Azure)</a:t>
            </a:r>
          </a:p>
          <a:p>
            <a:pPr marL="742950" marR="0" lvl="1" indent="-285750">
              <a:lnSpc>
                <a:spcPct val="116000"/>
              </a:lnSpc>
              <a:buFont typeface="Courier New" panose="02070309020205020404" pitchFamily="49" charset="0"/>
              <a:buChar char="o"/>
            </a:pPr>
            <a:r>
              <a:rPr lang="en-US" sz="3600" b="1" spc="300" dirty="0">
                <a:solidFill>
                  <a:schemeClr val="bg1"/>
                </a:solidFill>
                <a:latin typeface="Canva Sans Medium"/>
              </a:rPr>
              <a:t>UX/UI design &amp; cybersecurity</a:t>
            </a:r>
          </a:p>
          <a:p>
            <a:pPr marL="742950" marR="0" lvl="1" indent="-285750">
              <a:lnSpc>
                <a:spcPct val="116000"/>
              </a:lnSpc>
              <a:spcAft>
                <a:spcPts val="800"/>
              </a:spcAft>
              <a:buFont typeface="Courier New" panose="02070309020205020404" pitchFamily="49" charset="0"/>
              <a:buChar char="o"/>
            </a:pPr>
            <a:r>
              <a:rPr lang="en-US" sz="3600" b="1" spc="300" dirty="0">
                <a:solidFill>
                  <a:schemeClr val="bg1"/>
                </a:solidFill>
                <a:latin typeface="Canva Sans Medium"/>
              </a:rPr>
              <a:t>Sustainability standards</a:t>
            </a:r>
          </a:p>
          <a:p>
            <a:pPr marL="742950" marR="0" lvl="1" indent="-285750">
              <a:lnSpc>
                <a:spcPct val="116000"/>
              </a:lnSpc>
              <a:spcAft>
                <a:spcPts val="800"/>
              </a:spcAft>
              <a:buFont typeface="Courier New" panose="02070309020205020404" pitchFamily="49" charset="0"/>
              <a:buChar char="o"/>
            </a:pPr>
            <a:endParaRPr lang="en-US" sz="3600" spc="300" dirty="0">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12" name="Freeform 3">
            <a:extLst>
              <a:ext uri="{FF2B5EF4-FFF2-40B4-BE49-F238E27FC236}">
                <a16:creationId xmlns:a16="http://schemas.microsoft.com/office/drawing/2014/main" id="{CA7C518B-0263-51CD-EF8A-332CF9C674C4}"/>
              </a:ext>
            </a:extLst>
          </p:cNvPr>
          <p:cNvSpPr/>
          <p:nvPr/>
        </p:nvSpPr>
        <p:spPr>
          <a:xfrm flipH="1">
            <a:off x="13923817" y="7253186"/>
            <a:ext cx="3597484" cy="3033814"/>
          </a:xfrm>
          <a:custGeom>
            <a:avLst/>
            <a:gdLst/>
            <a:ahLst/>
            <a:cxnLst/>
            <a:rect l="l" t="t" r="r" b="b"/>
            <a:pathLst>
              <a:path w="7669569" h="6247213">
                <a:moveTo>
                  <a:pt x="0" y="0"/>
                </a:moveTo>
                <a:lnTo>
                  <a:pt x="7669569" y="0"/>
                </a:lnTo>
                <a:lnTo>
                  <a:pt x="7669569" y="6247212"/>
                </a:lnTo>
                <a:lnTo>
                  <a:pt x="0" y="624721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pic>
        <p:nvPicPr>
          <p:cNvPr id="7" name="Vera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4744796" y="4550511"/>
            <a:ext cx="1957001" cy="1957001"/>
          </a:xfrm>
          <a:prstGeom prst="rect">
            <a:avLst/>
          </a:prstGeom>
        </p:spPr>
      </p:pic>
    </p:spTree>
    <p:extLst>
      <p:ext uri="{BB962C8B-B14F-4D97-AF65-F5344CB8AC3E}">
        <p14:creationId xmlns:p14="http://schemas.microsoft.com/office/powerpoint/2010/main" val="412526600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15477" fill="hold"/>
                                        <p:tgtEl>
                                          <p:spTgt spid="7"/>
                                        </p:tgtEl>
                                      </p:cBhvr>
                                    </p:cmd>
                                  </p:childTnLst>
                                </p:cTn>
                              </p:par>
                            </p:childTnLst>
                          </p:cTn>
                        </p:par>
                      </p:childTnLst>
                    </p:cTn>
                  </p:par>
                </p:childTnLst>
              </p:cTn>
              <p:nextCondLst>
                <p:cond evt="onClick" delay="0">
                  <p:tgtEl>
                    <p:spTgt spid="7"/>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DF49-F368-72F0-57B7-512761AAF5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A8784A-4770-ADBA-BCD4-8ABCAD4BC89A}"/>
              </a:ext>
            </a:extLst>
          </p:cNvPr>
          <p:cNvSpPr/>
          <p:nvPr/>
        </p:nvSpPr>
        <p:spPr>
          <a:xfrm>
            <a:off x="0" y="-1"/>
            <a:ext cx="18288000" cy="10432473"/>
          </a:xfrm>
          <a:custGeom>
            <a:avLst/>
            <a:gdLst/>
            <a:ahLst/>
            <a:cxnLst/>
            <a:rect l="l" t="t" r="r" b="b"/>
            <a:pathLst>
              <a:path w="18288000" h="10287000">
                <a:moveTo>
                  <a:pt x="0" y="0"/>
                </a:moveTo>
                <a:lnTo>
                  <a:pt x="18288000" y="0"/>
                </a:lnTo>
                <a:lnTo>
                  <a:pt x="18288000" y="10287000"/>
                </a:lnTo>
                <a:lnTo>
                  <a:pt x="0" y="10287000"/>
                </a:lnTo>
                <a:lnTo>
                  <a:pt x="0" y="0"/>
                </a:ln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txBody>
          <a:bodyPr/>
          <a:lstStyle/>
          <a:p>
            <a:endParaRPr lang="en-US"/>
          </a:p>
        </p:txBody>
      </p:sp>
      <p:sp>
        <p:nvSpPr>
          <p:cNvPr id="5" name="TextBox 5">
            <a:extLst>
              <a:ext uri="{FF2B5EF4-FFF2-40B4-BE49-F238E27FC236}">
                <a16:creationId xmlns:a16="http://schemas.microsoft.com/office/drawing/2014/main" id="{D9827ED5-4AE8-CD03-7106-045FE4519266}"/>
              </a:ext>
            </a:extLst>
          </p:cNvPr>
          <p:cNvSpPr txBox="1">
            <a:spLocks noGrp="1" noRot="1" noMove="1" noResize="1" noEditPoints="1" noAdjustHandles="1" noChangeArrowheads="1" noChangeShapeType="1"/>
          </p:cNvSpPr>
          <p:nvPr/>
        </p:nvSpPr>
        <p:spPr>
          <a:xfrm>
            <a:off x="1028700" y="884039"/>
            <a:ext cx="16230600" cy="8374261"/>
          </a:xfrm>
          <a:prstGeom prst="rect">
            <a:avLst/>
          </a:prstGeom>
        </p:spPr>
        <p:txBody>
          <a:bodyPr lIns="50800" tIns="50800" rIns="50800" bIns="50800" rtlCol="0" anchor="ctr"/>
          <a:lstStyle/>
          <a:p>
            <a:pPr algn="ctr">
              <a:lnSpc>
                <a:spcPts val="2659"/>
              </a:lnSpc>
              <a:spcBef>
                <a:spcPct val="0"/>
              </a:spcBef>
            </a:pPr>
            <a:endParaRPr/>
          </a:p>
        </p:txBody>
      </p:sp>
      <p:sp>
        <p:nvSpPr>
          <p:cNvPr id="6" name="TextBox 6">
            <a:extLst>
              <a:ext uri="{FF2B5EF4-FFF2-40B4-BE49-F238E27FC236}">
                <a16:creationId xmlns:a16="http://schemas.microsoft.com/office/drawing/2014/main" id="{699B97D2-271B-BB2E-165F-3DF02B2202AE}"/>
              </a:ext>
            </a:extLst>
          </p:cNvPr>
          <p:cNvSpPr txBox="1"/>
          <p:nvPr/>
        </p:nvSpPr>
        <p:spPr>
          <a:xfrm>
            <a:off x="1123950" y="412405"/>
            <a:ext cx="16040099" cy="1231106"/>
          </a:xfrm>
          <a:prstGeom prst="rect">
            <a:avLst/>
          </a:prstGeom>
        </p:spPr>
        <p:txBody>
          <a:bodyPr wrap="square" lIns="0" tIns="0" rIns="0" bIns="0" rtlCol="0" anchor="t">
            <a:spAutoFit/>
          </a:bodyPr>
          <a:lstStyle/>
          <a:p>
            <a:pPr algn="ctr">
              <a:lnSpc>
                <a:spcPts val="9600"/>
              </a:lnSpc>
            </a:pPr>
            <a:r>
              <a:rPr lang="en-US" sz="8000" b="1" dirty="0" err="1">
                <a:solidFill>
                  <a:srgbClr val="FFFFFF"/>
                </a:solidFill>
                <a:latin typeface="+mj-lt"/>
              </a:rPr>
              <a:t>SAFe</a:t>
            </a:r>
            <a:r>
              <a:rPr lang="en-US" sz="8000" b="1" dirty="0">
                <a:solidFill>
                  <a:srgbClr val="FFFFFF"/>
                </a:solidFill>
                <a:latin typeface="+mj-lt"/>
              </a:rPr>
              <a:t> IMPLEMENTATION STEPS </a:t>
            </a:r>
          </a:p>
        </p:txBody>
      </p:sp>
      <p:sp>
        <p:nvSpPr>
          <p:cNvPr id="9" name="TextBox 8">
            <a:extLst>
              <a:ext uri="{FF2B5EF4-FFF2-40B4-BE49-F238E27FC236}">
                <a16:creationId xmlns:a16="http://schemas.microsoft.com/office/drawing/2014/main" id="{50F36486-9715-8A53-924C-6E5801D8E0CA}"/>
              </a:ext>
            </a:extLst>
          </p:cNvPr>
          <p:cNvSpPr txBox="1"/>
          <p:nvPr/>
        </p:nvSpPr>
        <p:spPr>
          <a:xfrm>
            <a:off x="1279806" y="1842838"/>
            <a:ext cx="14097043" cy="7917232"/>
          </a:xfrm>
          <a:prstGeom prst="rect">
            <a:avLst/>
          </a:prstGeom>
          <a:noFill/>
        </p:spPr>
        <p:txBody>
          <a:bodyPr wrap="square">
            <a:spAutoFit/>
          </a:bodyPr>
          <a:lstStyle/>
          <a:p>
            <a:pPr marL="285750" lvl="0" indent="-285750" algn="just">
              <a:buFont typeface="Arial" panose="020B0604020202020204" pitchFamily="34" charset="0"/>
              <a:buChar char="•"/>
            </a:pPr>
            <a:r>
              <a:rPr lang="en-US" sz="2800" spc="300" dirty="0">
                <a:solidFill>
                  <a:srgbClr val="FFFFFF"/>
                </a:solidFill>
              </a:rPr>
              <a:t>Preparation &amp; Training – </a:t>
            </a:r>
            <a:r>
              <a:rPr lang="en-US" sz="2800" spc="300" dirty="0" err="1">
                <a:solidFill>
                  <a:srgbClr val="FFFFFF"/>
                </a:solidFill>
              </a:rPr>
              <a:t>SAFe</a:t>
            </a:r>
            <a:r>
              <a:rPr lang="en-US" sz="2800" spc="300" dirty="0">
                <a:solidFill>
                  <a:srgbClr val="FFFFFF"/>
                </a:solidFill>
              </a:rPr>
              <a:t> training and LACE setup.</a:t>
            </a:r>
          </a:p>
          <a:p>
            <a:pPr lvl="0" algn="just"/>
            <a:endParaRPr lang="en-US" sz="2800" spc="300" dirty="0">
              <a:solidFill>
                <a:srgbClr val="FFFFFF"/>
              </a:solidFill>
            </a:endParaRPr>
          </a:p>
          <a:p>
            <a:pPr marL="285750" lvl="0" indent="-285750" algn="just">
              <a:buFont typeface="Arial" panose="020B0604020202020204" pitchFamily="34" charset="0"/>
              <a:buChar char="•"/>
            </a:pPr>
            <a:r>
              <a:rPr lang="en-US" sz="2800" spc="300" dirty="0">
                <a:solidFill>
                  <a:srgbClr val="FFFFFF"/>
                </a:solidFill>
              </a:rPr>
              <a:t>Vision &amp; Backlog Creation – Define program vision and break down epics (Cohn, 2004).</a:t>
            </a:r>
          </a:p>
          <a:p>
            <a:pPr lvl="0" algn="just"/>
            <a:endParaRPr lang="en-US" sz="2800" spc="300" dirty="0">
              <a:solidFill>
                <a:srgbClr val="FFFFFF"/>
              </a:solidFill>
            </a:endParaRPr>
          </a:p>
          <a:p>
            <a:pPr marL="285750" lvl="0" indent="-285750" algn="just">
              <a:buFont typeface="Arial" panose="020B0604020202020204" pitchFamily="34" charset="0"/>
              <a:buChar char="•"/>
            </a:pPr>
            <a:r>
              <a:rPr lang="en-US" sz="2800" spc="300" dirty="0">
                <a:solidFill>
                  <a:srgbClr val="FFFFFF"/>
                </a:solidFill>
              </a:rPr>
              <a:t>ART Formation – Assign roles (Product Owners, Architects, RTEs).</a:t>
            </a:r>
          </a:p>
          <a:p>
            <a:pPr lvl="0" algn="just"/>
            <a:endParaRPr lang="en-US" sz="2800" spc="300" dirty="0">
              <a:solidFill>
                <a:srgbClr val="FFFFFF"/>
              </a:solidFill>
            </a:endParaRPr>
          </a:p>
          <a:p>
            <a:pPr marL="285750" lvl="0" indent="-285750" algn="just">
              <a:buFont typeface="Arial" panose="020B0604020202020204" pitchFamily="34" charset="0"/>
              <a:buChar char="•"/>
            </a:pPr>
            <a:r>
              <a:rPr lang="en-US" sz="2800" spc="300" dirty="0">
                <a:solidFill>
                  <a:srgbClr val="FFFFFF"/>
                </a:solidFill>
              </a:rPr>
              <a:t>PI Planning – 8–12-week cycles.</a:t>
            </a:r>
          </a:p>
          <a:p>
            <a:pPr lvl="0" algn="just"/>
            <a:endParaRPr lang="en-US" sz="2800" spc="300" dirty="0">
              <a:solidFill>
                <a:srgbClr val="FFFFFF"/>
              </a:solidFill>
            </a:endParaRPr>
          </a:p>
          <a:p>
            <a:pPr marL="285750" lvl="0" indent="-285750" algn="just">
              <a:buFont typeface="Arial" panose="020B0604020202020204" pitchFamily="34" charset="0"/>
              <a:buChar char="•"/>
            </a:pPr>
            <a:r>
              <a:rPr lang="en-US" sz="2800" spc="300" dirty="0">
                <a:solidFill>
                  <a:srgbClr val="FFFFFF"/>
                </a:solidFill>
              </a:rPr>
              <a:t>Execution – 2-week sprints; continuous testing.</a:t>
            </a:r>
          </a:p>
          <a:p>
            <a:pPr marL="285750" lvl="0" indent="-285750" algn="just">
              <a:buFont typeface="Arial" panose="020B0604020202020204" pitchFamily="34" charset="0"/>
              <a:buChar char="•"/>
            </a:pPr>
            <a:endParaRPr lang="en-US" sz="2800" spc="300" dirty="0">
              <a:solidFill>
                <a:srgbClr val="FFFFFF"/>
              </a:solidFill>
            </a:endParaRPr>
          </a:p>
          <a:p>
            <a:pPr marL="285750" lvl="0" indent="-285750" algn="just">
              <a:buFont typeface="Arial" panose="020B0604020202020204" pitchFamily="34" charset="0"/>
              <a:buChar char="•"/>
            </a:pPr>
            <a:r>
              <a:rPr lang="en-US" sz="2800" spc="300" dirty="0">
                <a:solidFill>
                  <a:srgbClr val="FFFFFF"/>
                </a:solidFill>
              </a:rPr>
              <a:t>Reviews &amp; Retrospectives – Feedback and improvement (</a:t>
            </a:r>
            <a:r>
              <a:rPr lang="en-US" sz="2800" spc="300" dirty="0" err="1">
                <a:solidFill>
                  <a:srgbClr val="FFFFFF"/>
                </a:solidFill>
              </a:rPr>
              <a:t>Schwaber</a:t>
            </a:r>
            <a:r>
              <a:rPr lang="en-US" sz="2800" spc="300" dirty="0">
                <a:solidFill>
                  <a:srgbClr val="FFFFFF"/>
                </a:solidFill>
              </a:rPr>
              <a:t> &amp; Sutherland, 2020).</a:t>
            </a:r>
          </a:p>
          <a:p>
            <a:pPr marL="285750" lvl="0" indent="-285750" algn="just">
              <a:buFont typeface="Arial" panose="020B0604020202020204" pitchFamily="34" charset="0"/>
              <a:buChar char="•"/>
            </a:pPr>
            <a:endParaRPr lang="en-US" sz="2800" spc="300" dirty="0">
              <a:solidFill>
                <a:srgbClr val="FFFFFF"/>
              </a:solidFill>
            </a:endParaRPr>
          </a:p>
          <a:p>
            <a:pPr marL="285750" lvl="0" indent="-285750" algn="just">
              <a:buFont typeface="Arial" panose="020B0604020202020204" pitchFamily="34" charset="0"/>
              <a:buChar char="•"/>
            </a:pPr>
            <a:r>
              <a:rPr lang="en-US" sz="2800" spc="300" dirty="0">
                <a:solidFill>
                  <a:srgbClr val="FFFFFF"/>
                </a:solidFill>
              </a:rPr>
              <a:t>Continuous Delivery Pipeline – DevOps automation.</a:t>
            </a:r>
          </a:p>
          <a:p>
            <a:pPr lvl="0" algn="just"/>
            <a:endParaRPr lang="en-US" sz="2800" spc="300" dirty="0">
              <a:solidFill>
                <a:srgbClr val="FFFFFF"/>
              </a:solidFill>
            </a:endParaRPr>
          </a:p>
          <a:p>
            <a:pPr marL="285750" lvl="0" indent="-285750" algn="just">
              <a:buFont typeface="Arial" panose="020B0604020202020204" pitchFamily="34" charset="0"/>
              <a:buChar char="•"/>
            </a:pPr>
            <a:r>
              <a:rPr lang="en-US" sz="2800" spc="300" dirty="0">
                <a:solidFill>
                  <a:srgbClr val="FFFFFF"/>
                </a:solidFill>
              </a:rPr>
              <a:t>Portfolio Alignment – Lean portfolio management (Scaled Agile Inc., 2021).</a:t>
            </a:r>
          </a:p>
          <a:p>
            <a:pPr marL="342900" indent="-342900" algn="just">
              <a:lnSpc>
                <a:spcPct val="116000"/>
              </a:lnSpc>
              <a:spcAft>
                <a:spcPts val="800"/>
              </a:spcAft>
              <a:buFont typeface="Symbol" pitchFamily="2" charset="2"/>
              <a:buChar char=""/>
            </a:pPr>
            <a:endParaRPr lang="en-US" sz="2800" spc="300" dirty="0">
              <a:solidFill>
                <a:srgbClr val="FFFFFF"/>
              </a:solidFill>
            </a:endParaRPr>
          </a:p>
        </p:txBody>
      </p:sp>
      <p:pic>
        <p:nvPicPr>
          <p:cNvPr id="8" name="Picture 7">
            <a:extLst>
              <a:ext uri="{FF2B5EF4-FFF2-40B4-BE49-F238E27FC236}">
                <a16:creationId xmlns:a16="http://schemas.microsoft.com/office/drawing/2014/main" id="{92821433-E54B-18B3-1F10-B569C218B9D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13749346" y="3391136"/>
            <a:ext cx="4636693" cy="2769136"/>
          </a:xfrm>
          <a:prstGeom prst="rect">
            <a:avLst/>
          </a:prstGeom>
        </p:spPr>
      </p:pic>
      <p:pic>
        <p:nvPicPr>
          <p:cNvPr id="3" name="Vera 4">
            <a:hlinkClick r:id="" action="ppaction://media"/>
          </p:cNvPr>
          <p:cNvPicPr>
            <a:picLocks noChangeAspect="1"/>
          </p:cNvPicPr>
          <p:nvPr>
            <a:audioFile r:link="rId1"/>
            <p:extLst>
              <p:ext uri="{DAA4B4D4-6D71-4841-9C94-3DE7FCFB9230}">
                <p14:media xmlns:p14="http://schemas.microsoft.com/office/powerpoint/2010/main" r:embed="rId2">
                  <p14:trim end="41631"/>
                </p14:media>
              </p:ext>
            </p:extLst>
          </p:nvPr>
        </p:nvPicPr>
        <p:blipFill>
          <a:blip r:embed="rId7"/>
          <a:stretch>
            <a:fillRect/>
          </a:stretch>
        </p:blipFill>
        <p:spPr>
          <a:xfrm>
            <a:off x="15320630" y="6601180"/>
            <a:ext cx="1938670" cy="1938670"/>
          </a:xfrm>
          <a:prstGeom prst="rect">
            <a:avLst/>
          </a:prstGeom>
        </p:spPr>
      </p:pic>
    </p:spTree>
    <p:extLst>
      <p:ext uri="{BB962C8B-B14F-4D97-AF65-F5344CB8AC3E}">
        <p14:creationId xmlns:p14="http://schemas.microsoft.com/office/powerpoint/2010/main" val="139348961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417"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91071-8AE6-C808-2800-361ED73AB88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2FC694-82A7-2BC2-2A18-FC0CC9B04F32}"/>
              </a:ext>
            </a:extLst>
          </p:cNvPr>
          <p:cNvSpPr/>
          <p:nvPr/>
        </p:nvSpPr>
        <p:spPr>
          <a:xfrm>
            <a:off x="0" y="228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77076640-0E05-3446-E189-B0F0A32EA421}"/>
              </a:ext>
            </a:extLst>
          </p:cNvPr>
          <p:cNvGrpSpPr/>
          <p:nvPr/>
        </p:nvGrpSpPr>
        <p:grpSpPr>
          <a:xfrm>
            <a:off x="0" y="74128"/>
            <a:ext cx="18288000" cy="10215158"/>
            <a:chOff x="0" y="0"/>
            <a:chExt cx="4274726" cy="2167467"/>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p:grpSpPr>
        <p:sp>
          <p:nvSpPr>
            <p:cNvPr id="4" name="Freeform 4">
              <a:extLst>
                <a:ext uri="{FF2B5EF4-FFF2-40B4-BE49-F238E27FC236}">
                  <a16:creationId xmlns:a16="http://schemas.microsoft.com/office/drawing/2014/main" id="{C43C32A7-3022-1D88-1A5B-1B934588EDBC}"/>
                </a:ext>
              </a:extLst>
            </p:cNvPr>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grpFill/>
          </p:spPr>
          <p:txBody>
            <a:bodyPr/>
            <a:lstStyle/>
            <a:p>
              <a:endParaRPr lang="en-US"/>
            </a:p>
          </p:txBody>
        </p:sp>
        <p:sp>
          <p:nvSpPr>
            <p:cNvPr id="5" name="TextBox 5">
              <a:extLst>
                <a:ext uri="{FF2B5EF4-FFF2-40B4-BE49-F238E27FC236}">
                  <a16:creationId xmlns:a16="http://schemas.microsoft.com/office/drawing/2014/main" id="{C9EB7AD6-9C07-D625-395A-5FA476100928}"/>
                </a:ext>
              </a:extLst>
            </p:cNvPr>
            <p:cNvSpPr txBox="1"/>
            <p:nvPr/>
          </p:nvSpPr>
          <p:spPr>
            <a:xfrm>
              <a:off x="0" y="-38100"/>
              <a:ext cx="4274726" cy="2205567"/>
            </a:xfrm>
            <a:prstGeom prst="rect">
              <a:avLst/>
            </a:prstGeom>
            <a:grpFill/>
          </p:spPr>
          <p:txBody>
            <a:bodyPr lIns="50800" tIns="50800" rIns="50800" bIns="50800" rtlCol="0" anchor="ctr"/>
            <a:lstStyle/>
            <a:p>
              <a:pPr algn="ctr">
                <a:lnSpc>
                  <a:spcPts val="2659"/>
                </a:lnSpc>
                <a:spcBef>
                  <a:spcPct val="0"/>
                </a:spcBef>
              </a:pPr>
              <a:endParaRPr/>
            </a:p>
          </p:txBody>
        </p:sp>
      </p:grpSp>
      <p:sp>
        <p:nvSpPr>
          <p:cNvPr id="7" name="TextBox 7">
            <a:extLst>
              <a:ext uri="{FF2B5EF4-FFF2-40B4-BE49-F238E27FC236}">
                <a16:creationId xmlns:a16="http://schemas.microsoft.com/office/drawing/2014/main" id="{62794C45-10E0-4569-2D10-A438FDB59639}"/>
              </a:ext>
            </a:extLst>
          </p:cNvPr>
          <p:cNvSpPr txBox="1"/>
          <p:nvPr/>
        </p:nvSpPr>
        <p:spPr>
          <a:xfrm>
            <a:off x="-205628" y="541115"/>
            <a:ext cx="18699255" cy="1231106"/>
          </a:xfrm>
          <a:prstGeom prst="rect">
            <a:avLst/>
          </a:prstGeom>
        </p:spPr>
        <p:txBody>
          <a:bodyPr wrap="square" lIns="0" tIns="0" rIns="0" bIns="0" rtlCol="0" anchor="t">
            <a:spAutoFit/>
          </a:bodyPr>
          <a:lstStyle/>
          <a:p>
            <a:pPr lvl="0" algn="ctr">
              <a:lnSpc>
                <a:spcPts val="9600"/>
              </a:lnSpc>
            </a:pPr>
            <a:r>
              <a:rPr lang="en-US" sz="6600" b="1" spc="300" dirty="0">
                <a:solidFill>
                  <a:schemeClr val="bg1"/>
                </a:solidFill>
                <a:latin typeface="+mj-lt"/>
              </a:rPr>
              <a:t>Scaled Agile Framework (</a:t>
            </a:r>
            <a:r>
              <a:rPr lang="en-US" sz="6600" b="1" spc="300" dirty="0" err="1">
                <a:solidFill>
                  <a:schemeClr val="bg1"/>
                </a:solidFill>
                <a:latin typeface="+mj-lt"/>
              </a:rPr>
              <a:t>SAFe</a:t>
            </a:r>
            <a:r>
              <a:rPr lang="en-US" sz="6600" b="1" spc="300" dirty="0">
                <a:solidFill>
                  <a:schemeClr val="bg1"/>
                </a:solidFill>
                <a:latin typeface="+mj-lt"/>
              </a:rPr>
              <a:t>) </a:t>
            </a:r>
            <a:r>
              <a:rPr lang="en-US" sz="6600" b="1" dirty="0">
                <a:solidFill>
                  <a:srgbClr val="FFFFFF"/>
                </a:solidFill>
                <a:latin typeface="+mj-lt"/>
              </a:rPr>
              <a:t>Methodology  </a:t>
            </a:r>
            <a:endParaRPr lang="en-US" sz="6600" b="1" dirty="0">
              <a:solidFill>
                <a:srgbClr val="FFFFFF"/>
              </a:solidFill>
              <a:latin typeface="+mj-lt"/>
              <a:sym typeface="Rustic Printed"/>
            </a:endParaRPr>
          </a:p>
        </p:txBody>
      </p:sp>
      <p:sp>
        <p:nvSpPr>
          <p:cNvPr id="10" name="TextBox 9">
            <a:extLst>
              <a:ext uri="{FF2B5EF4-FFF2-40B4-BE49-F238E27FC236}">
                <a16:creationId xmlns:a16="http://schemas.microsoft.com/office/drawing/2014/main" id="{D2DBFB13-1301-72FB-C8F5-D1FC2744FC4F}"/>
              </a:ext>
            </a:extLst>
          </p:cNvPr>
          <p:cNvSpPr txBox="1"/>
          <p:nvPr/>
        </p:nvSpPr>
        <p:spPr>
          <a:xfrm>
            <a:off x="1457325" y="2979752"/>
            <a:ext cx="10991850" cy="4401205"/>
          </a:xfrm>
          <a:prstGeom prst="rect">
            <a:avLst/>
          </a:prstGeom>
          <a:noFill/>
        </p:spPr>
        <p:txBody>
          <a:bodyPr wrap="square">
            <a:spAutoFit/>
          </a:bodyPr>
          <a:lstStyle/>
          <a:p>
            <a:pPr algn="just"/>
            <a:endParaRPr lang="en-US" sz="2800" b="1" spc="300" dirty="0">
              <a:ea typeface="Sans Serif Collection" panose="020B0502040504020204" pitchFamily="34" charset="0"/>
              <a:cs typeface="Sans Serif Collection" panose="020B0502040504020204" pitchFamily="34" charset="0"/>
            </a:endParaRPr>
          </a:p>
          <a:p>
            <a:pPr marL="342900" lvl="0" indent="-342900" algn="just">
              <a:buFont typeface="Arial" panose="020B0604020202020204" pitchFamily="34" charset="0"/>
              <a:buChar char="•"/>
            </a:pPr>
            <a:r>
              <a:rPr lang="en-US" sz="2800" b="1" spc="300" dirty="0">
                <a:solidFill>
                  <a:schemeClr val="bg1"/>
                </a:solidFill>
                <a:ea typeface="Sans Serif Collection" panose="020B0502040504020204" pitchFamily="34" charset="0"/>
                <a:cs typeface="Sans Serif Collection" panose="020B0502040504020204" pitchFamily="34" charset="0"/>
              </a:rPr>
              <a:t>Ideal for large, multi-team enterprises like Siemens.</a:t>
            </a:r>
          </a:p>
          <a:p>
            <a:pPr lvl="0" algn="just"/>
            <a:endParaRPr lang="en-US" sz="2800" b="1" spc="300" dirty="0">
              <a:solidFill>
                <a:schemeClr val="bg1"/>
              </a:solidFill>
              <a:ea typeface="Sans Serif Collection" panose="020B0502040504020204" pitchFamily="34" charset="0"/>
              <a:cs typeface="Sans Serif Collection" panose="020B0502040504020204" pitchFamily="34" charset="0"/>
            </a:endParaRPr>
          </a:p>
          <a:p>
            <a:pPr marL="342900" lvl="0" indent="-342900" algn="just">
              <a:buFont typeface="Arial" panose="020B0604020202020204" pitchFamily="34" charset="0"/>
              <a:buChar char="•"/>
            </a:pPr>
            <a:r>
              <a:rPr lang="en-US" sz="2800" b="1" spc="300" dirty="0">
                <a:solidFill>
                  <a:schemeClr val="bg1"/>
                </a:solidFill>
                <a:ea typeface="Sans Serif Collection" panose="020B0502040504020204" pitchFamily="34" charset="0"/>
                <a:cs typeface="Sans Serif Collection" panose="020B0502040504020204" pitchFamily="34" charset="0"/>
              </a:rPr>
              <a:t>Synchronizes global Agile teams (</a:t>
            </a:r>
            <a:r>
              <a:rPr lang="en-US" sz="2800" b="1" spc="300" dirty="0" err="1">
                <a:solidFill>
                  <a:schemeClr val="bg1"/>
                </a:solidFill>
                <a:ea typeface="Sans Serif Collection" panose="020B0502040504020204" pitchFamily="34" charset="0"/>
                <a:cs typeface="Sans Serif Collection" panose="020B0502040504020204" pitchFamily="34" charset="0"/>
              </a:rPr>
              <a:t>VersionOne</a:t>
            </a:r>
            <a:r>
              <a:rPr lang="en-US" sz="2800" b="1" spc="300" dirty="0">
                <a:solidFill>
                  <a:schemeClr val="bg1"/>
                </a:solidFill>
                <a:ea typeface="Sans Serif Collection" panose="020B0502040504020204" pitchFamily="34" charset="0"/>
                <a:cs typeface="Sans Serif Collection" panose="020B0502040504020204" pitchFamily="34" charset="0"/>
              </a:rPr>
              <a:t>, 2020).</a:t>
            </a:r>
          </a:p>
          <a:p>
            <a:pPr lvl="0" algn="just"/>
            <a:endParaRPr lang="en-US" sz="2800" b="1" spc="300" dirty="0">
              <a:solidFill>
                <a:schemeClr val="bg1"/>
              </a:solidFill>
              <a:ea typeface="Sans Serif Collection" panose="020B0502040504020204" pitchFamily="34" charset="0"/>
              <a:cs typeface="Sans Serif Collection" panose="020B0502040504020204" pitchFamily="34" charset="0"/>
            </a:endParaRPr>
          </a:p>
          <a:p>
            <a:pPr marL="342900" lvl="0" indent="-342900" algn="just">
              <a:buFont typeface="Arial" panose="020B0604020202020204" pitchFamily="34" charset="0"/>
              <a:buChar char="•"/>
            </a:pPr>
            <a:r>
              <a:rPr lang="en-US" sz="2800" b="1" spc="300" dirty="0">
                <a:solidFill>
                  <a:schemeClr val="bg1"/>
                </a:solidFill>
                <a:ea typeface="Sans Serif Collection" panose="020B0502040504020204" pitchFamily="34" charset="0"/>
                <a:cs typeface="Sans Serif Collection" panose="020B0502040504020204" pitchFamily="34" charset="0"/>
              </a:rPr>
              <a:t>Encourages leadership buy-in, incremental delivery, and PI planning for shorter feedback loops.</a:t>
            </a:r>
          </a:p>
          <a:p>
            <a:pPr lvl="0" algn="just"/>
            <a:endParaRPr lang="en-US" sz="2800" b="1" spc="300" dirty="0">
              <a:solidFill>
                <a:schemeClr val="bg1"/>
              </a:solidFill>
              <a:ea typeface="Sans Serif Collection" panose="020B0502040504020204" pitchFamily="34" charset="0"/>
              <a:cs typeface="Sans Serif Collection" panose="020B0502040504020204" pitchFamily="34" charset="0"/>
            </a:endParaRPr>
          </a:p>
          <a:p>
            <a:pPr marL="342900" lvl="0" indent="-342900" algn="just">
              <a:buFont typeface="Arial" panose="020B0604020202020204" pitchFamily="34" charset="0"/>
              <a:buChar char="•"/>
            </a:pPr>
            <a:r>
              <a:rPr lang="en-US" sz="2800" b="1" spc="300" dirty="0">
                <a:solidFill>
                  <a:schemeClr val="bg1"/>
                </a:solidFill>
                <a:ea typeface="Sans Serif Collection" panose="020B0502040504020204" pitchFamily="34" charset="0"/>
                <a:cs typeface="Sans Serif Collection" panose="020B0502040504020204" pitchFamily="34" charset="0"/>
              </a:rPr>
              <a:t>Combines Scrum and Kanban under enterprise governance.</a:t>
            </a:r>
          </a:p>
        </p:txBody>
      </p:sp>
      <p:pic>
        <p:nvPicPr>
          <p:cNvPr id="9" name="Picture 8" descr="A robot hand reaching out to the sky&#10;&#10;AI-generated content may be incorrect.">
            <a:extLst>
              <a:ext uri="{FF2B5EF4-FFF2-40B4-BE49-F238E27FC236}">
                <a16:creationId xmlns:a16="http://schemas.microsoft.com/office/drawing/2014/main" id="{DBB38DE5-8A0A-F33A-5BA3-CF72E5F357F0}"/>
              </a:ext>
            </a:extLst>
          </p:cNvPr>
          <p:cNvPicPr>
            <a:picLocks noChangeAspect="1"/>
          </p:cNvPicPr>
          <p:nvPr/>
        </p:nvPicPr>
        <p:blipFill>
          <a:blip r:embed="rId6">
            <a:extLst>
              <a:ext uri="{28A0092B-C50C-407E-A947-70E740481C1C}">
                <a14:useLocalDpi xmlns:a14="http://schemas.microsoft.com/office/drawing/2010/main" val="0"/>
              </a:ext>
            </a:extLst>
          </a:blip>
          <a:srcRect l="3714" t="2097" r="3439" b="3635"/>
          <a:stretch>
            <a:fillRect/>
          </a:stretch>
        </p:blipFill>
        <p:spPr>
          <a:xfrm>
            <a:off x="12877800" y="2536935"/>
            <a:ext cx="4019550" cy="6579501"/>
          </a:xfrm>
          <a:prstGeom prst="rect">
            <a:avLst/>
          </a:prstGeom>
        </p:spPr>
      </p:pic>
      <p:pic>
        <p:nvPicPr>
          <p:cNvPr id="11" name="Vera 4">
            <a:hlinkClick r:id="" action="ppaction://media"/>
          </p:cNvPr>
          <p:cNvPicPr>
            <a:picLocks noChangeAspect="1"/>
          </p:cNvPicPr>
          <p:nvPr>
            <a:audioFile r:link="rId1"/>
            <p:extLst>
              <p:ext uri="{DAA4B4D4-6D71-4841-9C94-3DE7FCFB9230}">
                <p14:media xmlns:p14="http://schemas.microsoft.com/office/powerpoint/2010/main" r:embed="rId2">
                  <p14:trim st="119502"/>
                </p14:media>
              </p:ext>
            </p:extLst>
          </p:nvPr>
        </p:nvPicPr>
        <p:blipFill>
          <a:blip r:embed="rId7"/>
          <a:stretch>
            <a:fillRect/>
          </a:stretch>
        </p:blipFill>
        <p:spPr>
          <a:xfrm>
            <a:off x="6456297" y="7434223"/>
            <a:ext cx="2090349" cy="2090349"/>
          </a:xfrm>
          <a:prstGeom prst="rect">
            <a:avLst/>
          </a:prstGeom>
        </p:spPr>
      </p:pic>
    </p:spTree>
    <p:extLst>
      <p:ext uri="{BB962C8B-B14F-4D97-AF65-F5344CB8AC3E}">
        <p14:creationId xmlns:p14="http://schemas.microsoft.com/office/powerpoint/2010/main" val="120400991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546" fill="hold"/>
                                        <p:tgtEl>
                                          <p:spTgt spid="11"/>
                                        </p:tgtEl>
                                      </p:cBhvr>
                                    </p:cmd>
                                  </p:childTnLst>
                                </p:cTn>
                              </p:par>
                            </p:childTnLst>
                          </p:cTn>
                        </p:par>
                      </p:childTnLst>
                    </p:cTn>
                  </p:par>
                </p:childTnLst>
              </p:cTn>
              <p:nextCondLst>
                <p:cond evt="onClick" delay="0">
                  <p:tgtEl>
                    <p:spTgt spid="11"/>
                  </p:tgtEl>
                </p:cond>
              </p:nextCondLst>
            </p:seq>
            <p:audio>
              <p:cMediaNode vol="80000">
                <p:cTn id="7"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0CBB9-120F-569A-505C-9A94102AF7A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4D3D37-FDD5-3B19-B232-B23EC05D8F2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8A2FE3FA-F329-A3F6-09B5-AA30800BDDDA}"/>
              </a:ext>
            </a:extLst>
          </p:cNvPr>
          <p:cNvGrpSpPr>
            <a:grpSpLocks noGrp="1" noUngrp="1" noRot="1" noMove="1" noResize="1"/>
          </p:cNvGrpSpPr>
          <p:nvPr/>
        </p:nvGrpSpPr>
        <p:grpSpPr>
          <a:xfrm>
            <a:off x="1028700" y="1028700"/>
            <a:ext cx="16230600" cy="8229600"/>
            <a:chOff x="0" y="0"/>
            <a:chExt cx="4274726" cy="2167467"/>
          </a:xfrm>
        </p:grpSpPr>
        <p:sp>
          <p:nvSpPr>
            <p:cNvPr id="4" name="Freeform 4">
              <a:extLst>
                <a:ext uri="{FF2B5EF4-FFF2-40B4-BE49-F238E27FC236}">
                  <a16:creationId xmlns:a16="http://schemas.microsoft.com/office/drawing/2014/main" id="{E7D59061-05BD-0F3F-0DC5-6E8E4D152B57}"/>
                </a:ext>
              </a:extLst>
            </p:cNvPr>
            <p:cNvSpPr>
              <a:spLocks noGrp="1" noRot="1" noMove="1" noResize="1" noEditPoints="1" noAdjustHandles="1" noChangeArrowheads="1" noChangeShapeType="1"/>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155C94"/>
            </a:solidFill>
          </p:spPr>
          <p:txBody>
            <a:bodyPr/>
            <a:lstStyle/>
            <a:p>
              <a:endParaRPr lang="en-US"/>
            </a:p>
          </p:txBody>
        </p:sp>
        <p:sp>
          <p:nvSpPr>
            <p:cNvPr id="5" name="TextBox 5">
              <a:extLst>
                <a:ext uri="{FF2B5EF4-FFF2-40B4-BE49-F238E27FC236}">
                  <a16:creationId xmlns:a16="http://schemas.microsoft.com/office/drawing/2014/main" id="{522E670B-64AA-4A56-40CD-BD63ADEDF4A5}"/>
                </a:ext>
              </a:extLst>
            </p:cNvPr>
            <p:cNvSpPr txBox="1">
              <a:spLocks noGrp="1" noRot="1" noMove="1" noResize="1" noEditPoints="1" noAdjustHandles="1" noChangeArrowheads="1" noChangeShapeType="1"/>
            </p:cNvSpPr>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FF86D560-7D82-1789-3639-FE6617C53D8B}"/>
              </a:ext>
            </a:extLst>
          </p:cNvPr>
          <p:cNvSpPr txBox="1"/>
          <p:nvPr/>
        </p:nvSpPr>
        <p:spPr>
          <a:xfrm>
            <a:off x="3216568" y="1077158"/>
            <a:ext cx="11284226" cy="2462213"/>
          </a:xfrm>
          <a:prstGeom prst="rect">
            <a:avLst/>
          </a:prstGeom>
        </p:spPr>
        <p:txBody>
          <a:bodyPr wrap="square" lIns="0" tIns="0" rIns="0" bIns="0" rtlCol="0" anchor="t">
            <a:spAutoFit/>
          </a:bodyPr>
          <a:lstStyle/>
          <a:p>
            <a:pPr algn="ctr">
              <a:lnSpc>
                <a:spcPts val="9600"/>
              </a:lnSpc>
            </a:pPr>
            <a:r>
              <a:rPr lang="en-US" sz="6000" b="1" dirty="0">
                <a:solidFill>
                  <a:srgbClr val="FFFFFF"/>
                </a:solidFill>
                <a:latin typeface="+mj-lt"/>
              </a:rPr>
              <a:t>SIMENS MARKET DIFFERENTIATION VIA </a:t>
            </a:r>
            <a:r>
              <a:rPr lang="en-US" sz="6000" b="1" dirty="0" err="1">
                <a:solidFill>
                  <a:srgbClr val="FFFFFF"/>
                </a:solidFill>
                <a:latin typeface="+mj-lt"/>
              </a:rPr>
              <a:t>SAFe</a:t>
            </a:r>
            <a:r>
              <a:rPr lang="en-US" sz="6000" b="1" dirty="0">
                <a:solidFill>
                  <a:srgbClr val="FFFFFF"/>
                </a:solidFill>
                <a:latin typeface="+mj-lt"/>
              </a:rPr>
              <a:t> FRAMEWORK</a:t>
            </a:r>
          </a:p>
        </p:txBody>
      </p:sp>
      <p:sp>
        <p:nvSpPr>
          <p:cNvPr id="9" name="TextBox 8">
            <a:extLst>
              <a:ext uri="{FF2B5EF4-FFF2-40B4-BE49-F238E27FC236}">
                <a16:creationId xmlns:a16="http://schemas.microsoft.com/office/drawing/2014/main" id="{D5D22B24-BDC6-C712-CF5B-7CC661DF0814}"/>
              </a:ext>
            </a:extLst>
          </p:cNvPr>
          <p:cNvSpPr txBox="1"/>
          <p:nvPr/>
        </p:nvSpPr>
        <p:spPr>
          <a:xfrm>
            <a:off x="1447800" y="6269433"/>
            <a:ext cx="2574523" cy="2716449"/>
          </a:xfrm>
          <a:prstGeom prst="rect">
            <a:avLst/>
          </a:prstGeom>
          <a:noFill/>
        </p:spPr>
        <p:txBody>
          <a:bodyPr wrap="square">
            <a:spAutoFit/>
          </a:bodyPr>
          <a:lstStyle/>
          <a:p>
            <a:pPr lvl="0"/>
            <a:r>
              <a:rPr lang="en-US" sz="2800" b="1" dirty="0">
                <a:solidFill>
                  <a:srgbClr val="FFFFFF"/>
                </a:solidFill>
              </a:rPr>
              <a:t>Faster innovation and reduced time-to-market.</a:t>
            </a:r>
          </a:p>
          <a:p>
            <a:pPr lvl="0"/>
            <a:endParaRPr lang="en-US" sz="2800" b="1" dirty="0">
              <a:solidFill>
                <a:srgbClr val="FFFFFF"/>
              </a:solidFill>
            </a:endParaRPr>
          </a:p>
          <a:p>
            <a:pPr algn="just">
              <a:lnSpc>
                <a:spcPct val="116000"/>
              </a:lnSpc>
              <a:spcAft>
                <a:spcPts val="800"/>
              </a:spcAft>
            </a:pPr>
            <a:endParaRPr lang="en-US" sz="2800" b="1" dirty="0">
              <a:solidFill>
                <a:srgbClr val="FFFFFF"/>
              </a:solidFill>
            </a:endParaRPr>
          </a:p>
        </p:txBody>
      </p:sp>
      <p:pic>
        <p:nvPicPr>
          <p:cNvPr id="12" name="Picture 11">
            <a:extLst>
              <a:ext uri="{FF2B5EF4-FFF2-40B4-BE49-F238E27FC236}">
                <a16:creationId xmlns:a16="http://schemas.microsoft.com/office/drawing/2014/main" id="{1A96314D-D66E-7863-F7A0-CD77DE7DFEFD}"/>
              </a:ext>
            </a:extLst>
          </p:cNvPr>
          <p:cNvPicPr>
            <a:picLocks noChangeAspect="1"/>
          </p:cNvPicPr>
          <p:nvPr/>
        </p:nvPicPr>
        <p:blipFill>
          <a:blip r:embed="rId6"/>
          <a:stretch>
            <a:fillRect/>
          </a:stretch>
        </p:blipFill>
        <p:spPr>
          <a:xfrm>
            <a:off x="1447800" y="3619502"/>
            <a:ext cx="2574523" cy="2630491"/>
          </a:xfrm>
          <a:prstGeom prst="rect">
            <a:avLst/>
          </a:prstGeom>
        </p:spPr>
      </p:pic>
      <p:pic>
        <p:nvPicPr>
          <p:cNvPr id="13" name="Picture 12">
            <a:extLst>
              <a:ext uri="{FF2B5EF4-FFF2-40B4-BE49-F238E27FC236}">
                <a16:creationId xmlns:a16="http://schemas.microsoft.com/office/drawing/2014/main" id="{105CBAC3-0D73-B7F8-3AD7-3FAF7D3D9508}"/>
              </a:ext>
            </a:extLst>
          </p:cNvPr>
          <p:cNvPicPr>
            <a:picLocks noChangeAspect="1"/>
          </p:cNvPicPr>
          <p:nvPr/>
        </p:nvPicPr>
        <p:blipFill>
          <a:blip r:embed="rId7"/>
          <a:srcRect l="16586" r="14200"/>
          <a:stretch>
            <a:fillRect/>
          </a:stretch>
        </p:blipFill>
        <p:spPr>
          <a:xfrm>
            <a:off x="4022323" y="3619502"/>
            <a:ext cx="2731029" cy="2630491"/>
          </a:xfrm>
          <a:prstGeom prst="rect">
            <a:avLst/>
          </a:prstGeom>
        </p:spPr>
      </p:pic>
      <p:pic>
        <p:nvPicPr>
          <p:cNvPr id="15" name="Picture 14">
            <a:extLst>
              <a:ext uri="{FF2B5EF4-FFF2-40B4-BE49-F238E27FC236}">
                <a16:creationId xmlns:a16="http://schemas.microsoft.com/office/drawing/2014/main" id="{2331EB35-12DC-1C50-29DD-C971B0B27AE7}"/>
              </a:ext>
            </a:extLst>
          </p:cNvPr>
          <p:cNvPicPr>
            <a:picLocks noChangeAspect="1"/>
          </p:cNvPicPr>
          <p:nvPr/>
        </p:nvPicPr>
        <p:blipFill>
          <a:blip r:embed="rId8"/>
          <a:stretch>
            <a:fillRect/>
          </a:stretch>
        </p:blipFill>
        <p:spPr>
          <a:xfrm>
            <a:off x="9327875" y="3619500"/>
            <a:ext cx="2959629" cy="2630491"/>
          </a:xfrm>
          <a:prstGeom prst="rect">
            <a:avLst/>
          </a:prstGeom>
        </p:spPr>
      </p:pic>
      <p:pic>
        <p:nvPicPr>
          <p:cNvPr id="16" name="Picture 15">
            <a:extLst>
              <a:ext uri="{FF2B5EF4-FFF2-40B4-BE49-F238E27FC236}">
                <a16:creationId xmlns:a16="http://schemas.microsoft.com/office/drawing/2014/main" id="{0AA42265-6710-60B8-EA42-1403C54D5361}"/>
              </a:ext>
            </a:extLst>
          </p:cNvPr>
          <p:cNvPicPr>
            <a:picLocks noChangeAspect="1"/>
          </p:cNvPicPr>
          <p:nvPr/>
        </p:nvPicPr>
        <p:blipFill>
          <a:blip r:embed="rId9"/>
          <a:stretch>
            <a:fillRect/>
          </a:stretch>
        </p:blipFill>
        <p:spPr>
          <a:xfrm>
            <a:off x="12161388" y="3619499"/>
            <a:ext cx="4683370" cy="2630493"/>
          </a:xfrm>
          <a:prstGeom prst="rect">
            <a:avLst/>
          </a:prstGeom>
        </p:spPr>
      </p:pic>
      <p:sp>
        <p:nvSpPr>
          <p:cNvPr id="18" name="TextBox 17">
            <a:extLst>
              <a:ext uri="{FF2B5EF4-FFF2-40B4-BE49-F238E27FC236}">
                <a16:creationId xmlns:a16="http://schemas.microsoft.com/office/drawing/2014/main" id="{B8465AE5-00EA-0447-8819-E5C354A72343}"/>
              </a:ext>
            </a:extLst>
          </p:cNvPr>
          <p:cNvSpPr txBox="1"/>
          <p:nvPr/>
        </p:nvSpPr>
        <p:spPr>
          <a:xfrm>
            <a:off x="4022323" y="6274673"/>
            <a:ext cx="2574523" cy="954107"/>
          </a:xfrm>
          <a:prstGeom prst="rect">
            <a:avLst/>
          </a:prstGeom>
          <a:noFill/>
        </p:spPr>
        <p:txBody>
          <a:bodyPr wrap="square">
            <a:spAutoFit/>
          </a:bodyPr>
          <a:lstStyle/>
          <a:p>
            <a:pPr lvl="0"/>
            <a:r>
              <a:rPr lang="en-US" sz="2800" b="1" dirty="0">
                <a:solidFill>
                  <a:srgbClr val="FFFFFF"/>
                </a:solidFill>
              </a:rPr>
              <a:t>Stronger global collaboration.</a:t>
            </a:r>
          </a:p>
        </p:txBody>
      </p:sp>
      <p:pic>
        <p:nvPicPr>
          <p:cNvPr id="14" name="Picture 13">
            <a:extLst>
              <a:ext uri="{FF2B5EF4-FFF2-40B4-BE49-F238E27FC236}">
                <a16:creationId xmlns:a16="http://schemas.microsoft.com/office/drawing/2014/main" id="{662D0740-6ADC-1716-AE85-620D9B933F41}"/>
              </a:ext>
            </a:extLst>
          </p:cNvPr>
          <p:cNvPicPr>
            <a:picLocks noChangeAspect="1"/>
          </p:cNvPicPr>
          <p:nvPr/>
        </p:nvPicPr>
        <p:blipFill>
          <a:blip r:embed="rId10"/>
          <a:stretch>
            <a:fillRect/>
          </a:stretch>
        </p:blipFill>
        <p:spPr>
          <a:xfrm>
            <a:off x="6753352" y="3619501"/>
            <a:ext cx="2630491" cy="2630491"/>
          </a:xfrm>
          <a:prstGeom prst="rect">
            <a:avLst/>
          </a:prstGeom>
        </p:spPr>
      </p:pic>
      <p:sp>
        <p:nvSpPr>
          <p:cNvPr id="19" name="TextBox 18">
            <a:extLst>
              <a:ext uri="{FF2B5EF4-FFF2-40B4-BE49-F238E27FC236}">
                <a16:creationId xmlns:a16="http://schemas.microsoft.com/office/drawing/2014/main" id="{9CD55D89-C925-185F-7C84-47D498E167F2}"/>
              </a:ext>
            </a:extLst>
          </p:cNvPr>
          <p:cNvSpPr txBox="1"/>
          <p:nvPr/>
        </p:nvSpPr>
        <p:spPr>
          <a:xfrm>
            <a:off x="6931519" y="6234005"/>
            <a:ext cx="2574523" cy="1815882"/>
          </a:xfrm>
          <a:prstGeom prst="rect">
            <a:avLst/>
          </a:prstGeom>
          <a:noFill/>
        </p:spPr>
        <p:txBody>
          <a:bodyPr wrap="square">
            <a:spAutoFit/>
          </a:bodyPr>
          <a:lstStyle/>
          <a:p>
            <a:pPr lvl="0"/>
            <a:r>
              <a:rPr lang="en-US" sz="2800" b="1" dirty="0">
                <a:solidFill>
                  <a:srgbClr val="FFFFFF"/>
                </a:solidFill>
              </a:rPr>
              <a:t>AI-powered energy optimization for sustainability.</a:t>
            </a:r>
          </a:p>
        </p:txBody>
      </p:sp>
      <p:sp>
        <p:nvSpPr>
          <p:cNvPr id="20" name="TextBox 19">
            <a:extLst>
              <a:ext uri="{FF2B5EF4-FFF2-40B4-BE49-F238E27FC236}">
                <a16:creationId xmlns:a16="http://schemas.microsoft.com/office/drawing/2014/main" id="{32E725AF-1FB0-5F17-1009-D1F9124330AE}"/>
              </a:ext>
            </a:extLst>
          </p:cNvPr>
          <p:cNvSpPr txBox="1"/>
          <p:nvPr/>
        </p:nvSpPr>
        <p:spPr>
          <a:xfrm>
            <a:off x="9673534" y="6316281"/>
            <a:ext cx="2574523" cy="1384995"/>
          </a:xfrm>
          <a:prstGeom prst="rect">
            <a:avLst/>
          </a:prstGeom>
          <a:noFill/>
        </p:spPr>
        <p:txBody>
          <a:bodyPr wrap="square">
            <a:spAutoFit/>
          </a:bodyPr>
          <a:lstStyle/>
          <a:p>
            <a:pPr lvl="0"/>
            <a:r>
              <a:rPr lang="en-US" sz="2800" b="1" dirty="0">
                <a:solidFill>
                  <a:srgbClr val="FFFFFF"/>
                </a:solidFill>
              </a:rPr>
              <a:t>Enhanced customer satisfaction.</a:t>
            </a:r>
          </a:p>
        </p:txBody>
      </p:sp>
      <p:sp>
        <p:nvSpPr>
          <p:cNvPr id="21" name="TextBox 20">
            <a:extLst>
              <a:ext uri="{FF2B5EF4-FFF2-40B4-BE49-F238E27FC236}">
                <a16:creationId xmlns:a16="http://schemas.microsoft.com/office/drawing/2014/main" id="{258182F5-CB1F-24C5-2BFB-68B808E083D3}"/>
              </a:ext>
            </a:extLst>
          </p:cNvPr>
          <p:cNvSpPr txBox="1"/>
          <p:nvPr/>
        </p:nvSpPr>
        <p:spPr>
          <a:xfrm>
            <a:off x="12161388" y="6269433"/>
            <a:ext cx="4678812" cy="1815882"/>
          </a:xfrm>
          <a:prstGeom prst="rect">
            <a:avLst/>
          </a:prstGeom>
          <a:noFill/>
        </p:spPr>
        <p:txBody>
          <a:bodyPr wrap="square">
            <a:spAutoFit/>
          </a:bodyPr>
          <a:lstStyle/>
          <a:p>
            <a:pPr lvl="0"/>
            <a:r>
              <a:rPr lang="en-US" sz="2800" b="1" dirty="0">
                <a:solidFill>
                  <a:srgbClr val="FFFFFF"/>
                </a:solidFill>
              </a:rPr>
              <a:t>Siemens is positioned as a digital pioneer in smart appliances.</a:t>
            </a:r>
          </a:p>
          <a:p>
            <a:pPr marL="285750" lvl="0" indent="-285750" algn="just">
              <a:buFont typeface="Arial" panose="020B0604020202020204" pitchFamily="34" charset="0"/>
              <a:buChar char="•"/>
            </a:pPr>
            <a:endParaRPr lang="en-US" sz="2800" b="1" dirty="0">
              <a:solidFill>
                <a:srgbClr val="FFFFFF"/>
              </a:solidFill>
            </a:endParaRPr>
          </a:p>
        </p:txBody>
      </p:sp>
      <p:sp>
        <p:nvSpPr>
          <p:cNvPr id="7" name="Rectangle 6"/>
          <p:cNvSpPr/>
          <p:nvPr/>
        </p:nvSpPr>
        <p:spPr>
          <a:xfrm>
            <a:off x="4074950" y="8210142"/>
            <a:ext cx="11197168" cy="461665"/>
          </a:xfrm>
          <a:prstGeom prst="rect">
            <a:avLst/>
          </a:prstGeom>
        </p:spPr>
        <p:txBody>
          <a:bodyPr wrap="none">
            <a:spAutoFit/>
          </a:bodyPr>
          <a:lstStyle/>
          <a:p>
            <a:pPr lvl="0"/>
            <a:r>
              <a:rPr lang="en-US" sz="2400" b="1" dirty="0">
                <a:solidFill>
                  <a:prstClr val="black"/>
                </a:solidFill>
              </a:rPr>
              <a:t>Image 4 : Siemens </a:t>
            </a:r>
            <a:r>
              <a:rPr lang="en-US" sz="2400" b="1" dirty="0" err="1">
                <a:solidFill>
                  <a:prstClr val="black"/>
                </a:solidFill>
              </a:rPr>
              <a:t>SAFe</a:t>
            </a:r>
            <a:r>
              <a:rPr lang="en-US" sz="2400" b="1" dirty="0">
                <a:solidFill>
                  <a:prstClr val="black"/>
                </a:solidFill>
              </a:rPr>
              <a:t> Implementation Market Strategies. (Personal Collection, 2025)</a:t>
            </a:r>
          </a:p>
        </p:txBody>
      </p:sp>
      <p:pic>
        <p:nvPicPr>
          <p:cNvPr id="8" name="Wali 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4500794" y="1751605"/>
            <a:ext cx="2006201" cy="2006201"/>
          </a:xfrm>
          <a:prstGeom prst="rect">
            <a:avLst/>
          </a:prstGeom>
        </p:spPr>
      </p:pic>
    </p:spTree>
    <p:extLst>
      <p:ext uri="{BB962C8B-B14F-4D97-AF65-F5344CB8AC3E}">
        <p14:creationId xmlns:p14="http://schemas.microsoft.com/office/powerpoint/2010/main" val="144004781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9658" fill="hold"/>
                                        <p:tgtEl>
                                          <p:spTgt spid="8"/>
                                        </p:tgtEl>
                                      </p:cBhvr>
                                    </p:cmd>
                                  </p:childTnLst>
                                </p:cTn>
                              </p:par>
                            </p:childTnLst>
                          </p:cTn>
                        </p:par>
                      </p:childTnLst>
                    </p:cTn>
                  </p:par>
                </p:childTnLst>
              </p:cTn>
              <p:nextCondLst>
                <p:cond evt="onClick" delay="0">
                  <p:tgtEl>
                    <p:spTgt spid="8"/>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7408-7C24-5ADF-18DE-F778C8EA28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876180-84A5-0F28-C191-AF7EE26BAC5F}"/>
              </a:ext>
            </a:extLst>
          </p:cNvPr>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sp>
        <p:nvSpPr>
          <p:cNvPr id="5" name="TextBox 5">
            <a:extLst>
              <a:ext uri="{FF2B5EF4-FFF2-40B4-BE49-F238E27FC236}">
                <a16:creationId xmlns:a16="http://schemas.microsoft.com/office/drawing/2014/main" id="{9449D66E-372F-AE1B-E8CE-23F176778612}"/>
              </a:ext>
            </a:extLst>
          </p:cNvPr>
          <p:cNvSpPr txBox="1"/>
          <p:nvPr/>
        </p:nvSpPr>
        <p:spPr>
          <a:xfrm>
            <a:off x="1698171" y="736156"/>
            <a:ext cx="14350482" cy="1231106"/>
          </a:xfrm>
          <a:prstGeom prst="rect">
            <a:avLst/>
          </a:prstGeom>
        </p:spPr>
        <p:txBody>
          <a:bodyPr wrap="square" lIns="0" tIns="0" rIns="0" bIns="0" rtlCol="0" anchor="t">
            <a:spAutoFit/>
          </a:bodyPr>
          <a:lstStyle/>
          <a:p>
            <a:pPr lvl="0" algn="ctr">
              <a:lnSpc>
                <a:spcPts val="9600"/>
              </a:lnSpc>
            </a:pPr>
            <a:r>
              <a:rPr lang="en-US" sz="6000" b="1" dirty="0">
                <a:solidFill>
                  <a:srgbClr val="0B4E7C"/>
                </a:solidFill>
                <a:latin typeface="+mj-lt"/>
              </a:rPr>
              <a:t>Siemens </a:t>
            </a:r>
            <a:r>
              <a:rPr lang="en-US" sz="6000" dirty="0">
                <a:solidFill>
                  <a:srgbClr val="0B4E7C"/>
                </a:solidFill>
                <a:latin typeface="Rustic Printed"/>
              </a:rPr>
              <a:t>Management Structure &amp; Resources </a:t>
            </a:r>
            <a:endParaRPr lang="en-US" sz="6000" b="1" dirty="0">
              <a:solidFill>
                <a:srgbClr val="0B4E7C"/>
              </a:solidFill>
              <a:latin typeface="+mj-lt"/>
              <a:sym typeface="Rustic Printed"/>
            </a:endParaRPr>
          </a:p>
        </p:txBody>
      </p:sp>
      <p:sp>
        <p:nvSpPr>
          <p:cNvPr id="10" name="Freeform 3">
            <a:extLst>
              <a:ext uri="{FF2B5EF4-FFF2-40B4-BE49-F238E27FC236}">
                <a16:creationId xmlns:a16="http://schemas.microsoft.com/office/drawing/2014/main" id="{B09A5172-52EA-4496-FC36-D018139BDDD2}"/>
              </a:ext>
            </a:extLst>
          </p:cNvPr>
          <p:cNvSpPr/>
          <p:nvPr/>
        </p:nvSpPr>
        <p:spPr>
          <a:xfrm>
            <a:off x="1193658" y="2136139"/>
            <a:ext cx="15359507" cy="5103103"/>
          </a:xfrm>
          <a:custGeom>
            <a:avLst/>
            <a:gdLst/>
            <a:ahLst/>
            <a:cxnLst/>
            <a:rect l="l" t="t" r="r" b="b"/>
            <a:pathLst>
              <a:path w="6940374" h="6132766">
                <a:moveTo>
                  <a:pt x="0" y="0"/>
                </a:moveTo>
                <a:lnTo>
                  <a:pt x="6940374" y="0"/>
                </a:lnTo>
                <a:lnTo>
                  <a:pt x="6940374" y="6132766"/>
                </a:lnTo>
                <a:lnTo>
                  <a:pt x="0" y="613276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19" name="TextBox 18">
            <a:extLst>
              <a:ext uri="{FF2B5EF4-FFF2-40B4-BE49-F238E27FC236}">
                <a16:creationId xmlns:a16="http://schemas.microsoft.com/office/drawing/2014/main" id="{42D81FB1-CBD0-26A3-1D75-1E3307D19C4C}"/>
              </a:ext>
            </a:extLst>
          </p:cNvPr>
          <p:cNvSpPr txBox="1"/>
          <p:nvPr/>
        </p:nvSpPr>
        <p:spPr>
          <a:xfrm>
            <a:off x="2533560" y="2466913"/>
            <a:ext cx="12679701" cy="2336986"/>
          </a:xfrm>
          <a:prstGeom prst="rect">
            <a:avLst/>
          </a:prstGeom>
          <a:noFill/>
        </p:spPr>
        <p:txBody>
          <a:bodyPr wrap="square">
            <a:spAutoFit/>
          </a:bodyPr>
          <a:lstStyle/>
          <a:p>
            <a:pPr marL="0" marR="0" algn="ctr">
              <a:lnSpc>
                <a:spcPct val="116000"/>
              </a:lnSpc>
              <a:spcAft>
                <a:spcPts val="800"/>
              </a:spcAft>
              <a:buNone/>
            </a:pPr>
            <a:r>
              <a:rPr lang="en-US" sz="3600" b="1" spc="300" dirty="0">
                <a:solidFill>
                  <a:schemeClr val="bg1"/>
                </a:solidFill>
                <a:latin typeface="+mj-lt"/>
              </a:rPr>
              <a:t>Resources</a:t>
            </a:r>
          </a:p>
          <a:p>
            <a:pPr marL="342900" marR="0" lvl="0" indent="-342900">
              <a:lnSpc>
                <a:spcPct val="116000"/>
              </a:lnSpc>
              <a:buFont typeface="Symbol" pitchFamily="2" charset="2"/>
              <a:buChar char=""/>
            </a:pPr>
            <a:r>
              <a:rPr lang="en-US" sz="2800" b="1" spc="300" dirty="0">
                <a:solidFill>
                  <a:schemeClr val="bg1"/>
                </a:solidFill>
                <a:latin typeface="+mj-lt"/>
              </a:rPr>
              <a:t>Human: AI engineers, IoT experts, data scientists, UX designers.</a:t>
            </a:r>
          </a:p>
          <a:p>
            <a:pPr marL="342900" marR="0" lvl="0" indent="-342900">
              <a:lnSpc>
                <a:spcPct val="116000"/>
              </a:lnSpc>
              <a:buFont typeface="Symbol" pitchFamily="2" charset="2"/>
              <a:buChar char=""/>
            </a:pPr>
            <a:r>
              <a:rPr lang="en-US" sz="2800" b="1" spc="300" dirty="0">
                <a:solidFill>
                  <a:schemeClr val="bg1"/>
                </a:solidFill>
                <a:latin typeface="+mj-lt"/>
              </a:rPr>
              <a:t>Technical: </a:t>
            </a:r>
            <a:r>
              <a:rPr lang="en-US" sz="2800" b="1" spc="300" dirty="0" err="1">
                <a:solidFill>
                  <a:schemeClr val="bg1"/>
                </a:solidFill>
                <a:latin typeface="+mj-lt"/>
              </a:rPr>
              <a:t>Mendix</a:t>
            </a:r>
            <a:r>
              <a:rPr lang="en-US" sz="2800" b="1" spc="300" dirty="0">
                <a:solidFill>
                  <a:schemeClr val="bg1"/>
                </a:solidFill>
                <a:latin typeface="+mj-lt"/>
              </a:rPr>
              <a:t>, Teamcenter PLM, </a:t>
            </a:r>
            <a:r>
              <a:rPr lang="en-US" sz="2800" b="1" spc="300" dirty="0" err="1">
                <a:solidFill>
                  <a:schemeClr val="bg1"/>
                </a:solidFill>
                <a:latin typeface="+mj-lt"/>
              </a:rPr>
              <a:t>MindSphere</a:t>
            </a:r>
            <a:r>
              <a:rPr lang="en-US" sz="2800" b="1" spc="300" dirty="0">
                <a:solidFill>
                  <a:schemeClr val="bg1"/>
                </a:solidFill>
                <a:latin typeface="+mj-lt"/>
              </a:rPr>
              <a:t>.</a:t>
            </a:r>
          </a:p>
          <a:p>
            <a:pPr marL="342900" marR="0" lvl="0" indent="-342900">
              <a:lnSpc>
                <a:spcPct val="116000"/>
              </a:lnSpc>
              <a:spcAft>
                <a:spcPts val="800"/>
              </a:spcAft>
              <a:buFont typeface="Symbol" pitchFamily="2" charset="2"/>
              <a:buChar char=""/>
            </a:pPr>
            <a:r>
              <a:rPr lang="en-US" sz="2800" b="1" spc="300" dirty="0">
                <a:solidFill>
                  <a:schemeClr val="bg1"/>
                </a:solidFill>
                <a:latin typeface="+mj-lt"/>
              </a:rPr>
              <a:t>Organizational: Digital Experience Centers (Siemens, 2023). </a:t>
            </a:r>
            <a:endParaRPr lang="en-US" sz="2800" spc="300" dirty="0">
              <a:effectLst/>
              <a:latin typeface="+mj-lt"/>
              <a:ea typeface="MS Mincho" panose="02020609040205080304" pitchFamily="49" charset="-128"/>
              <a:cs typeface="Arial" panose="020B0604020202020204" pitchFamily="34" charset="0"/>
            </a:endParaRPr>
          </a:p>
        </p:txBody>
      </p:sp>
      <p:pic>
        <p:nvPicPr>
          <p:cNvPr id="6" name="Management_structur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5376094" y="1611876"/>
            <a:ext cx="2644775" cy="2644775"/>
          </a:xfrm>
          <a:prstGeom prst="rect">
            <a:avLst/>
          </a:prstGeom>
        </p:spPr>
      </p:pic>
      <p:pic>
        <p:nvPicPr>
          <p:cNvPr id="7" name="Picture 6"/>
          <p:cNvPicPr>
            <a:picLocks noChangeAspect="1"/>
          </p:cNvPicPr>
          <p:nvPr/>
        </p:nvPicPr>
        <p:blipFill>
          <a:blip r:embed="rId9"/>
          <a:stretch>
            <a:fillRect/>
          </a:stretch>
        </p:blipFill>
        <p:spPr>
          <a:xfrm>
            <a:off x="800100" y="6045632"/>
            <a:ext cx="9258299" cy="3329749"/>
          </a:xfrm>
          <a:prstGeom prst="rect">
            <a:avLst/>
          </a:prstGeom>
        </p:spPr>
      </p:pic>
      <p:pic>
        <p:nvPicPr>
          <p:cNvPr id="8" name="Picture 7"/>
          <p:cNvPicPr>
            <a:picLocks noChangeAspect="1"/>
          </p:cNvPicPr>
          <p:nvPr/>
        </p:nvPicPr>
        <p:blipFill>
          <a:blip r:embed="rId10"/>
          <a:stretch>
            <a:fillRect/>
          </a:stretch>
        </p:blipFill>
        <p:spPr>
          <a:xfrm>
            <a:off x="11495314" y="6045632"/>
            <a:ext cx="6212702" cy="3329749"/>
          </a:xfrm>
          <a:prstGeom prst="rect">
            <a:avLst/>
          </a:prstGeom>
        </p:spPr>
      </p:pic>
      <p:sp>
        <p:nvSpPr>
          <p:cNvPr id="9" name="Rectangle 8"/>
          <p:cNvSpPr/>
          <p:nvPr/>
        </p:nvSpPr>
        <p:spPr>
          <a:xfrm>
            <a:off x="1698171" y="9461858"/>
            <a:ext cx="6476901" cy="369332"/>
          </a:xfrm>
          <a:prstGeom prst="rect">
            <a:avLst/>
          </a:prstGeom>
        </p:spPr>
        <p:txBody>
          <a:bodyPr wrap="none">
            <a:spAutoFit/>
          </a:bodyPr>
          <a:lstStyle/>
          <a:p>
            <a:r>
              <a:rPr lang="en-US" b="1" dirty="0"/>
              <a:t>Image 2: AI Home appliances powered ecosystem (Siemens, 2025)</a:t>
            </a:r>
          </a:p>
        </p:txBody>
      </p:sp>
      <p:sp>
        <p:nvSpPr>
          <p:cNvPr id="11" name="Rectangle 10"/>
          <p:cNvSpPr/>
          <p:nvPr/>
        </p:nvSpPr>
        <p:spPr>
          <a:xfrm>
            <a:off x="11231115" y="9461858"/>
            <a:ext cx="6676764" cy="369332"/>
          </a:xfrm>
          <a:prstGeom prst="rect">
            <a:avLst/>
          </a:prstGeom>
        </p:spPr>
        <p:txBody>
          <a:bodyPr wrap="none">
            <a:spAutoFit/>
          </a:bodyPr>
          <a:lstStyle/>
          <a:p>
            <a:r>
              <a:rPr lang="en-US" b="1" dirty="0"/>
              <a:t>Image 3: Siemens Digital Experience Center in Berlin (Siemens, 2025)</a:t>
            </a:r>
          </a:p>
        </p:txBody>
      </p:sp>
    </p:spTree>
    <p:extLst>
      <p:ext uri="{BB962C8B-B14F-4D97-AF65-F5344CB8AC3E}">
        <p14:creationId xmlns:p14="http://schemas.microsoft.com/office/powerpoint/2010/main" val="3228336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81511"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B7408-7C24-5ADF-18DE-F778C8EA28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876180-84A5-0F28-C191-AF7EE26BAC5F}"/>
              </a:ext>
            </a:extLst>
          </p:cNvPr>
          <p:cNvSpPr/>
          <p:nvPr/>
        </p:nvSpPr>
        <p:spPr>
          <a:xfrm>
            <a:off x="0" y="2091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p:spPr>
        <p:txBody>
          <a:bodyPr/>
          <a:lstStyle/>
          <a:p>
            <a:pPr algn="ctr"/>
            <a:endParaRPr lang="en-US" b="1" dirty="0"/>
          </a:p>
        </p:txBody>
      </p:sp>
      <p:sp>
        <p:nvSpPr>
          <p:cNvPr id="5" name="TextBox 5">
            <a:extLst>
              <a:ext uri="{FF2B5EF4-FFF2-40B4-BE49-F238E27FC236}">
                <a16:creationId xmlns:a16="http://schemas.microsoft.com/office/drawing/2014/main" id="{9449D66E-372F-AE1B-E8CE-23F176778612}"/>
              </a:ext>
            </a:extLst>
          </p:cNvPr>
          <p:cNvSpPr txBox="1"/>
          <p:nvPr/>
        </p:nvSpPr>
        <p:spPr>
          <a:xfrm>
            <a:off x="0" y="283118"/>
            <a:ext cx="18288000" cy="1231106"/>
          </a:xfrm>
          <a:prstGeom prst="rect">
            <a:avLst/>
          </a:prstGeom>
        </p:spPr>
        <p:txBody>
          <a:bodyPr wrap="square" lIns="0" tIns="0" rIns="0" bIns="0" rtlCol="0" anchor="t">
            <a:spAutoFit/>
          </a:bodyPr>
          <a:lstStyle/>
          <a:p>
            <a:pPr lvl="0" algn="ctr">
              <a:lnSpc>
                <a:spcPts val="9600"/>
              </a:lnSpc>
            </a:pPr>
            <a:r>
              <a:rPr lang="en-US" sz="6600" b="1" dirty="0">
                <a:solidFill>
                  <a:srgbClr val="0B4E7C"/>
                </a:solidFill>
                <a:latin typeface="+mj-lt"/>
              </a:rPr>
              <a:t>Siemens Management Structure </a:t>
            </a:r>
            <a:endParaRPr lang="en-US" sz="6600" b="1" dirty="0">
              <a:solidFill>
                <a:srgbClr val="0B4E7C"/>
              </a:solidFill>
              <a:latin typeface="+mj-lt"/>
              <a:sym typeface="Rustic Printed"/>
            </a:endParaRPr>
          </a:p>
        </p:txBody>
      </p:sp>
      <p:sp>
        <p:nvSpPr>
          <p:cNvPr id="6" name="Rectangle 5"/>
          <p:cNvSpPr/>
          <p:nvPr/>
        </p:nvSpPr>
        <p:spPr>
          <a:xfrm>
            <a:off x="1449704" y="7430935"/>
            <a:ext cx="2485158" cy="7627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Project Manager</a:t>
            </a:r>
          </a:p>
        </p:txBody>
      </p:sp>
      <p:sp>
        <p:nvSpPr>
          <p:cNvPr id="13" name="Rectangle 12"/>
          <p:cNvSpPr/>
          <p:nvPr/>
        </p:nvSpPr>
        <p:spPr>
          <a:xfrm>
            <a:off x="8371910" y="3172757"/>
            <a:ext cx="3927235" cy="7468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Siemens Corporation </a:t>
            </a:r>
          </a:p>
        </p:txBody>
      </p:sp>
      <p:sp>
        <p:nvSpPr>
          <p:cNvPr id="14" name="Rectangle 13"/>
          <p:cNvSpPr/>
          <p:nvPr/>
        </p:nvSpPr>
        <p:spPr>
          <a:xfrm>
            <a:off x="1070263" y="5864401"/>
            <a:ext cx="3314700" cy="1122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Dishwasher </a:t>
            </a:r>
          </a:p>
          <a:p>
            <a:pPr algn="ctr"/>
            <a:r>
              <a:rPr lang="en-US" sz="2800" b="1" dirty="0"/>
              <a:t>Program Manager</a:t>
            </a:r>
          </a:p>
        </p:txBody>
      </p:sp>
      <p:sp>
        <p:nvSpPr>
          <p:cNvPr id="16" name="Rectangle 15"/>
          <p:cNvSpPr/>
          <p:nvPr/>
        </p:nvSpPr>
        <p:spPr>
          <a:xfrm>
            <a:off x="4000273" y="4343743"/>
            <a:ext cx="7017327" cy="820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Siemens AI Powered Home Appliance Department </a:t>
            </a:r>
          </a:p>
        </p:txBody>
      </p:sp>
      <p:pic>
        <p:nvPicPr>
          <p:cNvPr id="18" name="Picture 17">
            <a:extLst>
              <a:ext uri="{FF2B5EF4-FFF2-40B4-BE49-F238E27FC236}">
                <a16:creationId xmlns:a16="http://schemas.microsoft.com/office/drawing/2014/main" id="{280B3692-C85D-DEEA-7C24-7BB22D682C57}"/>
              </a:ext>
            </a:extLst>
          </p:cNvPr>
          <p:cNvPicPr>
            <a:picLocks noChangeAspect="1"/>
          </p:cNvPicPr>
          <p:nvPr/>
        </p:nvPicPr>
        <p:blipFill>
          <a:blip r:embed="rId5"/>
          <a:stretch>
            <a:fillRect/>
          </a:stretch>
        </p:blipFill>
        <p:spPr>
          <a:xfrm>
            <a:off x="12615767" y="1666552"/>
            <a:ext cx="2030748" cy="203074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8" name="Elbow Connector 7"/>
          <p:cNvCxnSpPr/>
          <p:nvPr/>
        </p:nvCxnSpPr>
        <p:spPr>
          <a:xfrm rot="10800000" flipV="1">
            <a:off x="6464650" y="3425389"/>
            <a:ext cx="1907262" cy="918354"/>
          </a:xfrm>
          <a:prstGeom prst="bentConnector3">
            <a:avLst>
              <a:gd name="adj1" fmla="val 10012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685597" y="5864401"/>
            <a:ext cx="3314700" cy="1122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Washing Machine  </a:t>
            </a:r>
          </a:p>
          <a:p>
            <a:pPr algn="ctr"/>
            <a:r>
              <a:rPr lang="en-US" sz="2800" b="1" dirty="0"/>
              <a:t>Program Manager</a:t>
            </a:r>
          </a:p>
        </p:txBody>
      </p:sp>
      <p:sp>
        <p:nvSpPr>
          <p:cNvPr id="24" name="Rectangle 23"/>
          <p:cNvSpPr/>
          <p:nvPr/>
        </p:nvSpPr>
        <p:spPr>
          <a:xfrm>
            <a:off x="10137836" y="5890350"/>
            <a:ext cx="3314700" cy="11222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Microwave Oven  </a:t>
            </a:r>
          </a:p>
          <a:p>
            <a:pPr algn="ctr"/>
            <a:r>
              <a:rPr lang="en-US" sz="2800" b="1" dirty="0"/>
              <a:t>Program Manager</a:t>
            </a:r>
          </a:p>
        </p:txBody>
      </p:sp>
      <p:sp>
        <p:nvSpPr>
          <p:cNvPr id="25" name="Rectangle 24"/>
          <p:cNvSpPr/>
          <p:nvPr/>
        </p:nvSpPr>
        <p:spPr>
          <a:xfrm>
            <a:off x="14451532" y="5678717"/>
            <a:ext cx="3314700" cy="11837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Air Conditioners</a:t>
            </a:r>
          </a:p>
          <a:p>
            <a:pPr algn="ctr"/>
            <a:r>
              <a:rPr lang="en-US" sz="2800" b="1" dirty="0"/>
              <a:t>Program Manager</a:t>
            </a:r>
          </a:p>
        </p:txBody>
      </p:sp>
      <p:cxnSp>
        <p:nvCxnSpPr>
          <p:cNvPr id="26" name="Elbow Connector 25"/>
          <p:cNvCxnSpPr/>
          <p:nvPr/>
        </p:nvCxnSpPr>
        <p:spPr>
          <a:xfrm>
            <a:off x="11017600" y="4580222"/>
            <a:ext cx="5063836" cy="1107705"/>
          </a:xfrm>
          <a:prstGeom prst="bentConnector3">
            <a:avLst>
              <a:gd name="adj1" fmla="val 100479"/>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p:cNvCxnSpPr>
            <a:stCxn id="16" idx="3"/>
          </p:cNvCxnSpPr>
          <p:nvPr/>
        </p:nvCxnSpPr>
        <p:spPr>
          <a:xfrm>
            <a:off x="11017600" y="4754078"/>
            <a:ext cx="1281545" cy="1110323"/>
          </a:xfrm>
          <a:prstGeom prst="bentConnector3">
            <a:avLst>
              <a:gd name="adj1" fmla="val 10027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rot="10800000" flipV="1">
            <a:off x="2516107" y="4588458"/>
            <a:ext cx="1418755" cy="1301892"/>
          </a:xfrm>
          <a:prstGeom prst="bentConnector3">
            <a:avLst>
              <a:gd name="adj1" fmla="val 101268"/>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p:cNvCxnSpPr/>
          <p:nvPr/>
        </p:nvCxnSpPr>
        <p:spPr>
          <a:xfrm rot="5400000">
            <a:off x="6039308" y="5162805"/>
            <a:ext cx="748043" cy="707050"/>
          </a:xfrm>
          <a:prstGeom prst="bentConnector3">
            <a:avLst>
              <a:gd name="adj1" fmla="val 50000"/>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6100368" y="7421266"/>
            <a:ext cx="2485158" cy="7627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Project Manager</a:t>
            </a:r>
          </a:p>
        </p:txBody>
      </p:sp>
      <p:sp>
        <p:nvSpPr>
          <p:cNvPr id="48" name="Rectangle 47"/>
          <p:cNvSpPr/>
          <p:nvPr/>
        </p:nvSpPr>
        <p:spPr>
          <a:xfrm>
            <a:off x="10552607" y="7413468"/>
            <a:ext cx="2485158" cy="7627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Project Manager</a:t>
            </a:r>
          </a:p>
        </p:txBody>
      </p:sp>
      <p:sp>
        <p:nvSpPr>
          <p:cNvPr id="49" name="Rectangle 48"/>
          <p:cNvSpPr/>
          <p:nvPr/>
        </p:nvSpPr>
        <p:spPr>
          <a:xfrm>
            <a:off x="14921852" y="7413467"/>
            <a:ext cx="2485158" cy="7627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Project Manager</a:t>
            </a:r>
          </a:p>
        </p:txBody>
      </p:sp>
      <p:cxnSp>
        <p:nvCxnSpPr>
          <p:cNvPr id="51" name="Straight Arrow Connector 50"/>
          <p:cNvCxnSpPr/>
          <p:nvPr/>
        </p:nvCxnSpPr>
        <p:spPr>
          <a:xfrm>
            <a:off x="2516107" y="7008116"/>
            <a:ext cx="20781" cy="43464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7405160" y="7016800"/>
            <a:ext cx="20781" cy="43464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11899960" y="7041323"/>
            <a:ext cx="20781" cy="43464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6082905" y="6986620"/>
            <a:ext cx="20781" cy="43464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2703140" y="8606864"/>
            <a:ext cx="12975647" cy="7627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Project’s Cloud Engineers and Software Developers (AI Integration)  </a:t>
            </a:r>
          </a:p>
        </p:txBody>
      </p:sp>
      <p:cxnSp>
        <p:nvCxnSpPr>
          <p:cNvPr id="56" name="Straight Arrow Connector 55"/>
          <p:cNvCxnSpPr>
            <a:endCxn id="55" idx="1"/>
          </p:cNvCxnSpPr>
          <p:nvPr/>
        </p:nvCxnSpPr>
        <p:spPr>
          <a:xfrm>
            <a:off x="2036619" y="8193714"/>
            <a:ext cx="666521" cy="79454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a:off x="15678788" y="8184045"/>
            <a:ext cx="666520" cy="80132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7425941" y="8207481"/>
            <a:ext cx="20781" cy="43464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11920741" y="8164420"/>
            <a:ext cx="20781" cy="43464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2795188" y="9604059"/>
            <a:ext cx="12421862" cy="461665"/>
          </a:xfrm>
          <a:prstGeom prst="rect">
            <a:avLst/>
          </a:prstGeom>
        </p:spPr>
        <p:txBody>
          <a:bodyPr wrap="none">
            <a:spAutoFit/>
          </a:bodyPr>
          <a:lstStyle/>
          <a:p>
            <a:r>
              <a:rPr lang="en-US" sz="2400" b="1" dirty="0"/>
              <a:t>Figure 1: Siemens </a:t>
            </a:r>
            <a:r>
              <a:rPr lang="en-US" sz="2400" b="1" dirty="0" err="1"/>
              <a:t>SAFe</a:t>
            </a:r>
            <a:r>
              <a:rPr lang="en-US" sz="2400" b="1" dirty="0"/>
              <a:t> Project Management and Governance Flowchart (Scale Agile Inc., 2021)</a:t>
            </a:r>
          </a:p>
        </p:txBody>
      </p:sp>
      <p:pic>
        <p:nvPicPr>
          <p:cNvPr id="3" name="Wali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830341" y="1551120"/>
            <a:ext cx="2333445" cy="2333445"/>
          </a:xfrm>
          <a:prstGeom prst="rect">
            <a:avLst/>
          </a:prstGeom>
        </p:spPr>
      </p:pic>
    </p:spTree>
    <p:extLst>
      <p:ext uri="{BB962C8B-B14F-4D97-AF65-F5344CB8AC3E}">
        <p14:creationId xmlns:p14="http://schemas.microsoft.com/office/powerpoint/2010/main" val="309603912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2385"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0657-85AF-848F-2AC8-ACE8B22FAB6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43CC81C-BCCB-96F6-DCF6-B9109A8BEBF5}"/>
              </a:ext>
            </a:extLst>
          </p:cNvPr>
          <p:cNvSpPr/>
          <p:nvPr/>
        </p:nvSpPr>
        <p:spPr>
          <a:xfrm>
            <a:off x="0" y="228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D817DACB-D01F-6BC8-DC59-12FA96632F2D}"/>
              </a:ext>
            </a:extLst>
          </p:cNvPr>
          <p:cNvGrpSpPr/>
          <p:nvPr/>
        </p:nvGrpSpPr>
        <p:grpSpPr>
          <a:xfrm>
            <a:off x="1028700" y="1028700"/>
            <a:ext cx="16230600" cy="8229600"/>
            <a:chOff x="0" y="0"/>
            <a:chExt cx="4274726" cy="2167467"/>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grpSpPr>
        <p:sp>
          <p:nvSpPr>
            <p:cNvPr id="4" name="Freeform 4">
              <a:extLst>
                <a:ext uri="{FF2B5EF4-FFF2-40B4-BE49-F238E27FC236}">
                  <a16:creationId xmlns:a16="http://schemas.microsoft.com/office/drawing/2014/main" id="{DFB73624-5F47-E4ED-DC35-023BD185FD84}"/>
                </a:ext>
              </a:extLst>
            </p:cNvPr>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grpFill/>
          </p:spPr>
          <p:txBody>
            <a:bodyPr/>
            <a:lstStyle/>
            <a:p>
              <a:endParaRPr lang="en-US"/>
            </a:p>
          </p:txBody>
        </p:sp>
        <p:sp>
          <p:nvSpPr>
            <p:cNvPr id="5" name="TextBox 5">
              <a:extLst>
                <a:ext uri="{FF2B5EF4-FFF2-40B4-BE49-F238E27FC236}">
                  <a16:creationId xmlns:a16="http://schemas.microsoft.com/office/drawing/2014/main" id="{F8B32E0E-E9DF-8C22-C03D-88F642BE3700}"/>
                </a:ext>
              </a:extLst>
            </p:cNvPr>
            <p:cNvSpPr txBox="1"/>
            <p:nvPr/>
          </p:nvSpPr>
          <p:spPr>
            <a:xfrm>
              <a:off x="0" y="-38100"/>
              <a:ext cx="4274726" cy="2205567"/>
            </a:xfrm>
            <a:prstGeom prst="rect">
              <a:avLst/>
            </a:prstGeom>
            <a:grpFill/>
          </p:spPr>
          <p:txBody>
            <a:bodyPr lIns="50800" tIns="50800" rIns="50800" bIns="50800" rtlCol="0" anchor="ctr"/>
            <a:lstStyle/>
            <a:p>
              <a:pPr algn="ctr">
                <a:lnSpc>
                  <a:spcPts val="2659"/>
                </a:lnSpc>
                <a:spcBef>
                  <a:spcPct val="0"/>
                </a:spcBef>
              </a:pPr>
              <a:endParaRPr/>
            </a:p>
          </p:txBody>
        </p:sp>
      </p:grpSp>
      <p:sp>
        <p:nvSpPr>
          <p:cNvPr id="7" name="TextBox 7">
            <a:extLst>
              <a:ext uri="{FF2B5EF4-FFF2-40B4-BE49-F238E27FC236}">
                <a16:creationId xmlns:a16="http://schemas.microsoft.com/office/drawing/2014/main" id="{D2B483C8-19EC-6876-8F9C-5D99239B520D}"/>
              </a:ext>
            </a:extLst>
          </p:cNvPr>
          <p:cNvSpPr txBox="1"/>
          <p:nvPr/>
        </p:nvSpPr>
        <p:spPr>
          <a:xfrm>
            <a:off x="1524000" y="1181100"/>
            <a:ext cx="15240000" cy="1146789"/>
          </a:xfrm>
          <a:prstGeom prst="rect">
            <a:avLst/>
          </a:prstGeom>
        </p:spPr>
        <p:txBody>
          <a:bodyPr wrap="square" lIns="0" tIns="0" rIns="0" bIns="0" rtlCol="0" anchor="t">
            <a:spAutoFit/>
          </a:bodyPr>
          <a:lstStyle/>
          <a:p>
            <a:pPr lvl="0" algn="ctr">
              <a:lnSpc>
                <a:spcPts val="9600"/>
              </a:lnSpc>
            </a:pPr>
            <a:r>
              <a:rPr lang="en-US" sz="6600" b="1" dirty="0">
                <a:solidFill>
                  <a:srgbClr val="FFFFFF"/>
                </a:solidFill>
                <a:latin typeface="+mj-lt"/>
              </a:rPr>
              <a:t>SIEMENS STRATEGIC GOALS </a:t>
            </a:r>
            <a:endParaRPr lang="en-US" sz="6600" b="1" dirty="0">
              <a:solidFill>
                <a:srgbClr val="FFFFFF"/>
              </a:solidFill>
              <a:latin typeface="+mj-lt"/>
              <a:sym typeface="Rustic Printed"/>
            </a:endParaRPr>
          </a:p>
        </p:txBody>
      </p:sp>
      <p:pic>
        <p:nvPicPr>
          <p:cNvPr id="6" name="Picture 5">
            <a:extLst>
              <a:ext uri="{FF2B5EF4-FFF2-40B4-BE49-F238E27FC236}">
                <a16:creationId xmlns:a16="http://schemas.microsoft.com/office/drawing/2014/main" id="{EA336462-4D6A-12BC-7C69-9950226F965B}"/>
              </a:ext>
            </a:extLst>
          </p:cNvPr>
          <p:cNvPicPr>
            <a:picLocks noChangeAspect="1"/>
          </p:cNvPicPr>
          <p:nvPr/>
        </p:nvPicPr>
        <p:blipFill>
          <a:blip r:embed="rId6">
            <a:duotone>
              <a:schemeClr val="accent5">
                <a:shade val="45000"/>
                <a:satMod val="135000"/>
              </a:schemeClr>
              <a:prstClr val="white"/>
            </a:duotone>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8515350" y="778883"/>
            <a:ext cx="9772650" cy="9772650"/>
          </a:xfrm>
          <a:prstGeom prst="rect">
            <a:avLst/>
          </a:prstGeom>
        </p:spPr>
      </p:pic>
      <p:sp>
        <p:nvSpPr>
          <p:cNvPr id="10" name="TextBox 9">
            <a:extLst>
              <a:ext uri="{FF2B5EF4-FFF2-40B4-BE49-F238E27FC236}">
                <a16:creationId xmlns:a16="http://schemas.microsoft.com/office/drawing/2014/main" id="{ABACC3B2-2A38-ADEE-D0AC-F6D3A94578CC}"/>
              </a:ext>
            </a:extLst>
          </p:cNvPr>
          <p:cNvSpPr txBox="1"/>
          <p:nvPr/>
        </p:nvSpPr>
        <p:spPr>
          <a:xfrm>
            <a:off x="1738746" y="3069616"/>
            <a:ext cx="9144000" cy="4635243"/>
          </a:xfrm>
          <a:prstGeom prst="rect">
            <a:avLst/>
          </a:prstGeom>
          <a:noFill/>
        </p:spPr>
        <p:txBody>
          <a:bodyPr wrap="square">
            <a:spAutoFit/>
          </a:bodyPr>
          <a:lstStyle/>
          <a:p>
            <a:pPr marL="457200" marR="0" indent="-457200">
              <a:lnSpc>
                <a:spcPct val="116000"/>
              </a:lnSpc>
              <a:spcAft>
                <a:spcPts val="800"/>
              </a:spcAft>
              <a:buFont typeface="Arial" panose="020B0604020202020204" pitchFamily="34" charset="0"/>
              <a:buChar char="•"/>
            </a:pPr>
            <a:r>
              <a:rPr lang="en-US" sz="2800" b="1" spc="102" dirty="0">
                <a:latin typeface="Canva Sans Medium"/>
              </a:rPr>
              <a:t>Four Core Goals</a:t>
            </a:r>
          </a:p>
          <a:p>
            <a:pPr marL="342900" marR="0" lvl="0" indent="-342900">
              <a:lnSpc>
                <a:spcPct val="116000"/>
              </a:lnSpc>
              <a:spcAft>
                <a:spcPts val="800"/>
              </a:spcAft>
              <a:buFont typeface="+mj-lt"/>
              <a:buAutoNum type="arabicPeriod"/>
            </a:pPr>
            <a:r>
              <a:rPr lang="en-US" sz="2400" b="1" spc="102" dirty="0">
                <a:solidFill>
                  <a:schemeClr val="bg1"/>
                </a:solidFill>
                <a:latin typeface="Canva Sans Medium"/>
              </a:rPr>
              <a:t>Customer-centric innovation.</a:t>
            </a:r>
          </a:p>
          <a:p>
            <a:pPr marL="342900" marR="0" lvl="0" indent="-342900">
              <a:lnSpc>
                <a:spcPct val="116000"/>
              </a:lnSpc>
              <a:spcAft>
                <a:spcPts val="800"/>
              </a:spcAft>
              <a:buFont typeface="+mj-lt"/>
              <a:buAutoNum type="arabicPeriod"/>
            </a:pPr>
            <a:r>
              <a:rPr lang="en-US" sz="2400" b="1" spc="102" dirty="0">
                <a:solidFill>
                  <a:schemeClr val="bg1"/>
                </a:solidFill>
                <a:latin typeface="Canva Sans Medium"/>
              </a:rPr>
              <a:t>Faster time-to-market.</a:t>
            </a:r>
          </a:p>
          <a:p>
            <a:pPr marL="342900" marR="0" lvl="0" indent="-342900">
              <a:lnSpc>
                <a:spcPct val="116000"/>
              </a:lnSpc>
              <a:spcAft>
                <a:spcPts val="800"/>
              </a:spcAft>
              <a:buFont typeface="+mj-lt"/>
              <a:buAutoNum type="arabicPeriod"/>
            </a:pPr>
            <a:r>
              <a:rPr lang="en-US" sz="2400" b="1" spc="102" dirty="0">
                <a:solidFill>
                  <a:schemeClr val="bg1"/>
                </a:solidFill>
                <a:latin typeface="Canva Sans Medium"/>
              </a:rPr>
              <a:t>Sustainability.</a:t>
            </a:r>
          </a:p>
          <a:p>
            <a:pPr marL="342900" marR="0" lvl="0" indent="-342900">
              <a:lnSpc>
                <a:spcPct val="116000"/>
              </a:lnSpc>
              <a:spcAft>
                <a:spcPts val="800"/>
              </a:spcAft>
              <a:buFont typeface="+mj-lt"/>
              <a:buAutoNum type="arabicPeriod"/>
            </a:pPr>
            <a:r>
              <a:rPr lang="en-US" sz="2400" b="1" spc="102" dirty="0">
                <a:solidFill>
                  <a:schemeClr val="bg1"/>
                </a:solidFill>
                <a:latin typeface="Canva Sans Medium"/>
              </a:rPr>
              <a:t>Market differentiation (Gartner, 2023).</a:t>
            </a:r>
          </a:p>
          <a:p>
            <a:pPr marR="0" lvl="0">
              <a:lnSpc>
                <a:spcPct val="116000"/>
              </a:lnSpc>
              <a:spcAft>
                <a:spcPts val="800"/>
              </a:spcAft>
            </a:pPr>
            <a:endParaRPr lang="en-US" sz="2000" b="1" spc="102" dirty="0">
              <a:solidFill>
                <a:schemeClr val="bg1"/>
              </a:solidFill>
              <a:latin typeface="Canva Sans Medium"/>
            </a:endParaRPr>
          </a:p>
          <a:p>
            <a:pPr marL="457200" marR="0" lvl="0" indent="-457200">
              <a:lnSpc>
                <a:spcPct val="116000"/>
              </a:lnSpc>
              <a:spcAft>
                <a:spcPts val="800"/>
              </a:spcAft>
              <a:buFont typeface="Arial" panose="020B0604020202020204" pitchFamily="34" charset="0"/>
              <a:buChar char="•"/>
            </a:pPr>
            <a:r>
              <a:rPr lang="en-US" sz="2800" b="1" spc="102" dirty="0">
                <a:latin typeface="Canva Sans Medium"/>
              </a:rPr>
              <a:t>Vision Alignment:</a:t>
            </a:r>
            <a:br>
              <a:rPr lang="en-US" sz="2000" b="1" spc="102" dirty="0">
                <a:solidFill>
                  <a:schemeClr val="bg1"/>
                </a:solidFill>
                <a:latin typeface="Canva Sans Medium"/>
              </a:rPr>
            </a:br>
            <a:r>
              <a:rPr lang="en-US" sz="2000" b="1" spc="102" dirty="0">
                <a:solidFill>
                  <a:schemeClr val="bg1"/>
                </a:solidFill>
                <a:latin typeface="Canva Sans Medium"/>
              </a:rPr>
              <a:t> </a:t>
            </a:r>
            <a:r>
              <a:rPr lang="en-US" sz="2400" b="1" spc="102" dirty="0">
                <a:solidFill>
                  <a:schemeClr val="bg1"/>
                </a:solidFill>
                <a:latin typeface="Canva Sans Medium"/>
              </a:rPr>
              <a:t>Supports Siemens’ commitment to smart, sustainable living</a:t>
            </a:r>
            <a:r>
              <a:rPr lang="en-US" sz="2000" b="1" spc="102" dirty="0">
                <a:solidFill>
                  <a:schemeClr val="bg1"/>
                </a:solidFill>
                <a:latin typeface="Canva Sans Medium"/>
              </a:rPr>
              <a:t>. </a:t>
            </a:r>
            <a:endParaRPr lang="en-US" sz="2000" dirty="0">
              <a:effectLst/>
              <a:latin typeface="Aptos" panose="020B0004020202020204" pitchFamily="34" charset="0"/>
              <a:ea typeface="MS Mincho" panose="02020609040205080304" pitchFamily="49" charset="-128"/>
              <a:cs typeface="Arial" panose="020B0604020202020204" pitchFamily="34" charset="0"/>
            </a:endParaRPr>
          </a:p>
        </p:txBody>
      </p:sp>
      <p:pic>
        <p:nvPicPr>
          <p:cNvPr id="8" name="Walli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7788730" y="2857012"/>
            <a:ext cx="1957388" cy="1957388"/>
          </a:xfrm>
          <a:prstGeom prst="rect">
            <a:avLst/>
          </a:prstGeom>
        </p:spPr>
      </p:pic>
    </p:spTree>
    <p:extLst>
      <p:ext uri="{BB962C8B-B14F-4D97-AF65-F5344CB8AC3E}">
        <p14:creationId xmlns:p14="http://schemas.microsoft.com/office/powerpoint/2010/main" val="51318276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8671" fill="hold"/>
                                        <p:tgtEl>
                                          <p:spTgt spid="8"/>
                                        </p:tgtEl>
                                      </p:cBhvr>
                                    </p:cmd>
                                  </p:childTnLst>
                                </p:cTn>
                              </p:par>
                            </p:childTnLst>
                          </p:cTn>
                        </p:par>
                      </p:childTnLst>
                    </p:cTn>
                  </p:par>
                </p:childTnLst>
              </p:cTn>
              <p:nextCondLst>
                <p:cond evt="onClick" delay="0">
                  <p:tgtEl>
                    <p:spTgt spid="8"/>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44F50-A098-CFC9-59A0-EF73151C180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B8157B9-98FE-AF02-5CEC-BAE195C4EF3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88CD0A28-6257-1222-5A45-83446A115142}"/>
              </a:ext>
            </a:extLst>
          </p:cNvPr>
          <p:cNvGrpSpPr/>
          <p:nvPr/>
        </p:nvGrpSpPr>
        <p:grpSpPr>
          <a:xfrm>
            <a:off x="1028700" y="1028700"/>
            <a:ext cx="16230600" cy="8229600"/>
            <a:chOff x="0" y="0"/>
            <a:chExt cx="4274726" cy="2167467"/>
          </a:xfrm>
        </p:grpSpPr>
        <p:sp>
          <p:nvSpPr>
            <p:cNvPr id="4" name="Freeform 4">
              <a:extLst>
                <a:ext uri="{FF2B5EF4-FFF2-40B4-BE49-F238E27FC236}">
                  <a16:creationId xmlns:a16="http://schemas.microsoft.com/office/drawing/2014/main" id="{E3CE5607-A58F-2C90-E720-A571D51731D6}"/>
                </a:ext>
              </a:extLst>
            </p:cNvPr>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155C94"/>
            </a:solidFill>
          </p:spPr>
          <p:txBody>
            <a:bodyPr/>
            <a:lstStyle/>
            <a:p>
              <a:endParaRPr lang="en-US" dirty="0"/>
            </a:p>
          </p:txBody>
        </p:sp>
        <p:sp>
          <p:nvSpPr>
            <p:cNvPr id="5" name="TextBox 5">
              <a:extLst>
                <a:ext uri="{FF2B5EF4-FFF2-40B4-BE49-F238E27FC236}">
                  <a16:creationId xmlns:a16="http://schemas.microsoft.com/office/drawing/2014/main" id="{98DD7F01-3801-3BF4-6A2F-4B23C7031A32}"/>
                </a:ext>
              </a:extLst>
            </p:cNvPr>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A3ED0D6E-6B6F-8DFE-AFC8-C24103236686}"/>
              </a:ext>
            </a:extLst>
          </p:cNvPr>
          <p:cNvSpPr txBox="1"/>
          <p:nvPr/>
        </p:nvSpPr>
        <p:spPr>
          <a:xfrm>
            <a:off x="1219200" y="1285873"/>
            <a:ext cx="16040099" cy="1146789"/>
          </a:xfrm>
          <a:prstGeom prst="rect">
            <a:avLst/>
          </a:prstGeom>
        </p:spPr>
        <p:txBody>
          <a:bodyPr wrap="square" lIns="0" tIns="0" rIns="0" bIns="0" rtlCol="0" anchor="t">
            <a:spAutoFit/>
          </a:bodyPr>
          <a:lstStyle/>
          <a:p>
            <a:pPr algn="ctr">
              <a:lnSpc>
                <a:spcPts val="9600"/>
              </a:lnSpc>
            </a:pPr>
            <a:r>
              <a:rPr lang="en-US" sz="6600" b="1" dirty="0">
                <a:solidFill>
                  <a:srgbClr val="FFFFFF"/>
                </a:solidFill>
                <a:latin typeface="+mj-lt"/>
              </a:rPr>
              <a:t>CROSS-FUNCTIONAL TEAMS </a:t>
            </a:r>
          </a:p>
        </p:txBody>
      </p:sp>
      <p:sp>
        <p:nvSpPr>
          <p:cNvPr id="9" name="TextBox 8">
            <a:extLst>
              <a:ext uri="{FF2B5EF4-FFF2-40B4-BE49-F238E27FC236}">
                <a16:creationId xmlns:a16="http://schemas.microsoft.com/office/drawing/2014/main" id="{0C46C7A4-3163-A75C-7679-4C4E82824B9B}"/>
              </a:ext>
            </a:extLst>
          </p:cNvPr>
          <p:cNvSpPr txBox="1"/>
          <p:nvPr/>
        </p:nvSpPr>
        <p:spPr>
          <a:xfrm>
            <a:off x="1624583" y="3508103"/>
            <a:ext cx="8766325" cy="5001049"/>
          </a:xfrm>
          <a:prstGeom prst="rect">
            <a:avLst/>
          </a:prstGeom>
          <a:noFill/>
        </p:spPr>
        <p:txBody>
          <a:bodyPr wrap="square">
            <a:spAutoFit/>
          </a:bodyPr>
          <a:lstStyle/>
          <a:p>
            <a:pPr marL="342900" lvl="0" indent="-342900" algn="just">
              <a:lnSpc>
                <a:spcPct val="116000"/>
              </a:lnSpc>
              <a:spcAft>
                <a:spcPts val="800"/>
              </a:spcAft>
              <a:buFont typeface="Symbol" pitchFamily="2" charset="2"/>
              <a:buChar char=""/>
            </a:pPr>
            <a:r>
              <a:rPr lang="en-US" sz="2800" b="1" dirty="0">
                <a:solidFill>
                  <a:srgbClr val="FFFFFF"/>
                </a:solidFill>
              </a:rPr>
              <a:t>Agile Release Trains (ARTs): 50–125 people per product line.</a:t>
            </a:r>
          </a:p>
          <a:p>
            <a:pPr marL="342900" lvl="0" indent="-342900" algn="just">
              <a:lnSpc>
                <a:spcPct val="116000"/>
              </a:lnSpc>
              <a:spcAft>
                <a:spcPts val="800"/>
              </a:spcAft>
              <a:buFont typeface="Symbol" pitchFamily="2" charset="2"/>
              <a:buChar char=""/>
            </a:pPr>
            <a:r>
              <a:rPr lang="en-US" sz="2800" b="1" dirty="0">
                <a:solidFill>
                  <a:srgbClr val="FFFFFF"/>
                </a:solidFill>
              </a:rPr>
              <a:t>Scrum Teams: Focused on specific features (e.g., predictive maintenance).</a:t>
            </a:r>
          </a:p>
          <a:p>
            <a:pPr marL="342900" lvl="0" indent="-342900" algn="just">
              <a:lnSpc>
                <a:spcPct val="116000"/>
              </a:lnSpc>
              <a:spcAft>
                <a:spcPts val="800"/>
              </a:spcAft>
              <a:buFont typeface="Symbol" pitchFamily="2" charset="2"/>
              <a:buChar char=""/>
            </a:pPr>
            <a:r>
              <a:rPr lang="en-US" sz="2800" b="1" dirty="0">
                <a:solidFill>
                  <a:srgbClr val="FFFFFF"/>
                </a:solidFill>
              </a:rPr>
              <a:t>System Architects: Define AI/</a:t>
            </a:r>
            <a:r>
              <a:rPr lang="en-US" sz="2800" b="1" dirty="0" err="1">
                <a:solidFill>
                  <a:srgbClr val="FFFFFF"/>
                </a:solidFill>
              </a:rPr>
              <a:t>IoT</a:t>
            </a:r>
            <a:r>
              <a:rPr lang="en-US" sz="2800" b="1" dirty="0">
                <a:solidFill>
                  <a:srgbClr val="FFFFFF"/>
                </a:solidFill>
              </a:rPr>
              <a:t> architecture.</a:t>
            </a:r>
          </a:p>
          <a:p>
            <a:pPr marL="342900" lvl="0" indent="-342900" algn="just">
              <a:lnSpc>
                <a:spcPct val="116000"/>
              </a:lnSpc>
              <a:spcAft>
                <a:spcPts val="800"/>
              </a:spcAft>
              <a:buFont typeface="Symbol" pitchFamily="2" charset="2"/>
              <a:buChar char=""/>
            </a:pPr>
            <a:r>
              <a:rPr lang="en-US" sz="2800" b="1" dirty="0">
                <a:solidFill>
                  <a:srgbClr val="FFFFFF"/>
                </a:solidFill>
              </a:rPr>
              <a:t>Product Manager: Manage the product backlog to customer needs.</a:t>
            </a:r>
          </a:p>
          <a:p>
            <a:pPr marL="342900" lvl="0" indent="-342900" algn="just">
              <a:lnSpc>
                <a:spcPct val="116000"/>
              </a:lnSpc>
              <a:spcAft>
                <a:spcPts val="800"/>
              </a:spcAft>
              <a:buFont typeface="Symbol" pitchFamily="2" charset="2"/>
              <a:buChar char=""/>
            </a:pPr>
            <a:r>
              <a:rPr lang="en-US" sz="2800" b="1" dirty="0">
                <a:solidFill>
                  <a:srgbClr val="FFFFFF"/>
                </a:solidFill>
              </a:rPr>
              <a:t>RTEs: Coordinate Agile execution globally (Scaled Agile Inc., 2021).</a:t>
            </a:r>
          </a:p>
        </p:txBody>
      </p:sp>
      <p:pic>
        <p:nvPicPr>
          <p:cNvPr id="7" name="Picture 6">
            <a:extLst>
              <a:ext uri="{FF2B5EF4-FFF2-40B4-BE49-F238E27FC236}">
                <a16:creationId xmlns:a16="http://schemas.microsoft.com/office/drawing/2014/main" id="{86D53C7C-C40A-4E17-D7AC-4677D9A2D3C2}"/>
              </a:ext>
            </a:extLst>
          </p:cNvPr>
          <p:cNvPicPr>
            <a:picLocks noChangeAspect="1"/>
          </p:cNvPicPr>
          <p:nvPr/>
        </p:nvPicPr>
        <p:blipFill>
          <a:blip r:embed="rId6"/>
          <a:stretch>
            <a:fillRect/>
          </a:stretch>
        </p:blipFill>
        <p:spPr>
          <a:xfrm>
            <a:off x="11120003" y="2793817"/>
            <a:ext cx="5410200" cy="5889921"/>
          </a:xfrm>
          <a:prstGeom prst="rect">
            <a:avLst/>
          </a:prstGeom>
        </p:spPr>
      </p:pic>
      <p:pic>
        <p:nvPicPr>
          <p:cNvPr id="8" name="Wali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624582" y="1325433"/>
            <a:ext cx="2307940" cy="2307940"/>
          </a:xfrm>
          <a:prstGeom prst="rect">
            <a:avLst/>
          </a:prstGeom>
        </p:spPr>
      </p:pic>
    </p:spTree>
    <p:extLst>
      <p:ext uri="{BB962C8B-B14F-4D97-AF65-F5344CB8AC3E}">
        <p14:creationId xmlns:p14="http://schemas.microsoft.com/office/powerpoint/2010/main" val="375631237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63947" fill="hold"/>
                                        <p:tgtEl>
                                          <p:spTgt spid="8"/>
                                        </p:tgtEl>
                                      </p:cBhvr>
                                    </p:cmd>
                                  </p:childTnLst>
                                </p:cTn>
                              </p:par>
                            </p:childTnLst>
                          </p:cTn>
                        </p:par>
                      </p:childTnLst>
                    </p:cTn>
                  </p:par>
                </p:childTnLst>
              </p:cTn>
              <p:nextCondLst>
                <p:cond evt="onClick" delay="0">
                  <p:tgtEl>
                    <p:spTgt spid="8"/>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9A668-7FB5-B899-3A60-86481FF59F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D63BD7-B69A-FB4E-8C46-3BBA618B042E}"/>
              </a:ext>
            </a:extLst>
          </p:cNvPr>
          <p:cNvSpPr/>
          <p:nvPr/>
        </p:nvSpPr>
        <p:spPr>
          <a:xfrm>
            <a:off x="0" y="228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AD59CD4F-2421-3E8B-A74D-145157BC03D3}"/>
              </a:ext>
            </a:extLst>
          </p:cNvPr>
          <p:cNvGrpSpPr/>
          <p:nvPr/>
        </p:nvGrpSpPr>
        <p:grpSpPr>
          <a:xfrm>
            <a:off x="0" y="0"/>
            <a:ext cx="18288000" cy="10287000"/>
            <a:chOff x="0" y="0"/>
            <a:chExt cx="4274726" cy="2167467"/>
          </a:xfrm>
        </p:grpSpPr>
        <p:sp>
          <p:nvSpPr>
            <p:cNvPr id="4" name="Freeform 4">
              <a:extLst>
                <a:ext uri="{FF2B5EF4-FFF2-40B4-BE49-F238E27FC236}">
                  <a16:creationId xmlns:a16="http://schemas.microsoft.com/office/drawing/2014/main" id="{1FFED826-E4A6-2382-EEC6-BC86DD36AFE7}"/>
                </a:ext>
              </a:extLst>
            </p:cNvPr>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52BFAA"/>
            </a:solidFill>
          </p:spPr>
          <p:txBody>
            <a:bodyPr/>
            <a:lstStyle/>
            <a:p>
              <a:endParaRPr lang="en-US"/>
            </a:p>
          </p:txBody>
        </p:sp>
        <p:sp>
          <p:nvSpPr>
            <p:cNvPr id="5" name="TextBox 5">
              <a:extLst>
                <a:ext uri="{FF2B5EF4-FFF2-40B4-BE49-F238E27FC236}">
                  <a16:creationId xmlns:a16="http://schemas.microsoft.com/office/drawing/2014/main" id="{D6C72EFC-F109-98CC-AA2E-ACF662815118}"/>
                </a:ext>
              </a:extLst>
            </p:cNvPr>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a:extLst>
              <a:ext uri="{FF2B5EF4-FFF2-40B4-BE49-F238E27FC236}">
                <a16:creationId xmlns:a16="http://schemas.microsoft.com/office/drawing/2014/main" id="{B78E355A-B474-C04B-063D-48C74F254051}"/>
              </a:ext>
            </a:extLst>
          </p:cNvPr>
          <p:cNvSpPr txBox="1"/>
          <p:nvPr/>
        </p:nvSpPr>
        <p:spPr>
          <a:xfrm>
            <a:off x="2247901" y="399734"/>
            <a:ext cx="14169736" cy="1231106"/>
          </a:xfrm>
          <a:prstGeom prst="rect">
            <a:avLst/>
          </a:prstGeom>
        </p:spPr>
        <p:txBody>
          <a:bodyPr wrap="square" lIns="0" tIns="0" rIns="0" bIns="0" rtlCol="0" anchor="t">
            <a:spAutoFit/>
          </a:bodyPr>
          <a:lstStyle/>
          <a:p>
            <a:pPr lvl="0" algn="ctr">
              <a:lnSpc>
                <a:spcPts val="9600"/>
              </a:lnSpc>
            </a:pPr>
            <a:r>
              <a:rPr lang="en-US" sz="6600" b="1" dirty="0">
                <a:solidFill>
                  <a:srgbClr val="FFFFFF"/>
                </a:solidFill>
                <a:latin typeface="+mj-lt"/>
              </a:rPr>
              <a:t>SIEMENS RISK MITIGATION STRATEGIES   </a:t>
            </a:r>
            <a:endParaRPr lang="en-US" sz="6600" b="1" dirty="0">
              <a:solidFill>
                <a:srgbClr val="FFFFFF"/>
              </a:solidFill>
              <a:latin typeface="+mj-lt"/>
              <a:sym typeface="Rustic Printed"/>
            </a:endParaRPr>
          </a:p>
        </p:txBody>
      </p:sp>
      <p:graphicFrame>
        <p:nvGraphicFramePr>
          <p:cNvPr id="6" name="Table 5">
            <a:extLst>
              <a:ext uri="{FF2B5EF4-FFF2-40B4-BE49-F238E27FC236}">
                <a16:creationId xmlns:a16="http://schemas.microsoft.com/office/drawing/2014/main" id="{ADE0F692-8DD3-7031-8B84-16549942C2C0}"/>
              </a:ext>
            </a:extLst>
          </p:cNvPr>
          <p:cNvGraphicFramePr>
            <a:graphicFrameLocks noGrp="1"/>
          </p:cNvGraphicFramePr>
          <p:nvPr>
            <p:extLst>
              <p:ext uri="{D42A27DB-BD31-4B8C-83A1-F6EECF244321}">
                <p14:modId xmlns:p14="http://schemas.microsoft.com/office/powerpoint/2010/main" val="2392949867"/>
              </p:ext>
            </p:extLst>
          </p:nvPr>
        </p:nvGraphicFramePr>
        <p:xfrm>
          <a:off x="0" y="2028288"/>
          <a:ext cx="18288000" cy="6658512"/>
        </p:xfrm>
        <a:graphic>
          <a:graphicData uri="http://schemas.openxmlformats.org/drawingml/2006/table">
            <a:tbl>
              <a:tblPr firstRow="1" firstCol="1" bandRow="1">
                <a:tableStyleId>{5C22544A-7EE6-4342-B048-85BDC9FD1C3A}</a:tableStyleId>
              </a:tblPr>
              <a:tblGrid>
                <a:gridCol w="4690594">
                  <a:extLst>
                    <a:ext uri="{9D8B030D-6E8A-4147-A177-3AD203B41FA5}">
                      <a16:colId xmlns:a16="http://schemas.microsoft.com/office/drawing/2014/main" val="2290170260"/>
                    </a:ext>
                  </a:extLst>
                </a:gridCol>
                <a:gridCol w="8349857">
                  <a:extLst>
                    <a:ext uri="{9D8B030D-6E8A-4147-A177-3AD203B41FA5}">
                      <a16:colId xmlns:a16="http://schemas.microsoft.com/office/drawing/2014/main" val="3408685427"/>
                    </a:ext>
                  </a:extLst>
                </a:gridCol>
                <a:gridCol w="5247549">
                  <a:extLst>
                    <a:ext uri="{9D8B030D-6E8A-4147-A177-3AD203B41FA5}">
                      <a16:colId xmlns:a16="http://schemas.microsoft.com/office/drawing/2014/main" val="973816360"/>
                    </a:ext>
                  </a:extLst>
                </a:gridCol>
              </a:tblGrid>
              <a:tr h="853360">
                <a:tc>
                  <a:txBody>
                    <a:bodyPr/>
                    <a:lstStyle/>
                    <a:p>
                      <a:pPr marL="0" marR="0" lvl="0" indent="0" algn="ctr" defTabSz="914400" rtl="0" eaLnBrk="1" fontAlgn="auto" latinLnBrk="0" hangingPunct="1">
                        <a:lnSpc>
                          <a:spcPct val="116000"/>
                        </a:lnSpc>
                        <a:spcBef>
                          <a:spcPts val="0"/>
                        </a:spcBef>
                        <a:spcAft>
                          <a:spcPts val="800"/>
                        </a:spcAft>
                        <a:buClrTx/>
                        <a:buSzTx/>
                        <a:buFontTx/>
                        <a:buNone/>
                        <a:tabLst/>
                        <a:defRPr/>
                      </a:pPr>
                      <a:r>
                        <a:rPr lang="en-US" sz="2800" b="1" kern="1200" dirty="0">
                          <a:solidFill>
                            <a:schemeClr val="bg1"/>
                          </a:solidFill>
                          <a:latin typeface="+mn-lt"/>
                          <a:ea typeface="+mn-ea"/>
                          <a:cs typeface="+mn-cs"/>
                        </a:rPr>
                        <a:t>Risk</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a:solidFill>
                            <a:schemeClr val="bg1"/>
                          </a:solidFill>
                          <a:latin typeface="+mn-lt"/>
                          <a:ea typeface="+mn-ea"/>
                          <a:cs typeface="+mn-cs"/>
                        </a:rPr>
                        <a:t>Mitigation Strategy</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a:solidFill>
                            <a:schemeClr val="bg1"/>
                          </a:solidFill>
                          <a:latin typeface="+mn-lt"/>
                          <a:ea typeface="+mn-ea"/>
                          <a:cs typeface="+mn-cs"/>
                        </a:rPr>
                        <a:t>Source</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extLst>
                  <a:ext uri="{0D108BD9-81ED-4DB2-BD59-A6C34878D82A}">
                    <a16:rowId xmlns:a16="http://schemas.microsoft.com/office/drawing/2014/main" val="2392046262"/>
                  </a:ext>
                </a:extLst>
              </a:tr>
              <a:tr h="1439615">
                <a:tc>
                  <a:txBody>
                    <a:bodyPr/>
                    <a:lstStyle/>
                    <a:p>
                      <a:pPr marL="0" marR="0" algn="ctr">
                        <a:lnSpc>
                          <a:spcPct val="116000"/>
                        </a:lnSpc>
                        <a:spcAft>
                          <a:spcPts val="800"/>
                        </a:spcAft>
                        <a:buNone/>
                      </a:pPr>
                      <a:r>
                        <a:rPr lang="en-US" sz="2800" b="1" kern="1200" dirty="0">
                          <a:solidFill>
                            <a:schemeClr val="bg1"/>
                          </a:solidFill>
                          <a:latin typeface="+mn-lt"/>
                          <a:ea typeface="+mn-ea"/>
                          <a:cs typeface="+mn-cs"/>
                        </a:rPr>
                        <a:t>Cultural resistance</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a:solidFill>
                            <a:schemeClr val="bg1"/>
                          </a:solidFill>
                          <a:latin typeface="+mn-lt"/>
                          <a:ea typeface="+mn-ea"/>
                          <a:cs typeface="+mn-cs"/>
                        </a:rPr>
                        <a:t>Create LACE, Agile champions, leadership training</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a:solidFill>
                            <a:schemeClr val="bg1"/>
                          </a:solidFill>
                          <a:latin typeface="+mn-lt"/>
                          <a:ea typeface="+mn-ea"/>
                          <a:cs typeface="+mn-cs"/>
                        </a:rPr>
                        <a:t>Kotter (2012)</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extLst>
                  <a:ext uri="{0D108BD9-81ED-4DB2-BD59-A6C34878D82A}">
                    <a16:rowId xmlns:a16="http://schemas.microsoft.com/office/drawing/2014/main" val="3717421487"/>
                  </a:ext>
                </a:extLst>
              </a:tr>
              <a:tr h="1303022">
                <a:tc>
                  <a:txBody>
                    <a:bodyPr/>
                    <a:lstStyle/>
                    <a:p>
                      <a:pPr marL="0" marR="0" algn="ctr">
                        <a:lnSpc>
                          <a:spcPct val="116000"/>
                        </a:lnSpc>
                        <a:spcAft>
                          <a:spcPts val="800"/>
                        </a:spcAft>
                        <a:buNone/>
                      </a:pPr>
                      <a:r>
                        <a:rPr lang="en-US" sz="2800" b="1" kern="1200" dirty="0" err="1">
                          <a:solidFill>
                            <a:schemeClr val="bg1"/>
                          </a:solidFill>
                          <a:latin typeface="+mn-lt"/>
                          <a:ea typeface="+mn-ea"/>
                          <a:cs typeface="+mn-cs"/>
                        </a:rPr>
                        <a:t>SAFe</a:t>
                      </a:r>
                      <a:r>
                        <a:rPr lang="en-US" sz="2800" b="1" kern="1200" dirty="0">
                          <a:solidFill>
                            <a:schemeClr val="bg1"/>
                          </a:solidFill>
                          <a:latin typeface="+mn-lt"/>
                          <a:ea typeface="+mn-ea"/>
                          <a:cs typeface="+mn-cs"/>
                        </a:rPr>
                        <a:t> complexity</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a:solidFill>
                            <a:schemeClr val="bg1"/>
                          </a:solidFill>
                          <a:latin typeface="+mn-lt"/>
                          <a:ea typeface="+mn-ea"/>
                          <a:cs typeface="+mn-cs"/>
                        </a:rPr>
                        <a:t>Pilot ARTs before scaling</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a:solidFill>
                            <a:schemeClr val="bg1"/>
                          </a:solidFill>
                          <a:latin typeface="+mn-lt"/>
                          <a:ea typeface="+mn-ea"/>
                          <a:cs typeface="+mn-cs"/>
                        </a:rPr>
                        <a:t>Scaled Agile Inc. (2021)</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extLst>
                  <a:ext uri="{0D108BD9-81ED-4DB2-BD59-A6C34878D82A}">
                    <a16:rowId xmlns:a16="http://schemas.microsoft.com/office/drawing/2014/main" val="2217382134"/>
                  </a:ext>
                </a:extLst>
              </a:tr>
              <a:tr h="827837">
                <a:tc>
                  <a:txBody>
                    <a:bodyPr/>
                    <a:lstStyle/>
                    <a:p>
                      <a:pPr marL="0" marR="0" algn="ctr">
                        <a:lnSpc>
                          <a:spcPct val="116000"/>
                        </a:lnSpc>
                        <a:spcAft>
                          <a:spcPts val="800"/>
                        </a:spcAft>
                        <a:buNone/>
                      </a:pPr>
                      <a:r>
                        <a:rPr lang="en-US" sz="2800" b="1" kern="1200" dirty="0">
                          <a:solidFill>
                            <a:schemeClr val="bg1"/>
                          </a:solidFill>
                          <a:latin typeface="+mn-lt"/>
                          <a:ea typeface="+mn-ea"/>
                          <a:cs typeface="+mn-cs"/>
                        </a:rPr>
                        <a:t>Global coordination</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a:solidFill>
                            <a:schemeClr val="bg1"/>
                          </a:solidFill>
                          <a:latin typeface="+mn-lt"/>
                          <a:ea typeface="+mn-ea"/>
                          <a:cs typeface="+mn-cs"/>
                        </a:rPr>
                        <a:t>Use hybrid PI planning, Jira, Miro</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a:solidFill>
                            <a:schemeClr val="bg1"/>
                          </a:solidFill>
                          <a:latin typeface="+mn-lt"/>
                          <a:ea typeface="+mn-ea"/>
                          <a:cs typeface="+mn-cs"/>
                        </a:rPr>
                        <a:t>Denning (2018)</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extLst>
                  <a:ext uri="{0D108BD9-81ED-4DB2-BD59-A6C34878D82A}">
                    <a16:rowId xmlns:a16="http://schemas.microsoft.com/office/drawing/2014/main" val="282451595"/>
                  </a:ext>
                </a:extLst>
              </a:tr>
              <a:tr h="1336503">
                <a:tc>
                  <a:txBody>
                    <a:bodyPr/>
                    <a:lstStyle/>
                    <a:p>
                      <a:pPr marL="0" marR="0" algn="ctr">
                        <a:lnSpc>
                          <a:spcPct val="116000"/>
                        </a:lnSpc>
                        <a:spcAft>
                          <a:spcPts val="800"/>
                        </a:spcAft>
                        <a:buNone/>
                      </a:pPr>
                      <a:r>
                        <a:rPr lang="en-US" sz="2800" b="1" kern="1200">
                          <a:solidFill>
                            <a:schemeClr val="bg1"/>
                          </a:solidFill>
                          <a:latin typeface="+mn-lt"/>
                          <a:ea typeface="+mn-ea"/>
                          <a:cs typeface="+mn-cs"/>
                        </a:rPr>
                        <a:t>Compliance/security</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a:solidFill>
                            <a:schemeClr val="bg1"/>
                          </a:solidFill>
                          <a:latin typeface="+mn-lt"/>
                          <a:ea typeface="+mn-ea"/>
                          <a:cs typeface="+mn-cs"/>
                        </a:rPr>
                        <a:t>Embed experts, regulatory audits</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err="1">
                          <a:solidFill>
                            <a:schemeClr val="bg1"/>
                          </a:solidFill>
                          <a:latin typeface="+mn-lt"/>
                          <a:ea typeface="+mn-ea"/>
                          <a:cs typeface="+mn-cs"/>
                        </a:rPr>
                        <a:t>Schwaber</a:t>
                      </a:r>
                      <a:r>
                        <a:rPr lang="en-US" sz="2800" b="1" kern="1200" dirty="0">
                          <a:solidFill>
                            <a:schemeClr val="bg1"/>
                          </a:solidFill>
                          <a:latin typeface="+mn-lt"/>
                          <a:ea typeface="+mn-ea"/>
                          <a:cs typeface="+mn-cs"/>
                        </a:rPr>
                        <a:t> &amp; Sutherland (2020)</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extLst>
                  <a:ext uri="{0D108BD9-81ED-4DB2-BD59-A6C34878D82A}">
                    <a16:rowId xmlns:a16="http://schemas.microsoft.com/office/drawing/2014/main" val="911401318"/>
                  </a:ext>
                </a:extLst>
              </a:tr>
              <a:tr h="898175">
                <a:tc>
                  <a:txBody>
                    <a:bodyPr/>
                    <a:lstStyle/>
                    <a:p>
                      <a:pPr marL="0" marR="0" algn="ctr">
                        <a:lnSpc>
                          <a:spcPct val="116000"/>
                        </a:lnSpc>
                        <a:spcAft>
                          <a:spcPts val="800"/>
                        </a:spcAft>
                        <a:buNone/>
                      </a:pPr>
                      <a:r>
                        <a:rPr lang="en-US" sz="2800" b="1" kern="1200">
                          <a:solidFill>
                            <a:schemeClr val="bg1"/>
                          </a:solidFill>
                          <a:latin typeface="+mn-lt"/>
                          <a:ea typeface="+mn-ea"/>
                          <a:cs typeface="+mn-cs"/>
                        </a:rPr>
                        <a:t>Skill gaps</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a:solidFill>
                            <a:schemeClr val="bg1"/>
                          </a:solidFill>
                          <a:latin typeface="+mn-lt"/>
                          <a:ea typeface="+mn-ea"/>
                          <a:cs typeface="+mn-cs"/>
                        </a:rPr>
                        <a:t>Continuous learning, expert hiring</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tc>
                  <a:txBody>
                    <a:bodyPr/>
                    <a:lstStyle/>
                    <a:p>
                      <a:pPr marL="0" marR="0" algn="ctr">
                        <a:lnSpc>
                          <a:spcPct val="116000"/>
                        </a:lnSpc>
                        <a:spcAft>
                          <a:spcPts val="800"/>
                        </a:spcAft>
                        <a:buNone/>
                      </a:pPr>
                      <a:r>
                        <a:rPr lang="en-US" sz="2800" b="1" kern="1200" dirty="0">
                          <a:solidFill>
                            <a:schemeClr val="bg1"/>
                          </a:solidFill>
                          <a:latin typeface="+mn-lt"/>
                          <a:ea typeface="+mn-ea"/>
                          <a:cs typeface="+mn-cs"/>
                        </a:rPr>
                        <a:t>Cohn (2004); Denning (2018)</a:t>
                      </a:r>
                    </a:p>
                  </a:txBody>
                  <a:tcPr marL="9525" marR="9525" marT="9525" marB="9525" anchor="ctr">
                    <a:gradFill flip="none" rotWithShape="1">
                      <a:gsLst>
                        <a:gs pos="0">
                          <a:srgbClr val="145C94">
                            <a:shade val="30000"/>
                            <a:satMod val="115000"/>
                          </a:srgbClr>
                        </a:gs>
                        <a:gs pos="50000">
                          <a:srgbClr val="145C94">
                            <a:shade val="67500"/>
                            <a:satMod val="115000"/>
                          </a:srgbClr>
                        </a:gs>
                        <a:gs pos="100000">
                          <a:srgbClr val="145C94">
                            <a:shade val="100000"/>
                            <a:satMod val="115000"/>
                          </a:srgbClr>
                        </a:gs>
                      </a:gsLst>
                      <a:path path="circle">
                        <a:fillToRect l="100000" t="100000"/>
                      </a:path>
                      <a:tileRect r="-100000" b="-100000"/>
                    </a:gradFill>
                  </a:tcPr>
                </a:tc>
                <a:extLst>
                  <a:ext uri="{0D108BD9-81ED-4DB2-BD59-A6C34878D82A}">
                    <a16:rowId xmlns:a16="http://schemas.microsoft.com/office/drawing/2014/main" val="481153046"/>
                  </a:ext>
                </a:extLst>
              </a:tr>
            </a:tbl>
          </a:graphicData>
        </a:graphic>
      </p:graphicFrame>
      <p:sp>
        <p:nvSpPr>
          <p:cNvPr id="9" name="Rectangle 8"/>
          <p:cNvSpPr/>
          <p:nvPr/>
        </p:nvSpPr>
        <p:spPr>
          <a:xfrm>
            <a:off x="4907975" y="9084248"/>
            <a:ext cx="8163790" cy="523220"/>
          </a:xfrm>
          <a:prstGeom prst="rect">
            <a:avLst/>
          </a:prstGeom>
        </p:spPr>
        <p:txBody>
          <a:bodyPr wrap="square">
            <a:spAutoFit/>
          </a:bodyPr>
          <a:lstStyle/>
          <a:p>
            <a:pPr lvl="0"/>
            <a:r>
              <a:rPr lang="en-US" sz="2800" b="1" dirty="0">
                <a:solidFill>
                  <a:prstClr val="black"/>
                </a:solidFill>
              </a:rPr>
              <a:t>Table 2: Siemens project’s Risk Mitigation Strategies.</a:t>
            </a:r>
          </a:p>
        </p:txBody>
      </p:sp>
      <p:pic>
        <p:nvPicPr>
          <p:cNvPr id="8" name="Wali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377538" y="399734"/>
            <a:ext cx="1744980" cy="1744980"/>
          </a:xfrm>
          <a:prstGeom prst="rect">
            <a:avLst/>
          </a:prstGeom>
        </p:spPr>
      </p:pic>
    </p:spTree>
    <p:extLst>
      <p:ext uri="{BB962C8B-B14F-4D97-AF65-F5344CB8AC3E}">
        <p14:creationId xmlns:p14="http://schemas.microsoft.com/office/powerpoint/2010/main" val="338136405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381" fill="hold"/>
                                        <p:tgtEl>
                                          <p:spTgt spid="8"/>
                                        </p:tgtEl>
                                      </p:cBhvr>
                                    </p:cmd>
                                  </p:childTnLst>
                                </p:cTn>
                              </p:par>
                            </p:childTnLst>
                          </p:cTn>
                        </p:par>
                      </p:childTnLst>
                    </p:cTn>
                  </p:par>
                </p:childTnLst>
              </p:cTn>
              <p:nextCondLst>
                <p:cond evt="onClick" delay="0">
                  <p:tgtEl>
                    <p:spTgt spid="8"/>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7473D-71C0-73F6-BEE3-76DFDEA5E516}"/>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FD1AC435-C81F-BB5A-3C6E-41F0CE2E917F}"/>
              </a:ext>
            </a:extLst>
          </p:cNvPr>
          <p:cNvGrpSpPr/>
          <p:nvPr/>
        </p:nvGrpSpPr>
        <p:grpSpPr>
          <a:xfrm>
            <a:off x="0" y="0"/>
            <a:ext cx="18288000" cy="10286999"/>
            <a:chOff x="0" y="0"/>
            <a:chExt cx="4274726" cy="2167467"/>
          </a:xfrm>
        </p:grpSpPr>
        <p:sp>
          <p:nvSpPr>
            <p:cNvPr id="4" name="Freeform 4">
              <a:extLst>
                <a:ext uri="{FF2B5EF4-FFF2-40B4-BE49-F238E27FC236}">
                  <a16:creationId xmlns:a16="http://schemas.microsoft.com/office/drawing/2014/main" id="{946F9CD0-1157-D45A-4560-4FAF59EC35E9}"/>
                </a:ext>
              </a:extLst>
            </p:cNvPr>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52BFAA"/>
            </a:solidFill>
          </p:spPr>
          <p:txBody>
            <a:bodyPr/>
            <a:lstStyle/>
            <a:p>
              <a:endParaRPr lang="en-US"/>
            </a:p>
          </p:txBody>
        </p:sp>
        <p:sp>
          <p:nvSpPr>
            <p:cNvPr id="5" name="TextBox 5">
              <a:extLst>
                <a:ext uri="{FF2B5EF4-FFF2-40B4-BE49-F238E27FC236}">
                  <a16:creationId xmlns:a16="http://schemas.microsoft.com/office/drawing/2014/main" id="{C24D09D2-1BE3-D9DD-C4E2-63C19221434C}"/>
                </a:ext>
              </a:extLst>
            </p:cNvPr>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a:extLst>
              <a:ext uri="{FF2B5EF4-FFF2-40B4-BE49-F238E27FC236}">
                <a16:creationId xmlns:a16="http://schemas.microsoft.com/office/drawing/2014/main" id="{028ECCC6-E020-C979-6212-0C551A726CC3}"/>
              </a:ext>
            </a:extLst>
          </p:cNvPr>
          <p:cNvSpPr txBox="1"/>
          <p:nvPr/>
        </p:nvSpPr>
        <p:spPr>
          <a:xfrm>
            <a:off x="1524000" y="266700"/>
            <a:ext cx="15240000" cy="1167051"/>
          </a:xfrm>
          <a:prstGeom prst="rect">
            <a:avLst/>
          </a:prstGeom>
        </p:spPr>
        <p:txBody>
          <a:bodyPr wrap="square" lIns="0" tIns="0" rIns="0" bIns="0" rtlCol="0" anchor="t">
            <a:spAutoFit/>
          </a:bodyPr>
          <a:lstStyle/>
          <a:p>
            <a:pPr lvl="0" algn="ctr">
              <a:lnSpc>
                <a:spcPts val="9600"/>
              </a:lnSpc>
            </a:pPr>
            <a:r>
              <a:rPr lang="en-US" sz="6600" b="1" dirty="0">
                <a:solidFill>
                  <a:srgbClr val="FFFFFF"/>
                </a:solidFill>
                <a:latin typeface="+mj-lt"/>
              </a:rPr>
              <a:t>PROJECT MONITORING &amp; EVALUATION    </a:t>
            </a:r>
            <a:endParaRPr lang="en-US" sz="6600" b="1" dirty="0">
              <a:solidFill>
                <a:srgbClr val="FFFFFF"/>
              </a:solidFill>
              <a:latin typeface="+mj-lt"/>
              <a:sym typeface="Rustic Printed"/>
            </a:endParaRPr>
          </a:p>
        </p:txBody>
      </p:sp>
      <p:sp>
        <p:nvSpPr>
          <p:cNvPr id="10" name="TextBox 9">
            <a:extLst>
              <a:ext uri="{FF2B5EF4-FFF2-40B4-BE49-F238E27FC236}">
                <a16:creationId xmlns:a16="http://schemas.microsoft.com/office/drawing/2014/main" id="{BAA0FA6C-A331-661F-07FE-E984EDC53D94}"/>
              </a:ext>
            </a:extLst>
          </p:cNvPr>
          <p:cNvSpPr txBox="1"/>
          <p:nvPr/>
        </p:nvSpPr>
        <p:spPr>
          <a:xfrm>
            <a:off x="311427" y="1655095"/>
            <a:ext cx="6526696" cy="6060762"/>
          </a:xfrm>
          <a:prstGeom prst="rect">
            <a:avLst/>
          </a:prstGeom>
          <a:noFill/>
        </p:spPr>
        <p:txBody>
          <a:bodyPr wrap="square">
            <a:spAutoFit/>
          </a:bodyPr>
          <a:lstStyle/>
          <a:p>
            <a:pPr lvl="0"/>
            <a:endParaRPr lang="en-US" sz="2400" b="1" dirty="0">
              <a:solidFill>
                <a:srgbClr val="FFFFFF"/>
              </a:solidFill>
              <a:latin typeface="Canva Sans Medium"/>
            </a:endParaRPr>
          </a:p>
          <a:p>
            <a:pPr marL="342900" indent="-342900">
              <a:buFont typeface="Arial" panose="020B0604020202020204" pitchFamily="34" charset="0"/>
              <a:buChar char="•"/>
            </a:pPr>
            <a:r>
              <a:rPr lang="en-US" sz="2400" b="1" dirty="0">
                <a:solidFill>
                  <a:srgbClr val="FFFFFF"/>
                </a:solidFill>
                <a:latin typeface="Canva Sans Medium"/>
              </a:rPr>
              <a:t>Siemens AI Appliance program delivers value, quality, and sustainability, by constant project monitoring and evaluation.</a:t>
            </a:r>
          </a:p>
          <a:p>
            <a:endParaRPr lang="en-US" sz="2400" b="1" dirty="0">
              <a:solidFill>
                <a:srgbClr val="FFFFFF"/>
              </a:solidFill>
              <a:latin typeface="Canva Sans Medium"/>
            </a:endParaRPr>
          </a:p>
          <a:p>
            <a:pPr marL="342900" indent="-342900">
              <a:buFont typeface="Arial" panose="020B0604020202020204" pitchFamily="34" charset="0"/>
              <a:buChar char="•"/>
            </a:pPr>
            <a:r>
              <a:rPr lang="en-US" sz="2400" b="1" dirty="0">
                <a:solidFill>
                  <a:srgbClr val="FFFFFF"/>
                </a:solidFill>
                <a:latin typeface="Canva Sans Medium"/>
              </a:rPr>
              <a:t>With the help of “AI path” for manufacturing simulation in its project life cycles, by utilizing Heuristic data sets.</a:t>
            </a:r>
            <a:r>
              <a:rPr lang="de-DE" sz="2400" b="1" dirty="0">
                <a:solidFill>
                  <a:srgbClr val="FFFFFF"/>
                </a:solidFill>
                <a:latin typeface="Canva Sans Medium"/>
              </a:rPr>
              <a:t> (Siemens Digital Industries Software, 2024).</a:t>
            </a:r>
            <a:endParaRPr lang="en-US" sz="2400" b="1" dirty="0">
              <a:solidFill>
                <a:srgbClr val="FFFFFF"/>
              </a:solidFill>
              <a:latin typeface="Canva Sans Medium"/>
            </a:endParaRPr>
          </a:p>
          <a:p>
            <a:endParaRPr lang="en-US" sz="2400" b="1" dirty="0">
              <a:solidFill>
                <a:srgbClr val="FFFFFF"/>
              </a:solidFill>
              <a:latin typeface="Canva Sans Medium"/>
            </a:endParaRPr>
          </a:p>
          <a:p>
            <a:pPr marL="342900" indent="-342900">
              <a:buFont typeface="Arial" panose="020B0604020202020204" pitchFamily="34" charset="0"/>
              <a:buChar char="•"/>
            </a:pPr>
            <a:r>
              <a:rPr lang="en-US" sz="2400" b="1" dirty="0">
                <a:solidFill>
                  <a:srgbClr val="FFFFFF"/>
                </a:solidFill>
                <a:latin typeface="Canva Sans Medium"/>
              </a:rPr>
              <a:t>This provide speed of delivery with customer satisfaction and strategic alignment.</a:t>
            </a:r>
          </a:p>
          <a:p>
            <a:pPr algn="just">
              <a:lnSpc>
                <a:spcPct val="116000"/>
              </a:lnSpc>
              <a:spcAft>
                <a:spcPts val="800"/>
              </a:spcAft>
            </a:pPr>
            <a:endParaRPr lang="en-US" sz="2400" b="1" dirty="0">
              <a:solidFill>
                <a:srgbClr val="FFFFFF"/>
              </a:solidFill>
              <a:latin typeface="Canva Sans Medium"/>
            </a:endParaRPr>
          </a:p>
        </p:txBody>
      </p:sp>
      <p:sp>
        <p:nvSpPr>
          <p:cNvPr id="6" name="Rectangle 5"/>
          <p:cNvSpPr/>
          <p:nvPr/>
        </p:nvSpPr>
        <p:spPr>
          <a:xfrm>
            <a:off x="4445730" y="9204687"/>
            <a:ext cx="8865504" cy="461665"/>
          </a:xfrm>
          <a:prstGeom prst="rect">
            <a:avLst/>
          </a:prstGeom>
        </p:spPr>
        <p:txBody>
          <a:bodyPr wrap="none">
            <a:spAutoFit/>
          </a:bodyPr>
          <a:lstStyle/>
          <a:p>
            <a:pPr lvl="0"/>
            <a:r>
              <a:rPr lang="en-US" sz="2400" b="1" dirty="0">
                <a:solidFill>
                  <a:prstClr val="black"/>
                </a:solidFill>
              </a:rPr>
              <a:t>Figure 2 : Project Management life Cycle. (Personal Collection, 2025)</a:t>
            </a:r>
          </a:p>
        </p:txBody>
      </p:sp>
      <p:sp>
        <p:nvSpPr>
          <p:cNvPr id="11" name="Rectangle 10"/>
          <p:cNvSpPr/>
          <p:nvPr/>
        </p:nvSpPr>
        <p:spPr>
          <a:xfrm>
            <a:off x="7335078" y="1908058"/>
            <a:ext cx="10499507" cy="6420933"/>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pic>
        <p:nvPicPr>
          <p:cNvPr id="8" name="Picture 7"/>
          <p:cNvPicPr>
            <a:picLocks noChangeAspect="1"/>
          </p:cNvPicPr>
          <p:nvPr/>
        </p:nvPicPr>
        <p:blipFill>
          <a:blip r:embed="rId5"/>
          <a:stretch>
            <a:fillRect/>
          </a:stretch>
        </p:blipFill>
        <p:spPr>
          <a:xfrm>
            <a:off x="7474227" y="1908058"/>
            <a:ext cx="10360358" cy="6420933"/>
          </a:xfrm>
          <a:prstGeom prst="rect">
            <a:avLst/>
          </a:prstGeom>
          <a:ln w="228600" cap="sq" cmpd="thickThin">
            <a:solidFill>
              <a:srgbClr val="000000"/>
            </a:solidFill>
            <a:prstDash val="solid"/>
            <a:miter lim="800000"/>
          </a:ln>
          <a:effectLst>
            <a:innerShdw blurRad="76200">
              <a:srgbClr val="000000"/>
            </a:innerShdw>
          </a:effectLst>
        </p:spPr>
      </p:pic>
      <p:sp>
        <p:nvSpPr>
          <p:cNvPr id="12" name="Oval 11"/>
          <p:cNvSpPr/>
          <p:nvPr/>
        </p:nvSpPr>
        <p:spPr>
          <a:xfrm>
            <a:off x="10177671" y="2637023"/>
            <a:ext cx="5128590" cy="3928442"/>
          </a:xfrm>
          <a:prstGeom prst="ellipse">
            <a:avLst/>
          </a:prstGeom>
          <a:gradFill flip="none" rotWithShape="1">
            <a:gsLst>
              <a:gs pos="42000">
                <a:srgbClr val="FFFF00">
                  <a:shade val="30000"/>
                  <a:satMod val="115000"/>
                  <a:alpha val="0"/>
                  <a:lumMod val="53000"/>
                  <a:lumOff val="47000"/>
                </a:srgbClr>
              </a:gs>
              <a:gs pos="100000">
                <a:srgbClr val="FFFF00">
                  <a:shade val="67500"/>
                  <a:satMod val="115000"/>
                </a:srgbClr>
              </a:gs>
              <a:gs pos="100000">
                <a:srgbClr val="FFFF00">
                  <a:shade val="100000"/>
                  <a:satMod val="115000"/>
                </a:srgbClr>
              </a:gs>
            </a:gsLst>
            <a:path path="circle">
              <a:fillToRect l="50000" t="50000" r="50000" b="50000"/>
            </a:path>
            <a:tileRect/>
          </a:gra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flipH="1">
            <a:off x="11276937" y="6578107"/>
            <a:ext cx="3234194" cy="461665"/>
          </a:xfrm>
          <a:prstGeom prst="rect">
            <a:avLst/>
          </a:prstGeom>
          <a:noFill/>
        </p:spPr>
        <p:txBody>
          <a:bodyPr wrap="square" rtlCol="0">
            <a:spAutoFit/>
          </a:bodyPr>
          <a:lstStyle/>
          <a:p>
            <a:r>
              <a:rPr lang="en-US" sz="2400" b="1" dirty="0"/>
              <a:t>Project Evaluation cycle </a:t>
            </a:r>
          </a:p>
        </p:txBody>
      </p:sp>
      <p:pic>
        <p:nvPicPr>
          <p:cNvPr id="14" name="Wali 7">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11727" y="7465296"/>
            <a:ext cx="2377412" cy="2377412"/>
          </a:xfrm>
          <a:prstGeom prst="rect">
            <a:avLst/>
          </a:prstGeom>
        </p:spPr>
      </p:pic>
    </p:spTree>
    <p:extLst>
      <p:ext uri="{BB962C8B-B14F-4D97-AF65-F5344CB8AC3E}">
        <p14:creationId xmlns:p14="http://schemas.microsoft.com/office/powerpoint/2010/main" val="16863096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4125" fill="hold"/>
                                        <p:tgtEl>
                                          <p:spTgt spid="14"/>
                                        </p:tgtEl>
                                      </p:cBhvr>
                                    </p:cmd>
                                  </p:childTnLst>
                                </p:cTn>
                              </p:par>
                            </p:childTnLst>
                          </p:cTn>
                        </p:par>
                      </p:childTnLst>
                    </p:cTn>
                  </p:par>
                </p:childTnLst>
              </p:cTn>
              <p:nextCondLst>
                <p:cond evt="onClick" delay="0">
                  <p:tgtEl>
                    <p:spTgt spid="14"/>
                  </p:tgtEl>
                </p:cond>
              </p:nextCondLst>
            </p:seq>
            <p:audio>
              <p:cMediaNode vol="80000">
                <p:cTn id="7" fill="hold" display="0">
                  <p:stCondLst>
                    <p:cond delay="indefinite"/>
                  </p:stCondLst>
                  <p:endCondLst>
                    <p:cond evt="onStopAudio" delay="0">
                      <p:tgtEl>
                        <p:sldTgt/>
                      </p:tgtEl>
                    </p:cond>
                  </p:endCondLst>
                </p:cTn>
                <p:tgtEl>
                  <p:spTgt spid="1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7F8F1-9A48-61F1-A143-ADE4D518204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1E1B52-A344-B8F4-A3C3-3B8C01E586D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dirty="0"/>
          </a:p>
        </p:txBody>
      </p:sp>
      <p:sp>
        <p:nvSpPr>
          <p:cNvPr id="6" name="TextBox 6">
            <a:extLst>
              <a:ext uri="{FF2B5EF4-FFF2-40B4-BE49-F238E27FC236}">
                <a16:creationId xmlns:a16="http://schemas.microsoft.com/office/drawing/2014/main" id="{90DCF1F5-65FD-3B6D-E3C7-87BBDD0465DC}"/>
              </a:ext>
            </a:extLst>
          </p:cNvPr>
          <p:cNvSpPr txBox="1"/>
          <p:nvPr/>
        </p:nvSpPr>
        <p:spPr>
          <a:xfrm>
            <a:off x="1254579" y="136292"/>
            <a:ext cx="16040099" cy="2462213"/>
          </a:xfrm>
          <a:prstGeom prst="rect">
            <a:avLst/>
          </a:prstGeom>
        </p:spPr>
        <p:txBody>
          <a:bodyPr wrap="square" lIns="0" tIns="0" rIns="0" bIns="0" rtlCol="0" anchor="t">
            <a:spAutoFit/>
          </a:bodyPr>
          <a:lstStyle/>
          <a:p>
            <a:pPr algn="ctr">
              <a:lnSpc>
                <a:spcPts val="9600"/>
              </a:lnSpc>
            </a:pPr>
            <a:r>
              <a:rPr lang="en-US" sz="6600" b="1" dirty="0">
                <a:solidFill>
                  <a:srgbClr val="145C94"/>
                </a:solidFill>
                <a:latin typeface="+mj-lt"/>
              </a:rPr>
              <a:t>AGILE FLOW &amp; DELIVERY METRICS  </a:t>
            </a:r>
          </a:p>
          <a:p>
            <a:pPr marL="0" lvl="0" indent="0" algn="ctr">
              <a:lnSpc>
                <a:spcPts val="9600"/>
              </a:lnSpc>
            </a:pPr>
            <a:endParaRPr lang="en-US" sz="6600" b="1" spc="-600" dirty="0">
              <a:solidFill>
                <a:srgbClr val="145C94"/>
              </a:solidFill>
              <a:latin typeface="+mj-lt"/>
              <a:ea typeface="Rustic Printed"/>
              <a:cs typeface="Rustic Printed"/>
              <a:sym typeface="Rustic Printed"/>
            </a:endParaRPr>
          </a:p>
        </p:txBody>
      </p:sp>
      <p:grpSp>
        <p:nvGrpSpPr>
          <p:cNvPr id="34" name="Group 33">
            <a:extLst>
              <a:ext uri="{FF2B5EF4-FFF2-40B4-BE49-F238E27FC236}">
                <a16:creationId xmlns:a16="http://schemas.microsoft.com/office/drawing/2014/main" id="{D453E94E-3112-34C5-6857-B6715B3F95BD}"/>
              </a:ext>
            </a:extLst>
          </p:cNvPr>
          <p:cNvGrpSpPr/>
          <p:nvPr/>
        </p:nvGrpSpPr>
        <p:grpSpPr>
          <a:xfrm>
            <a:off x="2676328" y="1456090"/>
            <a:ext cx="13958596" cy="8034880"/>
            <a:chOff x="1371600" y="1905000"/>
            <a:chExt cx="16002000" cy="8382000"/>
          </a:xfrm>
        </p:grpSpPr>
        <p:sp>
          <p:nvSpPr>
            <p:cNvPr id="26" name="Rectangle 25">
              <a:extLst>
                <a:ext uri="{FF2B5EF4-FFF2-40B4-BE49-F238E27FC236}">
                  <a16:creationId xmlns:a16="http://schemas.microsoft.com/office/drawing/2014/main" id="{F1F9CAF2-1B61-39F8-6A98-DE65872DAA33}"/>
                </a:ext>
              </a:extLst>
            </p:cNvPr>
            <p:cNvSpPr>
              <a:spLocks/>
            </p:cNvSpPr>
            <p:nvPr/>
          </p:nvSpPr>
          <p:spPr>
            <a:xfrm>
              <a:off x="1390650" y="4686299"/>
              <a:ext cx="10115550" cy="2781299"/>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8855074-A9C5-3E40-A89F-C540205BDBF3}"/>
                </a:ext>
              </a:extLst>
            </p:cNvPr>
            <p:cNvSpPr>
              <a:spLocks/>
            </p:cNvSpPr>
            <p:nvPr/>
          </p:nvSpPr>
          <p:spPr>
            <a:xfrm>
              <a:off x="1390650" y="7486649"/>
              <a:ext cx="11258550" cy="2781299"/>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25208B6-FF1C-9A5D-AB9C-7F8BDD35B52C}"/>
                </a:ext>
              </a:extLst>
            </p:cNvPr>
            <p:cNvSpPr>
              <a:spLocks/>
            </p:cNvSpPr>
            <p:nvPr/>
          </p:nvSpPr>
          <p:spPr>
            <a:xfrm>
              <a:off x="1371600" y="1905000"/>
              <a:ext cx="8305800" cy="2781299"/>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a:extLst>
                <a:ext uri="{FF2B5EF4-FFF2-40B4-BE49-F238E27FC236}">
                  <a16:creationId xmlns:a16="http://schemas.microsoft.com/office/drawing/2014/main" id="{142D753A-19CB-E7AE-5FA7-08B8ECC600BF}"/>
                </a:ext>
              </a:extLst>
            </p:cNvPr>
            <p:cNvGraphicFramePr>
              <a:graphicFrameLocks/>
            </p:cNvGraphicFramePr>
            <p:nvPr>
              <p:extLst>
                <p:ext uri="{D42A27DB-BD31-4B8C-83A1-F6EECF244321}">
                  <p14:modId xmlns:p14="http://schemas.microsoft.com/office/powerpoint/2010/main" val="3033124109"/>
                </p:ext>
              </p:extLst>
            </p:nvPr>
          </p:nvGraphicFramePr>
          <p:xfrm>
            <a:off x="7848600" y="1905001"/>
            <a:ext cx="9525000" cy="8381999"/>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sp>
        <p:nvSpPr>
          <p:cNvPr id="28" name="TextBox 27">
            <a:extLst>
              <a:ext uri="{FF2B5EF4-FFF2-40B4-BE49-F238E27FC236}">
                <a16:creationId xmlns:a16="http://schemas.microsoft.com/office/drawing/2014/main" id="{AD755B0B-14C5-B56B-94A1-CCC4741E66EC}"/>
              </a:ext>
            </a:extLst>
          </p:cNvPr>
          <p:cNvSpPr txBox="1">
            <a:spLocks/>
          </p:cNvSpPr>
          <p:nvPr/>
        </p:nvSpPr>
        <p:spPr>
          <a:xfrm>
            <a:off x="4277511" y="2412381"/>
            <a:ext cx="3558886" cy="646331"/>
          </a:xfrm>
          <a:prstGeom prst="rect">
            <a:avLst/>
          </a:prstGeom>
          <a:noFill/>
        </p:spPr>
        <p:txBody>
          <a:bodyPr wrap="square">
            <a:spAutoFit/>
          </a:bodyPr>
          <a:lstStyle/>
          <a:p>
            <a:pPr lvl="0"/>
            <a:r>
              <a:rPr lang="en-US" sz="3600" b="1" dirty="0">
                <a:solidFill>
                  <a:srgbClr val="FFFFFF"/>
                </a:solidFill>
                <a:latin typeface="+mj-lt"/>
              </a:rPr>
              <a:t>Flow Velocity</a:t>
            </a:r>
          </a:p>
        </p:txBody>
      </p:sp>
      <p:sp>
        <p:nvSpPr>
          <p:cNvPr id="29" name="TextBox 28">
            <a:extLst>
              <a:ext uri="{FF2B5EF4-FFF2-40B4-BE49-F238E27FC236}">
                <a16:creationId xmlns:a16="http://schemas.microsoft.com/office/drawing/2014/main" id="{D4E070D9-A444-8148-18CC-8A5DB9BFF895}"/>
              </a:ext>
            </a:extLst>
          </p:cNvPr>
          <p:cNvSpPr txBox="1">
            <a:spLocks/>
          </p:cNvSpPr>
          <p:nvPr/>
        </p:nvSpPr>
        <p:spPr>
          <a:xfrm>
            <a:off x="4641470" y="4957488"/>
            <a:ext cx="3558886" cy="646331"/>
          </a:xfrm>
          <a:prstGeom prst="rect">
            <a:avLst/>
          </a:prstGeom>
          <a:noFill/>
        </p:spPr>
        <p:txBody>
          <a:bodyPr wrap="square">
            <a:spAutoFit/>
          </a:bodyPr>
          <a:lstStyle/>
          <a:p>
            <a:pPr lvl="0"/>
            <a:r>
              <a:rPr lang="en-US" sz="3600" b="1" dirty="0">
                <a:solidFill>
                  <a:srgbClr val="FFFFFF"/>
                </a:solidFill>
                <a:latin typeface="+mj-lt"/>
              </a:rPr>
              <a:t>Flow Time</a:t>
            </a:r>
          </a:p>
        </p:txBody>
      </p:sp>
      <p:sp>
        <p:nvSpPr>
          <p:cNvPr id="30" name="TextBox 29">
            <a:extLst>
              <a:ext uri="{FF2B5EF4-FFF2-40B4-BE49-F238E27FC236}">
                <a16:creationId xmlns:a16="http://schemas.microsoft.com/office/drawing/2014/main" id="{2C4CD509-D45A-31D1-24A4-72454021282D}"/>
              </a:ext>
            </a:extLst>
          </p:cNvPr>
          <p:cNvSpPr txBox="1">
            <a:spLocks/>
          </p:cNvSpPr>
          <p:nvPr/>
        </p:nvSpPr>
        <p:spPr>
          <a:xfrm>
            <a:off x="4515589" y="7426332"/>
            <a:ext cx="5140037" cy="646331"/>
          </a:xfrm>
          <a:prstGeom prst="rect">
            <a:avLst/>
          </a:prstGeom>
          <a:noFill/>
        </p:spPr>
        <p:txBody>
          <a:bodyPr wrap="square">
            <a:spAutoFit/>
          </a:bodyPr>
          <a:lstStyle/>
          <a:p>
            <a:pPr lvl="0"/>
            <a:r>
              <a:rPr lang="en-US" sz="3600" b="1" dirty="0">
                <a:solidFill>
                  <a:srgbClr val="FFFFFF"/>
                </a:solidFill>
                <a:latin typeface="+mj-lt"/>
              </a:rPr>
              <a:t>Flow Predictability</a:t>
            </a:r>
          </a:p>
        </p:txBody>
      </p:sp>
      <p:sp>
        <p:nvSpPr>
          <p:cNvPr id="31" name="TextBox 30">
            <a:extLst>
              <a:ext uri="{FF2B5EF4-FFF2-40B4-BE49-F238E27FC236}">
                <a16:creationId xmlns:a16="http://schemas.microsoft.com/office/drawing/2014/main" id="{5D411F37-CA9D-5472-2007-211AD03C3429}"/>
              </a:ext>
            </a:extLst>
          </p:cNvPr>
          <p:cNvSpPr txBox="1">
            <a:spLocks/>
          </p:cNvSpPr>
          <p:nvPr/>
        </p:nvSpPr>
        <p:spPr>
          <a:xfrm>
            <a:off x="10860251" y="2203098"/>
            <a:ext cx="3558886" cy="646331"/>
          </a:xfrm>
          <a:prstGeom prst="rect">
            <a:avLst/>
          </a:prstGeom>
          <a:noFill/>
        </p:spPr>
        <p:txBody>
          <a:bodyPr wrap="square">
            <a:spAutoFit/>
          </a:bodyPr>
          <a:lstStyle/>
          <a:p>
            <a:pPr lvl="0"/>
            <a:r>
              <a:rPr lang="en-US" sz="3600" b="1" dirty="0">
                <a:solidFill>
                  <a:srgbClr val="FFFFFF"/>
                </a:solidFill>
                <a:latin typeface="+mj-lt"/>
              </a:rPr>
              <a:t>Product Trends</a:t>
            </a:r>
          </a:p>
        </p:txBody>
      </p:sp>
      <p:sp>
        <p:nvSpPr>
          <p:cNvPr id="32" name="TextBox 31">
            <a:extLst>
              <a:ext uri="{FF2B5EF4-FFF2-40B4-BE49-F238E27FC236}">
                <a16:creationId xmlns:a16="http://schemas.microsoft.com/office/drawing/2014/main" id="{6831C4A5-CF56-622C-A474-8F51D75EEDC0}"/>
              </a:ext>
            </a:extLst>
          </p:cNvPr>
          <p:cNvSpPr txBox="1">
            <a:spLocks/>
          </p:cNvSpPr>
          <p:nvPr/>
        </p:nvSpPr>
        <p:spPr>
          <a:xfrm>
            <a:off x="10238386" y="4888755"/>
            <a:ext cx="5479378" cy="584775"/>
          </a:xfrm>
          <a:prstGeom prst="rect">
            <a:avLst/>
          </a:prstGeom>
          <a:noFill/>
        </p:spPr>
        <p:txBody>
          <a:bodyPr wrap="square">
            <a:spAutoFit/>
          </a:bodyPr>
          <a:lstStyle/>
          <a:p>
            <a:pPr lvl="0"/>
            <a:r>
              <a:rPr lang="en-US" sz="3200" b="1" dirty="0">
                <a:solidFill>
                  <a:srgbClr val="FFFFFF"/>
                </a:solidFill>
                <a:latin typeface="Canva Sans Medium"/>
              </a:rPr>
              <a:t>Cycle Time Efficiency</a:t>
            </a:r>
          </a:p>
        </p:txBody>
      </p:sp>
      <p:sp>
        <p:nvSpPr>
          <p:cNvPr id="33" name="TextBox 32">
            <a:extLst>
              <a:ext uri="{FF2B5EF4-FFF2-40B4-BE49-F238E27FC236}">
                <a16:creationId xmlns:a16="http://schemas.microsoft.com/office/drawing/2014/main" id="{36AA7775-6F2D-9C5E-033F-59229A8C951A}"/>
              </a:ext>
            </a:extLst>
          </p:cNvPr>
          <p:cNvSpPr txBox="1">
            <a:spLocks/>
          </p:cNvSpPr>
          <p:nvPr/>
        </p:nvSpPr>
        <p:spPr>
          <a:xfrm>
            <a:off x="11267223" y="7225171"/>
            <a:ext cx="2744942" cy="1077218"/>
          </a:xfrm>
          <a:prstGeom prst="rect">
            <a:avLst/>
          </a:prstGeom>
          <a:noFill/>
        </p:spPr>
        <p:txBody>
          <a:bodyPr wrap="square">
            <a:spAutoFit/>
          </a:bodyPr>
          <a:lstStyle/>
          <a:p>
            <a:pPr lvl="0"/>
            <a:r>
              <a:rPr lang="en-US" sz="3200" b="1" dirty="0">
                <a:solidFill>
                  <a:srgbClr val="FFFFFF"/>
                </a:solidFill>
              </a:rPr>
              <a:t>Commitments vs. Delivery</a:t>
            </a:r>
          </a:p>
        </p:txBody>
      </p:sp>
      <p:sp>
        <p:nvSpPr>
          <p:cNvPr id="3" name="Rectangle 2"/>
          <p:cNvSpPr/>
          <p:nvPr/>
        </p:nvSpPr>
        <p:spPr>
          <a:xfrm>
            <a:off x="6016350" y="9603787"/>
            <a:ext cx="7465570" cy="400110"/>
          </a:xfrm>
          <a:prstGeom prst="rect">
            <a:avLst/>
          </a:prstGeom>
        </p:spPr>
        <p:txBody>
          <a:bodyPr wrap="none">
            <a:spAutoFit/>
          </a:bodyPr>
          <a:lstStyle/>
          <a:p>
            <a:pPr lvl="0"/>
            <a:r>
              <a:rPr lang="en-US" sz="2000" b="1" dirty="0">
                <a:solidFill>
                  <a:prstClr val="black"/>
                </a:solidFill>
              </a:rPr>
              <a:t>Figure 3 : Siemen’s Agile flow and Delivery Metrics. (Siemens, 2025)</a:t>
            </a:r>
          </a:p>
        </p:txBody>
      </p:sp>
      <p:pic>
        <p:nvPicPr>
          <p:cNvPr id="4" name="Wali 8">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302214" y="3801901"/>
            <a:ext cx="2311174" cy="2311174"/>
          </a:xfrm>
          <a:prstGeom prst="rect">
            <a:avLst/>
          </a:prstGeom>
        </p:spPr>
      </p:pic>
    </p:spTree>
    <p:extLst>
      <p:ext uri="{BB962C8B-B14F-4D97-AF65-F5344CB8AC3E}">
        <p14:creationId xmlns:p14="http://schemas.microsoft.com/office/powerpoint/2010/main" val="8129607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6106"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77013-F728-156B-1AAF-F83A095B48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9C756DF-8FF0-026D-80B4-2DAB10C3BBF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sp>
        <p:nvSpPr>
          <p:cNvPr id="6" name="TextBox 6">
            <a:extLst>
              <a:ext uri="{FF2B5EF4-FFF2-40B4-BE49-F238E27FC236}">
                <a16:creationId xmlns:a16="http://schemas.microsoft.com/office/drawing/2014/main" id="{D20F8506-CD35-8218-61E9-D3C3984A9DF3}"/>
              </a:ext>
            </a:extLst>
          </p:cNvPr>
          <p:cNvSpPr txBox="1"/>
          <p:nvPr/>
        </p:nvSpPr>
        <p:spPr>
          <a:xfrm>
            <a:off x="783803" y="194367"/>
            <a:ext cx="17504197" cy="2462213"/>
          </a:xfrm>
          <a:prstGeom prst="rect">
            <a:avLst/>
          </a:prstGeom>
        </p:spPr>
        <p:txBody>
          <a:bodyPr wrap="square" lIns="0" tIns="0" rIns="0" bIns="0" rtlCol="0" anchor="t">
            <a:spAutoFit/>
          </a:bodyPr>
          <a:lstStyle/>
          <a:p>
            <a:pPr algn="ctr">
              <a:lnSpc>
                <a:spcPts val="9600"/>
              </a:lnSpc>
            </a:pPr>
            <a:r>
              <a:rPr lang="en-US" sz="6600" b="1" dirty="0">
                <a:solidFill>
                  <a:srgbClr val="145C94"/>
                </a:solidFill>
                <a:latin typeface="+mj-lt"/>
              </a:rPr>
              <a:t>TEAM &amp; PRODUCT </a:t>
            </a:r>
          </a:p>
          <a:p>
            <a:pPr algn="ctr">
              <a:lnSpc>
                <a:spcPts val="9600"/>
              </a:lnSpc>
            </a:pPr>
            <a:r>
              <a:rPr lang="en-US" sz="6600" b="1" dirty="0">
                <a:solidFill>
                  <a:srgbClr val="145C94"/>
                </a:solidFill>
                <a:latin typeface="+mj-lt"/>
              </a:rPr>
              <a:t>QUALITY &amp; PROCESS MANAGEMENT</a:t>
            </a:r>
          </a:p>
        </p:txBody>
      </p:sp>
      <p:sp>
        <p:nvSpPr>
          <p:cNvPr id="7" name="Freeform 3">
            <a:extLst>
              <a:ext uri="{FF2B5EF4-FFF2-40B4-BE49-F238E27FC236}">
                <a16:creationId xmlns:a16="http://schemas.microsoft.com/office/drawing/2014/main" id="{1377C0BF-F69C-A50D-F87E-B23CEDB0D238}"/>
              </a:ext>
            </a:extLst>
          </p:cNvPr>
          <p:cNvSpPr/>
          <p:nvPr/>
        </p:nvSpPr>
        <p:spPr>
          <a:xfrm>
            <a:off x="10398520" y="2656580"/>
            <a:ext cx="6860779" cy="3126063"/>
          </a:xfrm>
          <a:custGeom>
            <a:avLst/>
            <a:gdLst/>
            <a:ahLst/>
            <a:cxnLst/>
            <a:rect l="l" t="t" r="r" b="b"/>
            <a:pathLst>
              <a:path w="6940374" h="6132766">
                <a:moveTo>
                  <a:pt x="0" y="0"/>
                </a:moveTo>
                <a:lnTo>
                  <a:pt x="6940374" y="0"/>
                </a:lnTo>
                <a:lnTo>
                  <a:pt x="6940374" y="6132766"/>
                </a:lnTo>
                <a:lnTo>
                  <a:pt x="0" y="613276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8" name="Freeform 4">
            <a:extLst>
              <a:ext uri="{FF2B5EF4-FFF2-40B4-BE49-F238E27FC236}">
                <a16:creationId xmlns:a16="http://schemas.microsoft.com/office/drawing/2014/main" id="{9D1B2C1B-1D7C-D5A6-F456-1B5AE2491DDA}"/>
              </a:ext>
            </a:extLst>
          </p:cNvPr>
          <p:cNvSpPr/>
          <p:nvPr/>
        </p:nvSpPr>
        <p:spPr>
          <a:xfrm>
            <a:off x="10350902" y="6049196"/>
            <a:ext cx="6429792" cy="3740245"/>
          </a:xfrm>
          <a:custGeom>
            <a:avLst/>
            <a:gdLst/>
            <a:ahLst/>
            <a:cxnLst/>
            <a:rect l="l" t="t" r="r" b="b"/>
            <a:pathLst>
              <a:path w="6940374" h="6132766">
                <a:moveTo>
                  <a:pt x="0" y="0"/>
                </a:moveTo>
                <a:lnTo>
                  <a:pt x="6940374" y="0"/>
                </a:lnTo>
                <a:lnTo>
                  <a:pt x="6940374" y="6132766"/>
                </a:lnTo>
                <a:lnTo>
                  <a:pt x="0" y="613276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pPr marR="0" lvl="0" algn="just">
              <a:lnSpc>
                <a:spcPct val="116000"/>
              </a:lnSpc>
            </a:pPr>
            <a:endParaRPr lang="en-US" b="1" spc="-150" dirty="0">
              <a:solidFill>
                <a:srgbClr val="FFFFFF"/>
              </a:solidFill>
            </a:endParaRPr>
          </a:p>
        </p:txBody>
      </p:sp>
      <p:sp>
        <p:nvSpPr>
          <p:cNvPr id="10" name="TextBox 9">
            <a:extLst>
              <a:ext uri="{FF2B5EF4-FFF2-40B4-BE49-F238E27FC236}">
                <a16:creationId xmlns:a16="http://schemas.microsoft.com/office/drawing/2014/main" id="{B469ED0B-0145-3E14-4CC2-CD0BBD32A055}"/>
              </a:ext>
            </a:extLst>
          </p:cNvPr>
          <p:cNvSpPr txBox="1"/>
          <p:nvPr/>
        </p:nvSpPr>
        <p:spPr>
          <a:xfrm>
            <a:off x="10684238" y="2923133"/>
            <a:ext cx="4865029" cy="3177473"/>
          </a:xfrm>
          <a:prstGeom prst="rect">
            <a:avLst/>
          </a:prstGeom>
          <a:noFill/>
        </p:spPr>
        <p:txBody>
          <a:bodyPr wrap="square">
            <a:spAutoFit/>
          </a:bodyPr>
          <a:lstStyle/>
          <a:p>
            <a:pPr marL="285750" lvl="0" indent="-285750" algn="just">
              <a:buFont typeface="Arial" panose="020B0604020202020204" pitchFamily="34" charset="0"/>
              <a:buChar char="•"/>
            </a:pPr>
            <a:r>
              <a:rPr lang="en-US" sz="2800" b="1" dirty="0">
                <a:solidFill>
                  <a:srgbClr val="FFFFFF"/>
                </a:solidFill>
              </a:rPr>
              <a:t>Customer-Centric Metrics </a:t>
            </a:r>
          </a:p>
          <a:p>
            <a:pPr algn="just"/>
            <a:r>
              <a:rPr lang="en-US" sz="2800" b="1" dirty="0">
                <a:solidFill>
                  <a:srgbClr val="FFFFFF"/>
                </a:solidFill>
              </a:rPr>
              <a:t>Customer Satisfaction (CSAT)</a:t>
            </a:r>
          </a:p>
          <a:p>
            <a:pPr algn="just"/>
            <a:r>
              <a:rPr lang="en-US" sz="2800" b="1" dirty="0">
                <a:solidFill>
                  <a:srgbClr val="FFFFFF"/>
                </a:solidFill>
              </a:rPr>
              <a:t>Net Promoter Score (NPS)</a:t>
            </a:r>
          </a:p>
          <a:p>
            <a:pPr algn="just"/>
            <a:r>
              <a:rPr lang="en-US" sz="2800" b="1" dirty="0">
                <a:solidFill>
                  <a:srgbClr val="FFFFFF"/>
                </a:solidFill>
              </a:rPr>
              <a:t>Adoption rates of AI features (e.g., smart wash cycles) </a:t>
            </a:r>
          </a:p>
          <a:p>
            <a:pPr algn="just"/>
            <a:endParaRPr lang="en-US" sz="2800" dirty="0"/>
          </a:p>
          <a:p>
            <a:pPr marL="457200" marR="0" lvl="0" indent="-457200" algn="just">
              <a:lnSpc>
                <a:spcPct val="116000"/>
              </a:lnSpc>
              <a:spcAft>
                <a:spcPts val="800"/>
              </a:spcAft>
              <a:buFont typeface="Arial" panose="020B0604020202020204" pitchFamily="34" charset="0"/>
              <a:buChar char="•"/>
            </a:pPr>
            <a:endParaRPr lang="en-US" sz="2800" b="1" dirty="0">
              <a:solidFill>
                <a:srgbClr val="FFFFFF"/>
              </a:solidFill>
            </a:endParaRPr>
          </a:p>
        </p:txBody>
      </p:sp>
      <p:sp>
        <p:nvSpPr>
          <p:cNvPr id="11" name="TextBox 10">
            <a:extLst>
              <a:ext uri="{FF2B5EF4-FFF2-40B4-BE49-F238E27FC236}">
                <a16:creationId xmlns:a16="http://schemas.microsoft.com/office/drawing/2014/main" id="{74A3613F-B811-29E6-E7C9-E65417C0C3EF}"/>
              </a:ext>
            </a:extLst>
          </p:cNvPr>
          <p:cNvSpPr txBox="1"/>
          <p:nvPr/>
        </p:nvSpPr>
        <p:spPr>
          <a:xfrm>
            <a:off x="10684237" y="6542265"/>
            <a:ext cx="5763120" cy="2561279"/>
          </a:xfrm>
          <a:prstGeom prst="rect">
            <a:avLst/>
          </a:prstGeom>
          <a:noFill/>
        </p:spPr>
        <p:txBody>
          <a:bodyPr wrap="square">
            <a:spAutoFit/>
          </a:bodyPr>
          <a:lstStyle/>
          <a:p>
            <a:pPr marL="457200" marR="0" lvl="0" indent="-457200" algn="just">
              <a:lnSpc>
                <a:spcPct val="116000"/>
              </a:lnSpc>
              <a:buFont typeface="Arial" panose="020B0604020202020204" pitchFamily="34" charset="0"/>
              <a:buChar char="•"/>
            </a:pPr>
            <a:r>
              <a:rPr lang="en-US" sz="2800" b="1" dirty="0">
                <a:solidFill>
                  <a:srgbClr val="FFFFFF"/>
                </a:solidFill>
              </a:rPr>
              <a:t>Retrospectives Scrum Meetings (continuous improvement)</a:t>
            </a:r>
          </a:p>
          <a:p>
            <a:pPr marR="0" lvl="0" algn="just">
              <a:lnSpc>
                <a:spcPct val="116000"/>
              </a:lnSpc>
            </a:pPr>
            <a:endParaRPr lang="en-US" sz="2800" b="1" dirty="0">
              <a:solidFill>
                <a:srgbClr val="FFFFFF"/>
              </a:solidFill>
            </a:endParaRPr>
          </a:p>
          <a:p>
            <a:pPr marL="457200" marR="0" lvl="0" indent="-457200" algn="just">
              <a:lnSpc>
                <a:spcPct val="116000"/>
              </a:lnSpc>
              <a:spcAft>
                <a:spcPts val="800"/>
              </a:spcAft>
              <a:buFont typeface="Arial" panose="020B0604020202020204" pitchFamily="34" charset="0"/>
              <a:buChar char="•"/>
            </a:pPr>
            <a:r>
              <a:rPr lang="en-US" sz="2800" b="1" dirty="0">
                <a:solidFill>
                  <a:srgbClr val="FFFFFF"/>
                </a:solidFill>
              </a:rPr>
              <a:t>Employee Engagement / </a:t>
            </a:r>
            <a:r>
              <a:rPr lang="en-US" sz="2800" b="1" dirty="0" err="1">
                <a:solidFill>
                  <a:srgbClr val="FFFFFF"/>
                </a:solidFill>
              </a:rPr>
              <a:t>eNPS</a:t>
            </a:r>
            <a:r>
              <a:rPr lang="en-US" sz="2800" b="1" dirty="0">
                <a:solidFill>
                  <a:srgbClr val="FFFFFF"/>
                </a:solidFill>
              </a:rPr>
              <a:t> surveys </a:t>
            </a:r>
          </a:p>
        </p:txBody>
      </p:sp>
      <p:sp>
        <p:nvSpPr>
          <p:cNvPr id="9" name="Freeform 3">
            <a:extLst>
              <a:ext uri="{FF2B5EF4-FFF2-40B4-BE49-F238E27FC236}">
                <a16:creationId xmlns:a16="http://schemas.microsoft.com/office/drawing/2014/main" id="{1377C0BF-F69C-A50D-F87E-B23CEDB0D238}"/>
              </a:ext>
            </a:extLst>
          </p:cNvPr>
          <p:cNvSpPr/>
          <p:nvPr/>
        </p:nvSpPr>
        <p:spPr>
          <a:xfrm>
            <a:off x="523834" y="3534810"/>
            <a:ext cx="7792852" cy="6153475"/>
          </a:xfrm>
          <a:custGeom>
            <a:avLst/>
            <a:gdLst/>
            <a:ahLst/>
            <a:cxnLst/>
            <a:rect l="l" t="t" r="r" b="b"/>
            <a:pathLst>
              <a:path w="6940374" h="6132766">
                <a:moveTo>
                  <a:pt x="0" y="0"/>
                </a:moveTo>
                <a:lnTo>
                  <a:pt x="6940374" y="0"/>
                </a:lnTo>
                <a:lnTo>
                  <a:pt x="6940374" y="6132766"/>
                </a:lnTo>
                <a:lnTo>
                  <a:pt x="0" y="613276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3" name="TextBox 2"/>
          <p:cNvSpPr txBox="1"/>
          <p:nvPr/>
        </p:nvSpPr>
        <p:spPr>
          <a:xfrm>
            <a:off x="842902" y="4249351"/>
            <a:ext cx="7154716" cy="3884077"/>
          </a:xfrm>
          <a:prstGeom prst="rect">
            <a:avLst/>
          </a:prstGeom>
          <a:noFill/>
        </p:spPr>
        <p:txBody>
          <a:bodyPr wrap="square" rtlCol="0" anchor="ctr">
            <a:spAutoFit/>
          </a:bodyPr>
          <a:lstStyle/>
          <a:p>
            <a:pPr marR="0" lvl="0" algn="just">
              <a:lnSpc>
                <a:spcPct val="116000"/>
              </a:lnSpc>
            </a:pPr>
            <a:endParaRPr lang="en-US" sz="2800" b="1" spc="-150" dirty="0">
              <a:solidFill>
                <a:srgbClr val="FFFFFF"/>
              </a:solidFill>
            </a:endParaRPr>
          </a:p>
          <a:p>
            <a:pPr marL="457200" marR="0" lvl="0" indent="-457200" algn="just">
              <a:lnSpc>
                <a:spcPct val="116000"/>
              </a:lnSpc>
              <a:buFont typeface="Arial" panose="020B0604020202020204" pitchFamily="34" charset="0"/>
              <a:buChar char="•"/>
            </a:pPr>
            <a:r>
              <a:rPr lang="en-US" sz="2800" b="1" dirty="0">
                <a:solidFill>
                  <a:srgbClr val="FFFFFF"/>
                </a:solidFill>
              </a:rPr>
              <a:t>Agile Maturity Assessments (</a:t>
            </a:r>
            <a:r>
              <a:rPr lang="en-US" sz="2800" b="1" dirty="0" err="1">
                <a:solidFill>
                  <a:srgbClr val="FFFFFF"/>
                </a:solidFill>
              </a:rPr>
              <a:t>SAFe</a:t>
            </a:r>
            <a:r>
              <a:rPr lang="en-US" sz="2800" b="1" dirty="0">
                <a:solidFill>
                  <a:srgbClr val="FFFFFF"/>
                </a:solidFill>
              </a:rPr>
              <a:t> Business Agility)</a:t>
            </a:r>
          </a:p>
          <a:p>
            <a:pPr marL="457200" marR="0" lvl="0" indent="-457200" algn="just">
              <a:lnSpc>
                <a:spcPct val="116000"/>
              </a:lnSpc>
              <a:buFont typeface="Arial" panose="020B0604020202020204" pitchFamily="34" charset="0"/>
              <a:buChar char="•"/>
            </a:pPr>
            <a:endParaRPr lang="en-US" sz="2800" b="1" spc="-150" dirty="0">
              <a:solidFill>
                <a:srgbClr val="FFFFFF"/>
              </a:solidFill>
            </a:endParaRPr>
          </a:p>
          <a:p>
            <a:pPr marL="342900" lvl="0" indent="-342900">
              <a:buFont typeface="Arial" panose="020B0604020202020204" pitchFamily="34" charset="0"/>
              <a:buChar char="•"/>
            </a:pPr>
            <a:r>
              <a:rPr lang="en-US" sz="2800" b="1" dirty="0">
                <a:solidFill>
                  <a:srgbClr val="FFFFFF"/>
                </a:solidFill>
              </a:rPr>
              <a:t>Product Quality (Defect Density &amp; Escaped Defects)</a:t>
            </a:r>
          </a:p>
          <a:p>
            <a:pPr marL="457200" indent="-457200">
              <a:buFont typeface="Arial" panose="020B0604020202020204" pitchFamily="34" charset="0"/>
              <a:buChar char="•"/>
            </a:pPr>
            <a:r>
              <a:rPr lang="en-US" sz="2800" b="1" dirty="0">
                <a:solidFill>
                  <a:srgbClr val="FFFFFF"/>
                </a:solidFill>
              </a:rPr>
              <a:t>Test Automation Coverage</a:t>
            </a:r>
          </a:p>
          <a:p>
            <a:pPr marL="457200" marR="0" lvl="0" indent="-457200" algn="just">
              <a:lnSpc>
                <a:spcPct val="116000"/>
              </a:lnSpc>
              <a:spcAft>
                <a:spcPts val="800"/>
              </a:spcAft>
              <a:buFont typeface="Arial" panose="020B0604020202020204" pitchFamily="34" charset="0"/>
              <a:buChar char="•"/>
            </a:pPr>
            <a:endParaRPr lang="en-US" sz="2800" b="1" spc="-150" dirty="0">
              <a:solidFill>
                <a:srgbClr val="FFFFFF"/>
              </a:solidFill>
            </a:endParaRPr>
          </a:p>
        </p:txBody>
      </p:sp>
      <p:pic>
        <p:nvPicPr>
          <p:cNvPr id="4" name="Wali 9">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842902" y="527910"/>
            <a:ext cx="2323037" cy="2323037"/>
          </a:xfrm>
          <a:prstGeom prst="rect">
            <a:avLst/>
          </a:prstGeom>
        </p:spPr>
      </p:pic>
    </p:spTree>
    <p:extLst>
      <p:ext uri="{BB962C8B-B14F-4D97-AF65-F5344CB8AC3E}">
        <p14:creationId xmlns:p14="http://schemas.microsoft.com/office/powerpoint/2010/main" val="76594437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91"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0BF6F-9DC5-A815-C126-38A801A08BF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3AA4488-56D3-10AD-11F6-F6424EDC8DA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84EE881A-93D9-65AE-9FB2-E63A36E8EF2F}"/>
              </a:ext>
            </a:extLst>
          </p:cNvPr>
          <p:cNvGrpSpPr/>
          <p:nvPr/>
        </p:nvGrpSpPr>
        <p:grpSpPr>
          <a:xfrm>
            <a:off x="1028700" y="860747"/>
            <a:ext cx="16230600" cy="8544509"/>
            <a:chOff x="0" y="0"/>
            <a:chExt cx="4274726" cy="2167467"/>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grpSpPr>
        <p:sp>
          <p:nvSpPr>
            <p:cNvPr id="4" name="Freeform 4">
              <a:extLst>
                <a:ext uri="{FF2B5EF4-FFF2-40B4-BE49-F238E27FC236}">
                  <a16:creationId xmlns:a16="http://schemas.microsoft.com/office/drawing/2014/main" id="{3FF65749-FA50-E771-A0B3-6C9338574E37}"/>
                </a:ext>
              </a:extLst>
            </p:cNvPr>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grpFill/>
          </p:spPr>
          <p:txBody>
            <a:bodyPr/>
            <a:lstStyle/>
            <a:p>
              <a:endParaRPr lang="en-US"/>
            </a:p>
          </p:txBody>
        </p:sp>
        <p:sp>
          <p:nvSpPr>
            <p:cNvPr id="5" name="TextBox 5">
              <a:extLst>
                <a:ext uri="{FF2B5EF4-FFF2-40B4-BE49-F238E27FC236}">
                  <a16:creationId xmlns:a16="http://schemas.microsoft.com/office/drawing/2014/main" id="{377BB099-657A-EE4A-5F42-583000EC6604}"/>
                </a:ext>
              </a:extLst>
            </p:cNvPr>
            <p:cNvSpPr txBox="1"/>
            <p:nvPr/>
          </p:nvSpPr>
          <p:spPr>
            <a:xfrm>
              <a:off x="0" y="-38100"/>
              <a:ext cx="4274726" cy="2205567"/>
            </a:xfrm>
            <a:prstGeom prst="rect">
              <a:avLst/>
            </a:prstGeom>
            <a:grpFill/>
          </p:spPr>
          <p:txBody>
            <a:bodyPr lIns="50800" tIns="50800" rIns="50800" bIns="50800" rtlCol="0" anchor="ctr"/>
            <a:lstStyle/>
            <a:p>
              <a:pPr algn="ctr">
                <a:lnSpc>
                  <a:spcPts val="2659"/>
                </a:lnSpc>
                <a:spcBef>
                  <a:spcPct val="0"/>
                </a:spcBef>
              </a:pPr>
              <a:endParaRPr/>
            </a:p>
          </p:txBody>
        </p:sp>
      </p:grpSp>
      <p:sp>
        <p:nvSpPr>
          <p:cNvPr id="7" name="TextBox 7">
            <a:extLst>
              <a:ext uri="{FF2B5EF4-FFF2-40B4-BE49-F238E27FC236}">
                <a16:creationId xmlns:a16="http://schemas.microsoft.com/office/drawing/2014/main" id="{0751C30B-44C7-CE95-5579-76719A4F2AB9}"/>
              </a:ext>
            </a:extLst>
          </p:cNvPr>
          <p:cNvSpPr txBox="1"/>
          <p:nvPr/>
        </p:nvSpPr>
        <p:spPr>
          <a:xfrm>
            <a:off x="1524000" y="1181100"/>
            <a:ext cx="15240000" cy="1146789"/>
          </a:xfrm>
          <a:prstGeom prst="rect">
            <a:avLst/>
          </a:prstGeom>
        </p:spPr>
        <p:txBody>
          <a:bodyPr wrap="square" lIns="0" tIns="0" rIns="0" bIns="0" rtlCol="0" anchor="t">
            <a:spAutoFit/>
          </a:bodyPr>
          <a:lstStyle/>
          <a:p>
            <a:pPr lvl="0" algn="ctr">
              <a:lnSpc>
                <a:spcPts val="9600"/>
              </a:lnSpc>
            </a:pPr>
            <a:r>
              <a:rPr lang="en-US" sz="6600" b="1" dirty="0">
                <a:solidFill>
                  <a:srgbClr val="FFFFFF"/>
                </a:solidFill>
                <a:latin typeface="+mj-lt"/>
              </a:rPr>
              <a:t>STRATEGIC ALIGNMENT &amp; GOVERNANCE     </a:t>
            </a:r>
            <a:endParaRPr lang="en-US" sz="6600" b="1" dirty="0">
              <a:solidFill>
                <a:srgbClr val="FFFFFF"/>
              </a:solidFill>
              <a:latin typeface="+mj-lt"/>
              <a:sym typeface="Rustic Printed"/>
            </a:endParaRPr>
          </a:p>
        </p:txBody>
      </p:sp>
      <p:graphicFrame>
        <p:nvGraphicFramePr>
          <p:cNvPr id="6" name="Diagram 5">
            <a:extLst>
              <a:ext uri="{FF2B5EF4-FFF2-40B4-BE49-F238E27FC236}">
                <a16:creationId xmlns:a16="http://schemas.microsoft.com/office/drawing/2014/main" id="{4878AA95-28C3-AC61-EEF6-1535C520E60F}"/>
              </a:ext>
            </a:extLst>
          </p:cNvPr>
          <p:cNvGraphicFramePr/>
          <p:nvPr>
            <p:extLst>
              <p:ext uri="{D42A27DB-BD31-4B8C-83A1-F6EECF244321}">
                <p14:modId xmlns:p14="http://schemas.microsoft.com/office/powerpoint/2010/main" val="3960059002"/>
              </p:ext>
            </p:extLst>
          </p:nvPr>
        </p:nvGraphicFramePr>
        <p:xfrm>
          <a:off x="4629150" y="2247900"/>
          <a:ext cx="9029700" cy="70104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2" name="Rectangle 11"/>
          <p:cNvSpPr/>
          <p:nvPr/>
        </p:nvSpPr>
        <p:spPr>
          <a:xfrm>
            <a:off x="4853711" y="9572595"/>
            <a:ext cx="9454961" cy="400110"/>
          </a:xfrm>
          <a:prstGeom prst="rect">
            <a:avLst/>
          </a:prstGeom>
        </p:spPr>
        <p:txBody>
          <a:bodyPr wrap="none">
            <a:spAutoFit/>
          </a:bodyPr>
          <a:lstStyle/>
          <a:p>
            <a:pPr lvl="0"/>
            <a:r>
              <a:rPr lang="en-US" sz="2000" b="1" dirty="0">
                <a:solidFill>
                  <a:prstClr val="black"/>
                </a:solidFill>
              </a:rPr>
              <a:t>Figure 4 : Siemen’s Strategic Alignment and Governance Venn diagram. (Siemens, 2025)</a:t>
            </a:r>
          </a:p>
        </p:txBody>
      </p:sp>
      <p:pic>
        <p:nvPicPr>
          <p:cNvPr id="13" name="Wali 1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3295651" y="3394689"/>
            <a:ext cx="2109788" cy="2109788"/>
          </a:xfrm>
          <a:prstGeom prst="rect">
            <a:avLst/>
          </a:prstGeom>
        </p:spPr>
      </p:pic>
    </p:spTree>
    <p:extLst>
      <p:ext uri="{BB962C8B-B14F-4D97-AF65-F5344CB8AC3E}">
        <p14:creationId xmlns:p14="http://schemas.microsoft.com/office/powerpoint/2010/main" val="255466170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8122" fill="hold"/>
                                        <p:tgtEl>
                                          <p:spTgt spid="13"/>
                                        </p:tgtEl>
                                      </p:cBhvr>
                                    </p:cmd>
                                  </p:childTnLst>
                                </p:cTn>
                              </p:par>
                            </p:childTnLst>
                          </p:cTn>
                        </p:par>
                      </p:childTnLst>
                    </p:cTn>
                  </p:par>
                </p:childTnLst>
              </p:cTn>
              <p:nextCondLst>
                <p:cond evt="onClick" delay="0">
                  <p:tgtEl>
                    <p:spTgt spid="13"/>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0027F-4490-5C9B-09FB-E9F4F210B23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D27818-9D6B-B80F-387A-D5E351FE1CE8}"/>
              </a:ext>
            </a:extLst>
          </p:cNvPr>
          <p:cNvSpPr/>
          <p:nvPr/>
        </p:nvSpPr>
        <p:spPr>
          <a:xfrm>
            <a:off x="0" y="228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DC61AD86-D653-2101-40E8-62FE2B6D138B}"/>
              </a:ext>
            </a:extLst>
          </p:cNvPr>
          <p:cNvGrpSpPr/>
          <p:nvPr/>
        </p:nvGrpSpPr>
        <p:grpSpPr>
          <a:xfrm>
            <a:off x="1028700" y="2286"/>
            <a:ext cx="16230600" cy="9311997"/>
            <a:chOff x="0" y="0"/>
            <a:chExt cx="4274726" cy="2167467"/>
          </a:xfrm>
        </p:grpSpPr>
        <p:sp>
          <p:nvSpPr>
            <p:cNvPr id="4" name="Freeform 4">
              <a:extLst>
                <a:ext uri="{FF2B5EF4-FFF2-40B4-BE49-F238E27FC236}">
                  <a16:creationId xmlns:a16="http://schemas.microsoft.com/office/drawing/2014/main" id="{319B108A-4B2C-DBDD-A278-2CC2579E97B0}"/>
                </a:ext>
              </a:extLst>
            </p:cNvPr>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52BFAA"/>
            </a:solidFill>
          </p:spPr>
          <p:txBody>
            <a:bodyPr/>
            <a:lstStyle/>
            <a:p>
              <a:endParaRPr lang="en-US"/>
            </a:p>
          </p:txBody>
        </p:sp>
        <p:sp>
          <p:nvSpPr>
            <p:cNvPr id="5" name="TextBox 5">
              <a:extLst>
                <a:ext uri="{FF2B5EF4-FFF2-40B4-BE49-F238E27FC236}">
                  <a16:creationId xmlns:a16="http://schemas.microsoft.com/office/drawing/2014/main" id="{62521E6D-FD65-17E5-2E99-C33F78108DF8}"/>
                </a:ext>
              </a:extLst>
            </p:cNvPr>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a:extLst>
              <a:ext uri="{FF2B5EF4-FFF2-40B4-BE49-F238E27FC236}">
                <a16:creationId xmlns:a16="http://schemas.microsoft.com/office/drawing/2014/main" id="{BDFD19D6-DF0C-2D4E-389F-A362F5E3BD3B}"/>
              </a:ext>
            </a:extLst>
          </p:cNvPr>
          <p:cNvSpPr txBox="1"/>
          <p:nvPr/>
        </p:nvSpPr>
        <p:spPr>
          <a:xfrm>
            <a:off x="1028700" y="413147"/>
            <a:ext cx="16230600" cy="1126462"/>
          </a:xfrm>
          <a:prstGeom prst="rect">
            <a:avLst/>
          </a:prstGeom>
        </p:spPr>
        <p:txBody>
          <a:bodyPr wrap="square" lIns="0" tIns="0" rIns="0" bIns="0" rtlCol="0" anchor="t">
            <a:spAutoFit/>
          </a:bodyPr>
          <a:lstStyle/>
          <a:p>
            <a:pPr lvl="0" algn="ctr">
              <a:lnSpc>
                <a:spcPts val="9600"/>
              </a:lnSpc>
            </a:pPr>
            <a:r>
              <a:rPr lang="en-US" sz="6000" b="1" dirty="0">
                <a:solidFill>
                  <a:srgbClr val="FFFFFF"/>
                </a:solidFill>
                <a:latin typeface="+mj-lt"/>
              </a:rPr>
              <a:t>IDENTIFYING AND MAPPING STAKEHOLDERS      </a:t>
            </a:r>
            <a:endParaRPr lang="en-US" sz="6000" b="1" dirty="0">
              <a:solidFill>
                <a:srgbClr val="FFFFFF"/>
              </a:solidFill>
              <a:latin typeface="+mj-lt"/>
              <a:sym typeface="Rustic Printed"/>
            </a:endParaRPr>
          </a:p>
        </p:txBody>
      </p:sp>
      <p:graphicFrame>
        <p:nvGraphicFramePr>
          <p:cNvPr id="6" name="Table 5">
            <a:extLst>
              <a:ext uri="{FF2B5EF4-FFF2-40B4-BE49-F238E27FC236}">
                <a16:creationId xmlns:a16="http://schemas.microsoft.com/office/drawing/2014/main" id="{164050B4-3CA3-B6A6-F515-E6958D1E02D1}"/>
              </a:ext>
            </a:extLst>
          </p:cNvPr>
          <p:cNvGraphicFramePr>
            <a:graphicFrameLocks noGrp="1"/>
          </p:cNvGraphicFramePr>
          <p:nvPr>
            <p:extLst>
              <p:ext uri="{D42A27DB-BD31-4B8C-83A1-F6EECF244321}">
                <p14:modId xmlns:p14="http://schemas.microsoft.com/office/powerpoint/2010/main" val="2396972630"/>
              </p:ext>
            </p:extLst>
          </p:nvPr>
        </p:nvGraphicFramePr>
        <p:xfrm>
          <a:off x="1028700" y="1754387"/>
          <a:ext cx="16230600" cy="7232989"/>
        </p:xfrm>
        <a:graphic>
          <a:graphicData uri="http://schemas.openxmlformats.org/drawingml/2006/table">
            <a:tbl>
              <a:tblPr firstRow="1" firstCol="1">
                <a:tableStyleId>{5C22544A-7EE6-4342-B048-85BDC9FD1C3A}</a:tableStyleId>
              </a:tblPr>
              <a:tblGrid>
                <a:gridCol w="5410200">
                  <a:extLst>
                    <a:ext uri="{9D8B030D-6E8A-4147-A177-3AD203B41FA5}">
                      <a16:colId xmlns:a16="http://schemas.microsoft.com/office/drawing/2014/main" val="954883206"/>
                    </a:ext>
                  </a:extLst>
                </a:gridCol>
                <a:gridCol w="5410200">
                  <a:extLst>
                    <a:ext uri="{9D8B030D-6E8A-4147-A177-3AD203B41FA5}">
                      <a16:colId xmlns:a16="http://schemas.microsoft.com/office/drawing/2014/main" val="3574819989"/>
                    </a:ext>
                  </a:extLst>
                </a:gridCol>
                <a:gridCol w="5410200">
                  <a:extLst>
                    <a:ext uri="{9D8B030D-6E8A-4147-A177-3AD203B41FA5}">
                      <a16:colId xmlns:a16="http://schemas.microsoft.com/office/drawing/2014/main" val="2964719286"/>
                    </a:ext>
                  </a:extLst>
                </a:gridCol>
              </a:tblGrid>
              <a:tr h="697790">
                <a:tc>
                  <a:txBody>
                    <a:bodyPr/>
                    <a:lstStyle/>
                    <a:p>
                      <a:pPr marL="0" marR="0" algn="ctr">
                        <a:lnSpc>
                          <a:spcPct val="116000"/>
                        </a:lnSpc>
                        <a:spcBef>
                          <a:spcPts val="800"/>
                        </a:spcBef>
                        <a:spcAft>
                          <a:spcPts val="400"/>
                        </a:spcAft>
                        <a:buNone/>
                      </a:pPr>
                      <a:r>
                        <a:rPr lang="en-US" sz="2800" dirty="0">
                          <a:solidFill>
                            <a:schemeClr val="bg1"/>
                          </a:solidFill>
                          <a:effectLst/>
                        </a:rPr>
                        <a:t> </a:t>
                      </a: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solidFill>
                      <a:srgbClr val="145C94"/>
                    </a:solidFill>
                  </a:tcPr>
                </a:tc>
                <a:tc>
                  <a:txBody>
                    <a:bodyPr/>
                    <a:lstStyle/>
                    <a:p>
                      <a:pPr marL="0" marR="0" algn="ctr">
                        <a:lnSpc>
                          <a:spcPct val="116000"/>
                        </a:lnSpc>
                        <a:spcAft>
                          <a:spcPts val="800"/>
                        </a:spcAft>
                        <a:buNone/>
                      </a:pPr>
                      <a:r>
                        <a:rPr lang="en-US" sz="2800" dirty="0">
                          <a:solidFill>
                            <a:schemeClr val="bg1"/>
                          </a:solidFill>
                          <a:effectLst/>
                        </a:rPr>
                        <a:t>High Interest</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tc>
                  <a:txBody>
                    <a:bodyPr/>
                    <a:lstStyle/>
                    <a:p>
                      <a:pPr marL="0" marR="0" algn="ctr">
                        <a:lnSpc>
                          <a:spcPct val="116000"/>
                        </a:lnSpc>
                        <a:spcAft>
                          <a:spcPts val="800"/>
                        </a:spcAft>
                        <a:buNone/>
                      </a:pPr>
                      <a:r>
                        <a:rPr lang="en-US" sz="2800">
                          <a:solidFill>
                            <a:schemeClr val="bg1"/>
                          </a:solidFill>
                          <a:effectLst/>
                        </a:rPr>
                        <a:t>Low Interest</a:t>
                      </a:r>
                      <a:endParaRPr lang="en-US" sz="280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extLst>
                  <a:ext uri="{0D108BD9-81ED-4DB2-BD59-A6C34878D82A}">
                    <a16:rowId xmlns:a16="http://schemas.microsoft.com/office/drawing/2014/main" val="3698077830"/>
                  </a:ext>
                </a:extLst>
              </a:tr>
              <a:tr h="1017363">
                <a:tc rowSpan="3">
                  <a:txBody>
                    <a:bodyPr/>
                    <a:lstStyle/>
                    <a:p>
                      <a:pPr marL="0" marR="0" algn="ctr">
                        <a:lnSpc>
                          <a:spcPct val="116000"/>
                        </a:lnSpc>
                        <a:spcAft>
                          <a:spcPts val="800"/>
                        </a:spcAft>
                        <a:buNone/>
                      </a:pPr>
                      <a:r>
                        <a:rPr lang="en-US" sz="2800" dirty="0">
                          <a:solidFill>
                            <a:schemeClr val="bg1"/>
                          </a:solidFill>
                          <a:effectLst/>
                        </a:rPr>
                        <a:t>High Influence</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p>
                      <a:pPr marL="0" marR="0" algn="ctr">
                        <a:lnSpc>
                          <a:spcPct val="116000"/>
                        </a:lnSpc>
                        <a:spcBef>
                          <a:spcPts val="800"/>
                        </a:spcBef>
                        <a:spcAft>
                          <a:spcPts val="400"/>
                        </a:spcAft>
                        <a:buNone/>
                      </a:pPr>
                      <a:r>
                        <a:rPr lang="en-US" sz="2800" dirty="0">
                          <a:solidFill>
                            <a:schemeClr val="bg1"/>
                          </a:solidFill>
                          <a:effectLst/>
                        </a:rPr>
                        <a:t> </a:t>
                      </a: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p>
                      <a:pPr marL="0" marR="0" algn="ctr">
                        <a:lnSpc>
                          <a:spcPct val="116000"/>
                        </a:lnSpc>
                        <a:spcBef>
                          <a:spcPts val="800"/>
                        </a:spcBef>
                        <a:spcAft>
                          <a:spcPts val="400"/>
                        </a:spcAft>
                        <a:buNone/>
                      </a:pPr>
                      <a:r>
                        <a:rPr lang="en-US" sz="2800" dirty="0">
                          <a:solidFill>
                            <a:schemeClr val="bg1"/>
                          </a:solidFill>
                          <a:effectLst/>
                        </a:rPr>
                        <a:t> </a:t>
                      </a: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nchor="ctr">
                    <a:solidFill>
                      <a:srgbClr val="145C94"/>
                    </a:solidFill>
                  </a:tcPr>
                </a:tc>
                <a:tc>
                  <a:txBody>
                    <a:bodyPr/>
                    <a:lstStyle/>
                    <a:p>
                      <a:pPr marL="0" marR="0" algn="ctr">
                        <a:lnSpc>
                          <a:spcPct val="116000"/>
                        </a:lnSpc>
                        <a:spcAft>
                          <a:spcPts val="800"/>
                        </a:spcAft>
                        <a:buNone/>
                      </a:pPr>
                      <a:r>
                        <a:rPr lang="en-US" sz="2800" dirty="0">
                          <a:solidFill>
                            <a:schemeClr val="bg1"/>
                          </a:solidFill>
                          <a:effectLst/>
                        </a:rPr>
                        <a:t>Manage Closely</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tc>
                  <a:txBody>
                    <a:bodyPr/>
                    <a:lstStyle/>
                    <a:p>
                      <a:pPr marL="0" marR="0" algn="ctr">
                        <a:lnSpc>
                          <a:spcPct val="116000"/>
                        </a:lnSpc>
                        <a:spcAft>
                          <a:spcPts val="800"/>
                        </a:spcAft>
                        <a:buNone/>
                      </a:pPr>
                      <a:r>
                        <a:rPr lang="en-US" sz="2800">
                          <a:solidFill>
                            <a:schemeClr val="bg1"/>
                          </a:solidFill>
                          <a:effectLst/>
                        </a:rPr>
                        <a:t>Keep Satisfied</a:t>
                      </a:r>
                      <a:endParaRPr lang="en-US" sz="280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extLst>
                  <a:ext uri="{0D108BD9-81ED-4DB2-BD59-A6C34878D82A}">
                    <a16:rowId xmlns:a16="http://schemas.microsoft.com/office/drawing/2014/main" val="925676241"/>
                  </a:ext>
                </a:extLst>
              </a:tr>
              <a:tr h="928189">
                <a:tc vMerge="1">
                  <a:txBody>
                    <a:bodyPr/>
                    <a:lstStyle/>
                    <a:p>
                      <a:pPr marL="0" marR="0" algn="ctr">
                        <a:lnSpc>
                          <a:spcPct val="116000"/>
                        </a:lnSpc>
                        <a:spcBef>
                          <a:spcPts val="800"/>
                        </a:spcBef>
                        <a:spcAft>
                          <a:spcPts val="400"/>
                        </a:spcAft>
                        <a:buNone/>
                      </a:pP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solidFill>
                      <a:srgbClr val="145C94"/>
                    </a:solidFill>
                  </a:tcPr>
                </a:tc>
                <a:tc>
                  <a:txBody>
                    <a:bodyPr/>
                    <a:lstStyle/>
                    <a:p>
                      <a:pPr marL="0" marR="0" algn="ctr">
                        <a:lnSpc>
                          <a:spcPct val="116000"/>
                        </a:lnSpc>
                        <a:spcAft>
                          <a:spcPts val="800"/>
                        </a:spcAft>
                        <a:buNone/>
                      </a:pPr>
                      <a:r>
                        <a:rPr lang="en-US" sz="2800">
                          <a:solidFill>
                            <a:schemeClr val="bg1"/>
                          </a:solidFill>
                          <a:effectLst/>
                        </a:rPr>
                        <a:t>Executives/Business Owners</a:t>
                      </a:r>
                      <a:endParaRPr lang="en-US" sz="280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tc>
                  <a:txBody>
                    <a:bodyPr/>
                    <a:lstStyle/>
                    <a:p>
                      <a:pPr marL="0" marR="0" algn="ctr">
                        <a:lnSpc>
                          <a:spcPct val="116000"/>
                        </a:lnSpc>
                        <a:spcAft>
                          <a:spcPts val="800"/>
                        </a:spcAft>
                        <a:buNone/>
                      </a:pPr>
                      <a:r>
                        <a:rPr lang="en-US" sz="2800" dirty="0">
                          <a:solidFill>
                            <a:schemeClr val="bg1"/>
                          </a:solidFill>
                          <a:effectLst/>
                        </a:rPr>
                        <a:t>Regulatory Bodies</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extLst>
                  <a:ext uri="{0D108BD9-81ED-4DB2-BD59-A6C34878D82A}">
                    <a16:rowId xmlns:a16="http://schemas.microsoft.com/office/drawing/2014/main" val="3363249637"/>
                  </a:ext>
                </a:extLst>
              </a:tr>
              <a:tr h="928189">
                <a:tc vMerge="1">
                  <a:txBody>
                    <a:bodyPr/>
                    <a:lstStyle/>
                    <a:p>
                      <a:pPr marL="0" marR="0" algn="ctr">
                        <a:lnSpc>
                          <a:spcPct val="116000"/>
                        </a:lnSpc>
                        <a:spcBef>
                          <a:spcPts val="800"/>
                        </a:spcBef>
                        <a:spcAft>
                          <a:spcPts val="400"/>
                        </a:spcAft>
                        <a:buNone/>
                      </a:pP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solidFill>
                      <a:srgbClr val="145C94"/>
                    </a:solidFill>
                  </a:tcPr>
                </a:tc>
                <a:tc>
                  <a:txBody>
                    <a:bodyPr/>
                    <a:lstStyle/>
                    <a:p>
                      <a:pPr marL="0" marR="0" algn="ctr">
                        <a:lnSpc>
                          <a:spcPct val="116000"/>
                        </a:lnSpc>
                        <a:spcAft>
                          <a:spcPts val="800"/>
                        </a:spcAft>
                        <a:buNone/>
                      </a:pPr>
                      <a:r>
                        <a:rPr lang="en-US" sz="2800">
                          <a:solidFill>
                            <a:schemeClr val="bg1"/>
                          </a:solidFill>
                          <a:effectLst/>
                        </a:rPr>
                        <a:t>Product Owners &amp; Key Clients</a:t>
                      </a:r>
                      <a:endParaRPr lang="en-US" sz="280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tc>
                  <a:txBody>
                    <a:bodyPr/>
                    <a:lstStyle/>
                    <a:p>
                      <a:pPr marL="0" marR="0" algn="ctr">
                        <a:lnSpc>
                          <a:spcPct val="116000"/>
                        </a:lnSpc>
                        <a:spcBef>
                          <a:spcPts val="800"/>
                        </a:spcBef>
                        <a:spcAft>
                          <a:spcPts val="400"/>
                        </a:spcAft>
                        <a:buNone/>
                      </a:pPr>
                      <a:r>
                        <a:rPr lang="en-US" sz="2800" dirty="0">
                          <a:solidFill>
                            <a:schemeClr val="bg1"/>
                          </a:solidFill>
                          <a:effectLst/>
                        </a:rPr>
                        <a:t> </a:t>
                      </a: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nchor="ctr">
                    <a:solidFill>
                      <a:srgbClr val="145C94"/>
                    </a:solidFill>
                  </a:tcPr>
                </a:tc>
                <a:extLst>
                  <a:ext uri="{0D108BD9-81ED-4DB2-BD59-A6C34878D82A}">
                    <a16:rowId xmlns:a16="http://schemas.microsoft.com/office/drawing/2014/main" val="4129227129"/>
                  </a:ext>
                </a:extLst>
              </a:tr>
              <a:tr h="990591">
                <a:tc rowSpan="3">
                  <a:txBody>
                    <a:bodyPr/>
                    <a:lstStyle/>
                    <a:p>
                      <a:pPr marL="0" marR="0" algn="ctr">
                        <a:lnSpc>
                          <a:spcPct val="116000"/>
                        </a:lnSpc>
                        <a:spcAft>
                          <a:spcPts val="800"/>
                        </a:spcAft>
                        <a:buNone/>
                      </a:pPr>
                      <a:r>
                        <a:rPr lang="en-US" sz="2800" dirty="0">
                          <a:solidFill>
                            <a:schemeClr val="bg1"/>
                          </a:solidFill>
                          <a:effectLst/>
                        </a:rPr>
                        <a:t>Low Influence</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p>
                      <a:pPr marL="0" marR="0" algn="ctr">
                        <a:lnSpc>
                          <a:spcPct val="116000"/>
                        </a:lnSpc>
                        <a:spcBef>
                          <a:spcPts val="800"/>
                        </a:spcBef>
                        <a:spcAft>
                          <a:spcPts val="400"/>
                        </a:spcAft>
                        <a:buNone/>
                      </a:pPr>
                      <a:r>
                        <a:rPr lang="en-US" sz="2800" dirty="0">
                          <a:solidFill>
                            <a:schemeClr val="bg1"/>
                          </a:solidFill>
                          <a:effectLst/>
                        </a:rPr>
                        <a:t> </a:t>
                      </a: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p>
                      <a:pPr marL="0" marR="0" algn="ctr">
                        <a:lnSpc>
                          <a:spcPct val="116000"/>
                        </a:lnSpc>
                        <a:spcBef>
                          <a:spcPts val="800"/>
                        </a:spcBef>
                        <a:spcAft>
                          <a:spcPts val="400"/>
                        </a:spcAft>
                        <a:buNone/>
                      </a:pPr>
                      <a:r>
                        <a:rPr lang="en-US" sz="2800" dirty="0">
                          <a:solidFill>
                            <a:schemeClr val="bg1"/>
                          </a:solidFill>
                          <a:effectLst/>
                        </a:rPr>
                        <a:t> </a:t>
                      </a: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nchor="ctr">
                    <a:solidFill>
                      <a:srgbClr val="145C94"/>
                    </a:solidFill>
                  </a:tcPr>
                </a:tc>
                <a:tc>
                  <a:txBody>
                    <a:bodyPr/>
                    <a:lstStyle/>
                    <a:p>
                      <a:pPr marL="0" marR="0" algn="ctr">
                        <a:lnSpc>
                          <a:spcPct val="116000"/>
                        </a:lnSpc>
                        <a:spcAft>
                          <a:spcPts val="800"/>
                        </a:spcAft>
                        <a:buNone/>
                      </a:pPr>
                      <a:r>
                        <a:rPr lang="en-US" sz="2800">
                          <a:solidFill>
                            <a:schemeClr val="bg1"/>
                          </a:solidFill>
                          <a:effectLst/>
                        </a:rPr>
                        <a:t>Keep Informed</a:t>
                      </a:r>
                      <a:endParaRPr lang="en-US" sz="280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tc>
                  <a:txBody>
                    <a:bodyPr/>
                    <a:lstStyle/>
                    <a:p>
                      <a:pPr marL="0" marR="0" algn="ctr">
                        <a:lnSpc>
                          <a:spcPct val="116000"/>
                        </a:lnSpc>
                        <a:spcAft>
                          <a:spcPts val="800"/>
                        </a:spcAft>
                        <a:buNone/>
                      </a:pPr>
                      <a:r>
                        <a:rPr lang="en-US" sz="2800" dirty="0">
                          <a:solidFill>
                            <a:schemeClr val="bg1"/>
                          </a:solidFill>
                          <a:effectLst/>
                        </a:rPr>
                        <a:t>Monitor</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extLst>
                  <a:ext uri="{0D108BD9-81ED-4DB2-BD59-A6C34878D82A}">
                    <a16:rowId xmlns:a16="http://schemas.microsoft.com/office/drawing/2014/main" val="236402173"/>
                  </a:ext>
                </a:extLst>
              </a:tr>
              <a:tr h="1178000">
                <a:tc vMerge="1">
                  <a:txBody>
                    <a:bodyPr/>
                    <a:lstStyle/>
                    <a:p>
                      <a:pPr marL="0" marR="0" algn="ctr">
                        <a:lnSpc>
                          <a:spcPct val="116000"/>
                        </a:lnSpc>
                        <a:spcBef>
                          <a:spcPts val="800"/>
                        </a:spcBef>
                        <a:spcAft>
                          <a:spcPts val="400"/>
                        </a:spcAft>
                        <a:buNone/>
                      </a:pP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solidFill>
                      <a:srgbClr val="145C94"/>
                    </a:solidFill>
                  </a:tcPr>
                </a:tc>
                <a:tc>
                  <a:txBody>
                    <a:bodyPr/>
                    <a:lstStyle/>
                    <a:p>
                      <a:pPr marL="0" marR="0" algn="ctr">
                        <a:lnSpc>
                          <a:spcPct val="116000"/>
                        </a:lnSpc>
                        <a:spcAft>
                          <a:spcPts val="800"/>
                        </a:spcAft>
                        <a:buNone/>
                      </a:pPr>
                      <a:r>
                        <a:rPr lang="en-US" sz="2800">
                          <a:solidFill>
                            <a:schemeClr val="bg1"/>
                          </a:solidFill>
                          <a:effectLst/>
                        </a:rPr>
                        <a:t>Agile Teams (AI, IoT, UX)</a:t>
                      </a:r>
                      <a:endParaRPr lang="en-US" sz="280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tc>
                  <a:txBody>
                    <a:bodyPr/>
                    <a:lstStyle/>
                    <a:p>
                      <a:pPr marL="0" marR="0" algn="ctr">
                        <a:lnSpc>
                          <a:spcPct val="116000"/>
                        </a:lnSpc>
                        <a:spcAft>
                          <a:spcPts val="800"/>
                        </a:spcAft>
                        <a:buNone/>
                      </a:pPr>
                      <a:r>
                        <a:rPr lang="en-US" sz="2800" dirty="0">
                          <a:solidFill>
                            <a:schemeClr val="bg1"/>
                          </a:solidFill>
                          <a:effectLst/>
                        </a:rPr>
                        <a:t>Broader User Groups / Community</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extLst>
                  <a:ext uri="{0D108BD9-81ED-4DB2-BD59-A6C34878D82A}">
                    <a16:rowId xmlns:a16="http://schemas.microsoft.com/office/drawing/2014/main" val="978234470"/>
                  </a:ext>
                </a:extLst>
              </a:tr>
              <a:tr h="1492867">
                <a:tc vMerge="1">
                  <a:txBody>
                    <a:bodyPr/>
                    <a:lstStyle/>
                    <a:p>
                      <a:pPr marL="0" marR="0" algn="ctr">
                        <a:lnSpc>
                          <a:spcPct val="116000"/>
                        </a:lnSpc>
                        <a:spcBef>
                          <a:spcPts val="800"/>
                        </a:spcBef>
                        <a:spcAft>
                          <a:spcPts val="400"/>
                        </a:spcAft>
                        <a:buNone/>
                      </a:pPr>
                      <a:endParaRPr lang="en-US" sz="2800" b="1" dirty="0">
                        <a:solidFill>
                          <a:schemeClr val="bg1"/>
                        </a:solidFill>
                        <a:effectLst/>
                        <a:latin typeface="Aptos" panose="020B0004020202020204" pitchFamily="34" charset="0"/>
                        <a:ea typeface="MS Gothic" panose="020B0609070205080204" pitchFamily="49" charset="-128"/>
                        <a:cs typeface="Times New Roman" panose="02020603050405020304" pitchFamily="18" charset="0"/>
                      </a:endParaRPr>
                    </a:p>
                  </a:txBody>
                  <a:tcPr marL="68580" marR="68580" marT="0" marB="0">
                    <a:solidFill>
                      <a:srgbClr val="145C94"/>
                    </a:solidFill>
                  </a:tcPr>
                </a:tc>
                <a:tc>
                  <a:txBody>
                    <a:bodyPr/>
                    <a:lstStyle/>
                    <a:p>
                      <a:pPr marL="0" marR="0" algn="ctr">
                        <a:lnSpc>
                          <a:spcPct val="116000"/>
                        </a:lnSpc>
                        <a:spcAft>
                          <a:spcPts val="800"/>
                        </a:spcAft>
                        <a:buNone/>
                      </a:pPr>
                      <a:r>
                        <a:rPr lang="en-US" sz="2800" dirty="0">
                          <a:solidFill>
                            <a:schemeClr val="bg1"/>
                          </a:solidFill>
                          <a:effectLst/>
                        </a:rPr>
                        <a:t>Customers &amp; End-users</a:t>
                      </a:r>
                    </a:p>
                    <a:p>
                      <a:pPr marL="0" marR="0" algn="ctr">
                        <a:lnSpc>
                          <a:spcPct val="116000"/>
                        </a:lnSpc>
                        <a:spcAft>
                          <a:spcPts val="800"/>
                        </a:spcAft>
                        <a:buNone/>
                      </a:pPr>
                      <a:r>
                        <a:rPr lang="en-US" sz="2800" dirty="0">
                          <a:solidFill>
                            <a:schemeClr val="bg1"/>
                          </a:solidFill>
                          <a:effectLst/>
                        </a:rPr>
                        <a:t> </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tc>
                  <a:txBody>
                    <a:bodyPr/>
                    <a:lstStyle/>
                    <a:p>
                      <a:pPr marL="0" marR="0" algn="ctr">
                        <a:lnSpc>
                          <a:spcPct val="116000"/>
                        </a:lnSpc>
                        <a:spcAft>
                          <a:spcPts val="800"/>
                        </a:spcAft>
                        <a:buNone/>
                      </a:pPr>
                      <a:r>
                        <a:rPr lang="en-US" sz="2800" dirty="0">
                          <a:solidFill>
                            <a:schemeClr val="bg1"/>
                          </a:solidFill>
                          <a:effectLst/>
                        </a:rPr>
                        <a:t> </a:t>
                      </a:r>
                      <a:endParaRPr lang="en-US" sz="2800" dirty="0">
                        <a:solidFill>
                          <a:schemeClr val="bg1"/>
                        </a:solidFill>
                        <a:effectLst/>
                        <a:latin typeface="Aptos" panose="020B0004020202020204" pitchFamily="34" charset="0"/>
                        <a:ea typeface="MS Mincho" panose="02020609040205080304" pitchFamily="49" charset="-128"/>
                        <a:cs typeface="Arial" panose="020B0604020202020204" pitchFamily="34" charset="0"/>
                      </a:endParaRPr>
                    </a:p>
                  </a:txBody>
                  <a:tcPr marL="68580" marR="68580" marT="0" marB="0" anchor="ctr">
                    <a:solidFill>
                      <a:srgbClr val="145C94"/>
                    </a:solidFill>
                  </a:tcPr>
                </a:tc>
                <a:extLst>
                  <a:ext uri="{0D108BD9-81ED-4DB2-BD59-A6C34878D82A}">
                    <a16:rowId xmlns:a16="http://schemas.microsoft.com/office/drawing/2014/main" val="1501703603"/>
                  </a:ext>
                </a:extLst>
              </a:tr>
            </a:tbl>
          </a:graphicData>
        </a:graphic>
      </p:graphicFrame>
      <p:sp>
        <p:nvSpPr>
          <p:cNvPr id="8" name="Rectangle 1">
            <a:extLst>
              <a:ext uri="{FF2B5EF4-FFF2-40B4-BE49-F238E27FC236}">
                <a16:creationId xmlns:a16="http://schemas.microsoft.com/office/drawing/2014/main" id="{FC9A0A63-963E-8A4F-B5FC-274BBB5DE9EA}"/>
              </a:ext>
            </a:extLst>
          </p:cNvPr>
          <p:cNvSpPr>
            <a:spLocks noChangeArrowheads="1"/>
          </p:cNvSpPr>
          <p:nvPr/>
        </p:nvSpPr>
        <p:spPr bwMode="auto">
          <a:xfrm>
            <a:off x="1600200" y="2633663"/>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156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600" b="0" i="0" u="none" strike="noStrike" cap="none" normalizeH="0" baseline="0">
              <a:ln>
                <a:noFill/>
              </a:ln>
              <a:solidFill>
                <a:srgbClr val="0F4761"/>
              </a:solidFill>
              <a:effectLst/>
              <a:latin typeface="Aptos Display" panose="020B0004020202020204" pitchFamily="34" charset="0"/>
              <a:ea typeface="MS Gothic" panose="020B0609070205080204" pitchFamily="49" charset="-128"/>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ja-JP" sz="1800" b="0" i="0" u="none" strike="noStrike" cap="none" normalizeH="0" baseline="0">
              <a:ln>
                <a:noFill/>
              </a:ln>
              <a:solidFill>
                <a:schemeClr val="tx1"/>
              </a:solidFill>
              <a:effectLst/>
              <a:latin typeface="Arial" panose="020B0604020202020204" pitchFamily="34" charset="0"/>
            </a:endParaRPr>
          </a:p>
        </p:txBody>
      </p:sp>
      <p:sp>
        <p:nvSpPr>
          <p:cNvPr id="10" name="Rectangle 9"/>
          <p:cNvSpPr/>
          <p:nvPr/>
        </p:nvSpPr>
        <p:spPr>
          <a:xfrm>
            <a:off x="5326514" y="9477970"/>
            <a:ext cx="8003538" cy="461665"/>
          </a:xfrm>
          <a:prstGeom prst="rect">
            <a:avLst/>
          </a:prstGeom>
        </p:spPr>
        <p:txBody>
          <a:bodyPr wrap="none">
            <a:spAutoFit/>
          </a:bodyPr>
          <a:lstStyle/>
          <a:p>
            <a:pPr lvl="0"/>
            <a:r>
              <a:rPr lang="en-US" sz="2400" b="1" dirty="0">
                <a:solidFill>
                  <a:prstClr val="black"/>
                </a:solidFill>
              </a:rPr>
              <a:t>Table 3  : Siemen’s Agile PM Tools. (Personal Collection, 2025)</a:t>
            </a:r>
          </a:p>
        </p:txBody>
      </p:sp>
      <p:pic>
        <p:nvPicPr>
          <p:cNvPr id="11" name="Harshit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967135" y="3970139"/>
            <a:ext cx="2183655" cy="2183655"/>
          </a:xfrm>
          <a:prstGeom prst="rect">
            <a:avLst/>
          </a:prstGeom>
        </p:spPr>
      </p:pic>
    </p:spTree>
    <p:extLst>
      <p:ext uri="{BB962C8B-B14F-4D97-AF65-F5344CB8AC3E}">
        <p14:creationId xmlns:p14="http://schemas.microsoft.com/office/powerpoint/2010/main" val="355972392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6336" fill="hold"/>
                                        <p:tgtEl>
                                          <p:spTgt spid="11"/>
                                        </p:tgtEl>
                                      </p:cBhvr>
                                    </p:cmd>
                                  </p:childTnLst>
                                </p:cTn>
                              </p:par>
                            </p:childTnLst>
                          </p:cTn>
                        </p:par>
                      </p:childTnLst>
                    </p:cTn>
                  </p:par>
                </p:childTnLst>
              </p:cTn>
              <p:nextCondLst>
                <p:cond evt="onClick" delay="0">
                  <p:tgtEl>
                    <p:spTgt spid="11"/>
                  </p:tgtEl>
                </p:cond>
              </p:nextCondLst>
            </p:seq>
            <p:audio>
              <p:cMediaNode vol="80000">
                <p:cTn id="7" fill="hold" display="0">
                  <p:stCondLst>
                    <p:cond delay="indefinite"/>
                  </p:stCondLst>
                  <p:endCondLst>
                    <p:cond evt="onStopAudio" delay="0">
                      <p:tgtEl>
                        <p:sldTgt/>
                      </p:tgtEl>
                    </p:cond>
                  </p:endCondLst>
                </p:cTn>
                <p:tgtEl>
                  <p:spTgt spid="11"/>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4459-6D9E-8380-EF15-478F5104FC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1C5E5A5-70E8-BF93-489A-E3BB2879599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endParaRPr lang="en-US"/>
          </a:p>
        </p:txBody>
      </p:sp>
      <p:sp>
        <p:nvSpPr>
          <p:cNvPr id="6" name="TextBox 6">
            <a:extLst>
              <a:ext uri="{FF2B5EF4-FFF2-40B4-BE49-F238E27FC236}">
                <a16:creationId xmlns:a16="http://schemas.microsoft.com/office/drawing/2014/main" id="{2731B789-3669-902E-95F2-4C7FE76EEBF6}"/>
              </a:ext>
            </a:extLst>
          </p:cNvPr>
          <p:cNvSpPr txBox="1"/>
          <p:nvPr/>
        </p:nvSpPr>
        <p:spPr>
          <a:xfrm>
            <a:off x="215771" y="140213"/>
            <a:ext cx="16392719" cy="2462213"/>
          </a:xfrm>
          <a:prstGeom prst="rect">
            <a:avLst/>
          </a:prstGeom>
        </p:spPr>
        <p:txBody>
          <a:bodyPr wrap="square" lIns="0" tIns="0" rIns="0" bIns="0" rtlCol="0" anchor="t">
            <a:spAutoFit/>
          </a:bodyPr>
          <a:lstStyle/>
          <a:p>
            <a:pPr algn="ctr">
              <a:lnSpc>
                <a:spcPts val="9600"/>
              </a:lnSpc>
            </a:pPr>
            <a:r>
              <a:rPr lang="en-US" sz="6000" b="1" dirty="0">
                <a:solidFill>
                  <a:srgbClr val="FFFFFF"/>
                </a:solidFill>
                <a:latin typeface="+mj-lt"/>
              </a:rPr>
              <a:t> ENGAGEMENT, COMMUNICATION, AND COLLABORATION MECHANISMS </a:t>
            </a:r>
          </a:p>
        </p:txBody>
      </p:sp>
      <p:sp>
        <p:nvSpPr>
          <p:cNvPr id="10" name="TextBox 9">
            <a:extLst>
              <a:ext uri="{FF2B5EF4-FFF2-40B4-BE49-F238E27FC236}">
                <a16:creationId xmlns:a16="http://schemas.microsoft.com/office/drawing/2014/main" id="{230C8D2A-8AF9-E3D7-6C6A-D9D1114F3145}"/>
              </a:ext>
            </a:extLst>
          </p:cNvPr>
          <p:cNvSpPr txBox="1"/>
          <p:nvPr/>
        </p:nvSpPr>
        <p:spPr>
          <a:xfrm>
            <a:off x="1119673" y="2602426"/>
            <a:ext cx="10991461" cy="7244932"/>
          </a:xfrm>
          <a:prstGeom prst="rect">
            <a:avLst/>
          </a:prstGeom>
          <a:noFill/>
        </p:spPr>
        <p:txBody>
          <a:bodyPr wrap="square">
            <a:spAutoFit/>
          </a:bodyPr>
          <a:lstStyle/>
          <a:p>
            <a:pPr marL="342900" indent="-342900" algn="just">
              <a:lnSpc>
                <a:spcPct val="116000"/>
              </a:lnSpc>
              <a:spcBef>
                <a:spcPts val="1200"/>
              </a:spcBef>
              <a:spcAft>
                <a:spcPts val="1200"/>
              </a:spcAft>
              <a:buFont typeface="+mj-lt"/>
              <a:buAutoNum type="arabicPeriod"/>
            </a:pPr>
            <a:r>
              <a:rPr lang="en-US" sz="2800" b="1" dirty="0">
                <a:solidFill>
                  <a:srgbClr val="FFFFFF"/>
                </a:solidFill>
              </a:rPr>
              <a:t>Engagement Channels: </a:t>
            </a:r>
          </a:p>
          <a:p>
            <a:pPr marL="34290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Regular stakeholder workshops (vision alignment, PI/sprint reviews)</a:t>
            </a:r>
          </a:p>
          <a:p>
            <a:pPr marL="34290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System demos (frequent, to showcase progress &amp; gather feedback)</a:t>
            </a:r>
          </a:p>
          <a:p>
            <a:pPr marL="34290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Shared digital dashboards &amp; project portals for real-time transparency (Value Glide, 2025; Working Well, 2023)</a:t>
            </a:r>
          </a:p>
          <a:p>
            <a:pPr algn="just">
              <a:lnSpc>
                <a:spcPct val="116000"/>
              </a:lnSpc>
              <a:spcBef>
                <a:spcPts val="1200"/>
              </a:spcBef>
              <a:spcAft>
                <a:spcPts val="1200"/>
              </a:spcAft>
            </a:pPr>
            <a:r>
              <a:rPr lang="en-US" sz="2800" b="1" dirty="0">
                <a:solidFill>
                  <a:srgbClr val="FFFFFF"/>
                </a:solidFill>
              </a:rPr>
              <a:t>2. Collaboration Tools:</a:t>
            </a:r>
          </a:p>
          <a:p>
            <a:pPr marL="34290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Slack, Microsoft Teams: real-time updates, Q&amp;A</a:t>
            </a:r>
          </a:p>
          <a:p>
            <a:pPr marL="34290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Miro: collaborative design/feedback sessions</a:t>
            </a:r>
          </a:p>
          <a:p>
            <a:pPr marL="34290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Jira &amp; Confluence: agile tracking and documentation (Agile Hive, 2023; Siemens AG, 2016)</a:t>
            </a:r>
          </a:p>
        </p:txBody>
      </p:sp>
      <p:pic>
        <p:nvPicPr>
          <p:cNvPr id="7" name="Picture 6"/>
          <p:cNvPicPr>
            <a:picLocks noChangeAspect="1"/>
          </p:cNvPicPr>
          <p:nvPr/>
        </p:nvPicPr>
        <p:blipFill>
          <a:blip r:embed="rId5"/>
          <a:stretch>
            <a:fillRect/>
          </a:stretch>
        </p:blipFill>
        <p:spPr>
          <a:xfrm>
            <a:off x="13008627" y="2569546"/>
            <a:ext cx="4381880" cy="2423370"/>
          </a:xfrm>
          <a:prstGeom prst="rect">
            <a:avLst/>
          </a:prstGeom>
        </p:spPr>
      </p:pic>
      <p:pic>
        <p:nvPicPr>
          <p:cNvPr id="8" name="Picture 7"/>
          <p:cNvPicPr>
            <a:picLocks noChangeAspect="1"/>
          </p:cNvPicPr>
          <p:nvPr/>
        </p:nvPicPr>
        <p:blipFill>
          <a:blip r:embed="rId6"/>
          <a:stretch>
            <a:fillRect/>
          </a:stretch>
        </p:blipFill>
        <p:spPr>
          <a:xfrm>
            <a:off x="12946226" y="5481956"/>
            <a:ext cx="4929472" cy="4016608"/>
          </a:xfrm>
          <a:prstGeom prst="rect">
            <a:avLst/>
          </a:prstGeom>
        </p:spPr>
      </p:pic>
      <p:sp>
        <p:nvSpPr>
          <p:cNvPr id="9" name="Rectangle 8"/>
          <p:cNvSpPr/>
          <p:nvPr/>
        </p:nvSpPr>
        <p:spPr>
          <a:xfrm>
            <a:off x="12450250" y="9618272"/>
            <a:ext cx="5222776" cy="369332"/>
          </a:xfrm>
          <a:prstGeom prst="rect">
            <a:avLst/>
          </a:prstGeom>
        </p:spPr>
        <p:txBody>
          <a:bodyPr wrap="none">
            <a:spAutoFit/>
          </a:bodyPr>
          <a:lstStyle/>
          <a:p>
            <a:pPr lvl="0"/>
            <a:r>
              <a:rPr lang="en-US" b="1" dirty="0">
                <a:solidFill>
                  <a:prstClr val="black"/>
                </a:solidFill>
              </a:rPr>
              <a:t>Image 3: Agile PM Tools. (Personal Collection, 2025)</a:t>
            </a:r>
          </a:p>
        </p:txBody>
      </p:sp>
      <p:pic>
        <p:nvPicPr>
          <p:cNvPr id="13" name="Harshita 2">
            <a:hlinkClick r:id="" action="ppaction://media"/>
          </p:cNvPr>
          <p:cNvPicPr>
            <a:picLocks noChangeAspect="1"/>
          </p:cNvPicPr>
          <p:nvPr>
            <a:audioFile r:link="rId1"/>
            <p:extLst>
              <p:ext uri="{DAA4B4D4-6D71-4841-9C94-3DE7FCFB9230}">
                <p14:media xmlns:p14="http://schemas.microsoft.com/office/powerpoint/2010/main" r:embed="rId2">
                  <p14:trim end="8983"/>
                </p14:media>
              </p:ext>
            </p:extLst>
          </p:nvPr>
        </p:nvPicPr>
        <p:blipFill>
          <a:blip r:embed="rId7"/>
          <a:stretch>
            <a:fillRect/>
          </a:stretch>
        </p:blipFill>
        <p:spPr>
          <a:xfrm>
            <a:off x="15283251" y="301252"/>
            <a:ext cx="2107256" cy="2107256"/>
          </a:xfrm>
          <a:prstGeom prst="rect">
            <a:avLst/>
          </a:prstGeom>
        </p:spPr>
      </p:pic>
    </p:spTree>
    <p:extLst>
      <p:ext uri="{BB962C8B-B14F-4D97-AF65-F5344CB8AC3E}">
        <p14:creationId xmlns:p14="http://schemas.microsoft.com/office/powerpoint/2010/main" val="19091690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3305" fill="hold"/>
                                        <p:tgtEl>
                                          <p:spTgt spid="13"/>
                                        </p:tgtEl>
                                      </p:cBhvr>
                                    </p:cmd>
                                  </p:childTnLst>
                                </p:cTn>
                              </p:par>
                            </p:childTnLst>
                          </p:cTn>
                        </p:par>
                      </p:childTnLst>
                    </p:cTn>
                  </p:par>
                </p:childTnLst>
              </p:cTn>
              <p:nextCondLst>
                <p:cond evt="onClick" delay="0">
                  <p:tgtEl>
                    <p:spTgt spid="13"/>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0BBDF-6EB3-2E85-7950-E0A28F7469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E22CC6-1377-6755-7E81-D3AA9646DB8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5555" b="-5555"/>
            </a:stretch>
          </a:blipFill>
        </p:spPr>
        <p:txBody>
          <a:bodyPr/>
          <a:lstStyle/>
          <a:p>
            <a:endParaRPr lang="en-US"/>
          </a:p>
        </p:txBody>
      </p:sp>
      <p:grpSp>
        <p:nvGrpSpPr>
          <p:cNvPr id="3" name="Group 3">
            <a:extLst>
              <a:ext uri="{FF2B5EF4-FFF2-40B4-BE49-F238E27FC236}">
                <a16:creationId xmlns:a16="http://schemas.microsoft.com/office/drawing/2014/main" id="{E6906D4E-82D9-592C-6D49-BF42096773B2}"/>
              </a:ext>
            </a:extLst>
          </p:cNvPr>
          <p:cNvGrpSpPr>
            <a:grpSpLocks noGrp="1" noUngrp="1" noRot="1" noMove="1" noResize="1"/>
          </p:cNvGrpSpPr>
          <p:nvPr/>
        </p:nvGrpSpPr>
        <p:grpSpPr>
          <a:xfrm>
            <a:off x="1028700" y="1028700"/>
            <a:ext cx="16230600" cy="8229600"/>
            <a:chOff x="0" y="0"/>
            <a:chExt cx="4274726" cy="2167467"/>
          </a:xfrm>
        </p:grpSpPr>
        <p:sp>
          <p:nvSpPr>
            <p:cNvPr id="4" name="Freeform 4">
              <a:extLst>
                <a:ext uri="{FF2B5EF4-FFF2-40B4-BE49-F238E27FC236}">
                  <a16:creationId xmlns:a16="http://schemas.microsoft.com/office/drawing/2014/main" id="{64CDD239-7049-A7D2-6135-D66689F55D2F}"/>
                </a:ext>
              </a:extLst>
            </p:cNvPr>
            <p:cNvSpPr>
              <a:spLocks noGrp="1" noRot="1" noMove="1" noResize="1" noEditPoints="1" noAdjustHandles="1" noChangeArrowheads="1" noChangeShapeType="1"/>
            </p:cNvSpPr>
            <p:nvPr/>
          </p:nvSpPr>
          <p:spPr>
            <a:xfrm>
              <a:off x="0" y="0"/>
              <a:ext cx="4274726" cy="2167467"/>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155C94"/>
            </a:solidFill>
          </p:spPr>
          <p:txBody>
            <a:bodyPr/>
            <a:lstStyle/>
            <a:p>
              <a:endParaRPr lang="en-US"/>
            </a:p>
          </p:txBody>
        </p:sp>
        <p:sp>
          <p:nvSpPr>
            <p:cNvPr id="5" name="TextBox 5">
              <a:extLst>
                <a:ext uri="{FF2B5EF4-FFF2-40B4-BE49-F238E27FC236}">
                  <a16:creationId xmlns:a16="http://schemas.microsoft.com/office/drawing/2014/main" id="{A7607F01-D706-9362-35B6-53DB2F49459A}"/>
                </a:ext>
              </a:extLst>
            </p:cNvPr>
            <p:cNvSpPr txBox="1">
              <a:spLocks noGrp="1" noRot="1" noMove="1" noResize="1" noEditPoints="1" noAdjustHandles="1" noChangeArrowheads="1" noChangeShapeType="1"/>
            </p:cNvSpPr>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668839FE-5934-7669-31E0-11E75C65D6D0}"/>
              </a:ext>
            </a:extLst>
          </p:cNvPr>
          <p:cNvSpPr txBox="1"/>
          <p:nvPr/>
        </p:nvSpPr>
        <p:spPr>
          <a:xfrm>
            <a:off x="1219200" y="1285873"/>
            <a:ext cx="16040099" cy="3693319"/>
          </a:xfrm>
          <a:prstGeom prst="rect">
            <a:avLst/>
          </a:prstGeom>
        </p:spPr>
        <p:txBody>
          <a:bodyPr wrap="square" lIns="0" tIns="0" rIns="0" bIns="0" rtlCol="0" anchor="t">
            <a:spAutoFit/>
          </a:bodyPr>
          <a:lstStyle/>
          <a:p>
            <a:pPr algn="ctr">
              <a:lnSpc>
                <a:spcPts val="9600"/>
              </a:lnSpc>
            </a:pPr>
            <a:r>
              <a:rPr lang="en-US" sz="8000" dirty="0">
                <a:solidFill>
                  <a:srgbClr val="FFFFFF"/>
                </a:solidFill>
                <a:latin typeface="Rustic Printed"/>
              </a:rPr>
              <a:t>PROJECT MONITORING TOOLS</a:t>
            </a:r>
          </a:p>
          <a:p>
            <a:pPr algn="ctr">
              <a:lnSpc>
                <a:spcPts val="9600"/>
              </a:lnSpc>
            </a:pPr>
            <a:r>
              <a:rPr lang="en-US" sz="8000" dirty="0">
                <a:solidFill>
                  <a:srgbClr val="FFFFFF"/>
                </a:solidFill>
                <a:latin typeface="Rustic Printed"/>
              </a:rPr>
              <a:t>  </a:t>
            </a:r>
          </a:p>
          <a:p>
            <a:pPr marL="0" lvl="0" indent="0" algn="ctr">
              <a:lnSpc>
                <a:spcPts val="9600"/>
              </a:lnSpc>
            </a:pPr>
            <a:endParaRPr lang="en-US" sz="8000" spc="-600" dirty="0">
              <a:solidFill>
                <a:srgbClr val="FFFFFF"/>
              </a:solidFill>
              <a:latin typeface="Rustic Printed"/>
              <a:ea typeface="Rustic Printed"/>
              <a:cs typeface="Rustic Printed"/>
              <a:sym typeface="Rustic Printed"/>
            </a:endParaRPr>
          </a:p>
        </p:txBody>
      </p:sp>
      <p:pic>
        <p:nvPicPr>
          <p:cNvPr id="7" name="Picture 6">
            <a:extLst>
              <a:ext uri="{FF2B5EF4-FFF2-40B4-BE49-F238E27FC236}">
                <a16:creationId xmlns:a16="http://schemas.microsoft.com/office/drawing/2014/main" id="{F8DE5C63-6401-F1D4-3EC8-98BDA3514CDE}"/>
              </a:ext>
            </a:extLst>
          </p:cNvPr>
          <p:cNvPicPr>
            <a:picLocks noChangeAspect="1"/>
          </p:cNvPicPr>
          <p:nvPr/>
        </p:nvPicPr>
        <p:blipFill>
          <a:blip r:embed="rId6"/>
          <a:stretch>
            <a:fillRect/>
          </a:stretch>
        </p:blipFill>
        <p:spPr>
          <a:xfrm>
            <a:off x="2207336" y="4016173"/>
            <a:ext cx="3102572" cy="3102572"/>
          </a:xfrm>
          <a:prstGeom prst="rect">
            <a:avLst/>
          </a:prstGeom>
        </p:spPr>
      </p:pic>
      <p:pic>
        <p:nvPicPr>
          <p:cNvPr id="9" name="Picture 8">
            <a:extLst>
              <a:ext uri="{FF2B5EF4-FFF2-40B4-BE49-F238E27FC236}">
                <a16:creationId xmlns:a16="http://schemas.microsoft.com/office/drawing/2014/main" id="{B4E257A4-C1DE-8D20-3876-DA63C9DA0C37}"/>
              </a:ext>
            </a:extLst>
          </p:cNvPr>
          <p:cNvPicPr>
            <a:picLocks noChangeAspect="1"/>
          </p:cNvPicPr>
          <p:nvPr/>
        </p:nvPicPr>
        <p:blipFill>
          <a:blip r:embed="rId7"/>
          <a:stretch>
            <a:fillRect/>
          </a:stretch>
        </p:blipFill>
        <p:spPr>
          <a:xfrm>
            <a:off x="5485168" y="4016173"/>
            <a:ext cx="3102572" cy="3102572"/>
          </a:xfrm>
          <a:prstGeom prst="rect">
            <a:avLst/>
          </a:prstGeom>
        </p:spPr>
      </p:pic>
      <p:pic>
        <p:nvPicPr>
          <p:cNvPr id="11" name="Picture 10">
            <a:extLst>
              <a:ext uri="{FF2B5EF4-FFF2-40B4-BE49-F238E27FC236}">
                <a16:creationId xmlns:a16="http://schemas.microsoft.com/office/drawing/2014/main" id="{4D26363E-2BB4-E775-10A0-8A7A2C1DEACE}"/>
              </a:ext>
            </a:extLst>
          </p:cNvPr>
          <p:cNvPicPr>
            <a:picLocks noChangeAspect="1"/>
          </p:cNvPicPr>
          <p:nvPr/>
        </p:nvPicPr>
        <p:blipFill>
          <a:blip r:embed="rId8"/>
          <a:stretch>
            <a:fillRect/>
          </a:stretch>
        </p:blipFill>
        <p:spPr>
          <a:xfrm>
            <a:off x="8763000" y="4016173"/>
            <a:ext cx="3878215" cy="3102572"/>
          </a:xfrm>
          <a:prstGeom prst="rect">
            <a:avLst/>
          </a:prstGeom>
        </p:spPr>
      </p:pic>
      <p:pic>
        <p:nvPicPr>
          <p:cNvPr id="12" name="Picture 11">
            <a:extLst>
              <a:ext uri="{FF2B5EF4-FFF2-40B4-BE49-F238E27FC236}">
                <a16:creationId xmlns:a16="http://schemas.microsoft.com/office/drawing/2014/main" id="{F961F332-9BD7-ECDF-8104-84545A472C86}"/>
              </a:ext>
            </a:extLst>
          </p:cNvPr>
          <p:cNvPicPr>
            <a:picLocks noChangeAspect="1"/>
          </p:cNvPicPr>
          <p:nvPr/>
        </p:nvPicPr>
        <p:blipFill>
          <a:blip r:embed="rId9"/>
          <a:stretch>
            <a:fillRect/>
          </a:stretch>
        </p:blipFill>
        <p:spPr>
          <a:xfrm>
            <a:off x="12816474" y="4016172"/>
            <a:ext cx="3102571" cy="3102571"/>
          </a:xfrm>
          <a:prstGeom prst="rect">
            <a:avLst/>
          </a:prstGeom>
        </p:spPr>
      </p:pic>
      <p:sp>
        <p:nvSpPr>
          <p:cNvPr id="8" name="Rectangle 7"/>
          <p:cNvSpPr/>
          <p:nvPr/>
        </p:nvSpPr>
        <p:spPr>
          <a:xfrm>
            <a:off x="6011900" y="7633452"/>
            <a:ext cx="6704271" cy="400110"/>
          </a:xfrm>
          <a:prstGeom prst="rect">
            <a:avLst/>
          </a:prstGeom>
        </p:spPr>
        <p:txBody>
          <a:bodyPr wrap="none">
            <a:spAutoFit/>
          </a:bodyPr>
          <a:lstStyle/>
          <a:p>
            <a:pPr lvl="0"/>
            <a:r>
              <a:rPr lang="en-US" sz="2000" b="1" dirty="0">
                <a:solidFill>
                  <a:prstClr val="black"/>
                </a:solidFill>
              </a:rPr>
              <a:t>Image 4 : Siemen’s Agile PM Tools. (Personal Collection, 2025)</a:t>
            </a:r>
          </a:p>
        </p:txBody>
      </p:sp>
      <p:pic>
        <p:nvPicPr>
          <p:cNvPr id="13" name="Harshita 2">
            <a:hlinkClick r:id="" action="ppaction://media"/>
          </p:cNvPr>
          <p:cNvPicPr>
            <a:picLocks noChangeAspect="1"/>
          </p:cNvPicPr>
          <p:nvPr>
            <a:audioFile r:link="rId1"/>
            <p:extLst>
              <p:ext uri="{DAA4B4D4-6D71-4841-9C94-3DE7FCFB9230}">
                <p14:media xmlns:p14="http://schemas.microsoft.com/office/powerpoint/2010/main" r:embed="rId2">
                  <p14:trim st="33144"/>
                </p14:media>
              </p:ext>
            </p:extLst>
          </p:nvPr>
        </p:nvPicPr>
        <p:blipFill>
          <a:blip r:embed="rId10"/>
          <a:stretch>
            <a:fillRect/>
          </a:stretch>
        </p:blipFill>
        <p:spPr>
          <a:xfrm>
            <a:off x="12965947" y="7083098"/>
            <a:ext cx="2059266" cy="2059266"/>
          </a:xfrm>
          <a:prstGeom prst="rect">
            <a:avLst/>
          </a:prstGeom>
        </p:spPr>
      </p:pic>
    </p:spTree>
    <p:extLst>
      <p:ext uri="{BB962C8B-B14F-4D97-AF65-F5344CB8AC3E}">
        <p14:creationId xmlns:p14="http://schemas.microsoft.com/office/powerpoint/2010/main" val="212575733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144" fill="hold"/>
                                        <p:tgtEl>
                                          <p:spTgt spid="13"/>
                                        </p:tgtEl>
                                      </p:cBhvr>
                                    </p:cmd>
                                  </p:childTnLst>
                                </p:cTn>
                              </p:par>
                            </p:childTnLst>
                          </p:cTn>
                        </p:par>
                      </p:childTnLst>
                    </p:cTn>
                  </p:par>
                </p:childTnLst>
              </p:cTn>
              <p:nextCondLst>
                <p:cond evt="onClick" delay="0">
                  <p:tgtEl>
                    <p:spTgt spid="13"/>
                  </p:tgtEl>
                </p:cond>
              </p:nextCondLst>
            </p:seq>
            <p:audio>
              <p:cMediaNode vol="80000">
                <p:cTn id="7" fill="hold" display="0">
                  <p:stCondLst>
                    <p:cond delay="indefinite"/>
                  </p:stCondLst>
                  <p:endCondLst>
                    <p:cond evt="onStopAudio" delay="0">
                      <p:tgtEl>
                        <p:sldTgt/>
                      </p:tgtEl>
                    </p:cond>
                  </p:endCondLst>
                </p:cTn>
                <p:tgtEl>
                  <p:spTgt spid="13"/>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4459-6D9E-8380-EF15-478F5104FCA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1C5E5A5-70E8-BF93-489A-E3BB2879599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endParaRPr lang="en-US"/>
          </a:p>
        </p:txBody>
      </p:sp>
      <p:sp>
        <p:nvSpPr>
          <p:cNvPr id="6" name="TextBox 6">
            <a:extLst>
              <a:ext uri="{FF2B5EF4-FFF2-40B4-BE49-F238E27FC236}">
                <a16:creationId xmlns:a16="http://schemas.microsoft.com/office/drawing/2014/main" id="{2731B789-3669-902E-95F2-4C7FE76EEBF6}"/>
              </a:ext>
            </a:extLst>
          </p:cNvPr>
          <p:cNvSpPr txBox="1"/>
          <p:nvPr/>
        </p:nvSpPr>
        <p:spPr>
          <a:xfrm>
            <a:off x="1143583" y="101715"/>
            <a:ext cx="16000833" cy="2462213"/>
          </a:xfrm>
          <a:prstGeom prst="rect">
            <a:avLst/>
          </a:prstGeom>
        </p:spPr>
        <p:txBody>
          <a:bodyPr wrap="square" lIns="0" tIns="0" rIns="0" bIns="0" rtlCol="0" anchor="t">
            <a:spAutoFit/>
          </a:bodyPr>
          <a:lstStyle/>
          <a:p>
            <a:pPr algn="ctr">
              <a:lnSpc>
                <a:spcPts val="9600"/>
              </a:lnSpc>
            </a:pPr>
            <a:r>
              <a:rPr lang="en-US" sz="6000" b="1" dirty="0">
                <a:solidFill>
                  <a:srgbClr val="FFFFFF"/>
                </a:solidFill>
                <a:latin typeface="+mj-lt"/>
              </a:rPr>
              <a:t> ENGAGEMENT, COMMUNICATION, AND COLLABORATION MECHANISMS </a:t>
            </a:r>
          </a:p>
        </p:txBody>
      </p:sp>
      <p:sp>
        <p:nvSpPr>
          <p:cNvPr id="10" name="TextBox 9">
            <a:extLst>
              <a:ext uri="{FF2B5EF4-FFF2-40B4-BE49-F238E27FC236}">
                <a16:creationId xmlns:a16="http://schemas.microsoft.com/office/drawing/2014/main" id="{230C8D2A-8AF9-E3D7-6C6A-D9D1114F3145}"/>
              </a:ext>
            </a:extLst>
          </p:cNvPr>
          <p:cNvSpPr txBox="1"/>
          <p:nvPr/>
        </p:nvSpPr>
        <p:spPr>
          <a:xfrm>
            <a:off x="802433" y="2563928"/>
            <a:ext cx="9927771" cy="6937155"/>
          </a:xfrm>
          <a:prstGeom prst="rect">
            <a:avLst/>
          </a:prstGeom>
          <a:noFill/>
        </p:spPr>
        <p:txBody>
          <a:bodyPr wrap="square">
            <a:spAutoFit/>
          </a:bodyPr>
          <a:lstStyle/>
          <a:p>
            <a:pPr lvl="0" algn="just">
              <a:lnSpc>
                <a:spcPct val="116000"/>
              </a:lnSpc>
              <a:spcBef>
                <a:spcPts val="1200"/>
              </a:spcBef>
              <a:spcAft>
                <a:spcPts val="1200"/>
              </a:spcAft>
            </a:pPr>
            <a:r>
              <a:rPr lang="en-US" sz="2800" b="1" dirty="0">
                <a:solidFill>
                  <a:srgbClr val="FFFFFF"/>
                </a:solidFill>
              </a:rPr>
              <a:t>3. Co-Design &amp; Feedback Examples:</a:t>
            </a:r>
          </a:p>
          <a:p>
            <a:pPr marL="342900" lvl="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Sprint review sessions open to clients and end-users</a:t>
            </a:r>
          </a:p>
          <a:p>
            <a:pPr marL="342900" lvl="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Internal hackathons or joint ideation workshops (partner participation)</a:t>
            </a:r>
          </a:p>
          <a:p>
            <a:pPr marL="342900" lvl="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Digital feedback forms embedded in appliance user interfaces (Working Well, 2023; Value Glide, 2025)</a:t>
            </a:r>
          </a:p>
          <a:p>
            <a:pPr lvl="0" algn="just">
              <a:lnSpc>
                <a:spcPct val="116000"/>
              </a:lnSpc>
              <a:spcBef>
                <a:spcPts val="1200"/>
              </a:spcBef>
              <a:spcAft>
                <a:spcPts val="1200"/>
              </a:spcAft>
            </a:pPr>
            <a:r>
              <a:rPr lang="en-US" sz="2800" b="1" dirty="0">
                <a:solidFill>
                  <a:srgbClr val="FFFFFF"/>
                </a:solidFill>
              </a:rPr>
              <a:t>4. Communication Loops in </a:t>
            </a:r>
            <a:r>
              <a:rPr lang="en-US" sz="2800" b="1" dirty="0" err="1">
                <a:solidFill>
                  <a:srgbClr val="FFFFFF"/>
                </a:solidFill>
              </a:rPr>
              <a:t>SAFe</a:t>
            </a:r>
            <a:r>
              <a:rPr lang="en-US" sz="2800" b="1" dirty="0">
                <a:solidFill>
                  <a:srgbClr val="FFFFFF"/>
                </a:solidFill>
              </a:rPr>
              <a:t>:</a:t>
            </a:r>
          </a:p>
          <a:p>
            <a:pPr marL="342900" lvl="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PO Sync &amp; Scrum Master Sync (keeps teams aligned)</a:t>
            </a:r>
          </a:p>
          <a:p>
            <a:pPr marL="342900" lvl="0" indent="-342900" algn="just">
              <a:lnSpc>
                <a:spcPct val="116000"/>
              </a:lnSpc>
              <a:spcBef>
                <a:spcPts val="1200"/>
              </a:spcBef>
              <a:spcAft>
                <a:spcPts val="1200"/>
              </a:spcAft>
              <a:buFont typeface="Arial" panose="020B0604020202020204" pitchFamily="34" charset="0"/>
              <a:buChar char="•"/>
            </a:pPr>
            <a:r>
              <a:rPr lang="en-US" sz="2800" b="1" dirty="0">
                <a:solidFill>
                  <a:srgbClr val="FFFFFF"/>
                </a:solidFill>
              </a:rPr>
              <a:t>System demos and Inspect &amp; Adapt sessions (building trust and shared direction) (Scaled Agile Inc., 2021; Value Glide, 2025)</a:t>
            </a:r>
          </a:p>
        </p:txBody>
      </p:sp>
      <p:pic>
        <p:nvPicPr>
          <p:cNvPr id="3" name="Picture 2"/>
          <p:cNvPicPr>
            <a:picLocks noChangeAspect="1"/>
          </p:cNvPicPr>
          <p:nvPr/>
        </p:nvPicPr>
        <p:blipFill>
          <a:blip r:embed="rId5"/>
          <a:stretch>
            <a:fillRect/>
          </a:stretch>
        </p:blipFill>
        <p:spPr>
          <a:xfrm>
            <a:off x="11235151" y="3824806"/>
            <a:ext cx="6547902" cy="3320588"/>
          </a:xfrm>
          <a:prstGeom prst="rect">
            <a:avLst/>
          </a:prstGeom>
        </p:spPr>
      </p:pic>
      <p:sp>
        <p:nvSpPr>
          <p:cNvPr id="4" name="Rectangle 3"/>
          <p:cNvSpPr/>
          <p:nvPr/>
        </p:nvSpPr>
        <p:spPr>
          <a:xfrm>
            <a:off x="11181043" y="7590068"/>
            <a:ext cx="6656118" cy="369332"/>
          </a:xfrm>
          <a:prstGeom prst="rect">
            <a:avLst/>
          </a:prstGeom>
        </p:spPr>
        <p:txBody>
          <a:bodyPr wrap="none">
            <a:spAutoFit/>
          </a:bodyPr>
          <a:lstStyle/>
          <a:p>
            <a:pPr lvl="0"/>
            <a:r>
              <a:rPr lang="en-US" b="1" dirty="0">
                <a:solidFill>
                  <a:prstClr val="black"/>
                </a:solidFill>
              </a:rPr>
              <a:t>Image 5: Communication Feedback Loop. (Personal Collection, 2025)</a:t>
            </a:r>
          </a:p>
        </p:txBody>
      </p:sp>
      <p:pic>
        <p:nvPicPr>
          <p:cNvPr id="7" name="Harshita_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4509102" y="1088864"/>
            <a:ext cx="2706170" cy="2706170"/>
          </a:xfrm>
          <a:prstGeom prst="rect">
            <a:avLst/>
          </a:prstGeom>
        </p:spPr>
      </p:pic>
    </p:spTree>
    <p:extLst>
      <p:ext uri="{BB962C8B-B14F-4D97-AF65-F5344CB8AC3E}">
        <p14:creationId xmlns:p14="http://schemas.microsoft.com/office/powerpoint/2010/main" val="114605131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64680" fill="hold"/>
                                        <p:tgtEl>
                                          <p:spTgt spid="7"/>
                                        </p:tgtEl>
                                      </p:cBhvr>
                                    </p:cmd>
                                  </p:childTnLst>
                                </p:cTn>
                              </p:par>
                            </p:childTnLst>
                          </p:cTn>
                        </p:par>
                      </p:childTnLst>
                    </p:cTn>
                  </p:par>
                </p:childTnLst>
              </p:cTn>
              <p:nextCondLst>
                <p:cond evt="onClick" delay="0">
                  <p:tgtEl>
                    <p:spTgt spid="7"/>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83927-1140-069A-736F-575499461F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A14DB99-95DC-ECD5-9D2A-E946AA24FA5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rgbClr val="145C94"/>
          </a:solidFill>
        </p:spPr>
        <p:txBody>
          <a:bodyPr/>
          <a:lstStyle/>
          <a:p>
            <a:endParaRPr lang="en-US"/>
          </a:p>
        </p:txBody>
      </p:sp>
      <p:grpSp>
        <p:nvGrpSpPr>
          <p:cNvPr id="3" name="Group 3">
            <a:extLst>
              <a:ext uri="{FF2B5EF4-FFF2-40B4-BE49-F238E27FC236}">
                <a16:creationId xmlns:a16="http://schemas.microsoft.com/office/drawing/2014/main" id="{53EE1DEA-E673-8F2A-EFF0-B3F6E430ACF8}"/>
              </a:ext>
            </a:extLst>
          </p:cNvPr>
          <p:cNvGrpSpPr>
            <a:grpSpLocks noGrp="1" noUngrp="1" noRot="1" noMove="1" noResize="1"/>
          </p:cNvGrpSpPr>
          <p:nvPr/>
        </p:nvGrpSpPr>
        <p:grpSpPr>
          <a:xfrm>
            <a:off x="1028700" y="884039"/>
            <a:ext cx="16230600" cy="8374260"/>
            <a:chOff x="0" y="-38100"/>
            <a:chExt cx="4274726" cy="2205568"/>
          </a:xfrm>
        </p:grpSpPr>
        <p:sp>
          <p:nvSpPr>
            <p:cNvPr id="4" name="Freeform 4">
              <a:extLst>
                <a:ext uri="{FF2B5EF4-FFF2-40B4-BE49-F238E27FC236}">
                  <a16:creationId xmlns:a16="http://schemas.microsoft.com/office/drawing/2014/main" id="{4D44458F-15F6-1A7F-56A5-B7CFD1284F8F}"/>
                </a:ext>
              </a:extLst>
            </p:cNvPr>
            <p:cNvSpPr>
              <a:spLocks noGrp="1" noRot="1" noMove="1" noResize="1" noEditPoints="1" noAdjustHandles="1" noChangeArrowheads="1" noChangeShapeType="1"/>
            </p:cNvSpPr>
            <p:nvPr/>
          </p:nvSpPr>
          <p:spPr>
            <a:xfrm>
              <a:off x="0" y="0"/>
              <a:ext cx="4274726" cy="2167468"/>
            </a:xfrm>
            <a:custGeom>
              <a:avLst/>
              <a:gdLst/>
              <a:ahLst/>
              <a:cxnLst/>
              <a:rect l="l" t="t" r="r" b="b"/>
              <a:pathLst>
                <a:path w="4274726" h="2167467">
                  <a:moveTo>
                    <a:pt x="10494" y="0"/>
                  </a:moveTo>
                  <a:lnTo>
                    <a:pt x="4264232" y="0"/>
                  </a:lnTo>
                  <a:cubicBezTo>
                    <a:pt x="4270028" y="0"/>
                    <a:pt x="4274726" y="4698"/>
                    <a:pt x="4274726" y="10494"/>
                  </a:cubicBezTo>
                  <a:lnTo>
                    <a:pt x="4274726" y="2156973"/>
                  </a:lnTo>
                  <a:cubicBezTo>
                    <a:pt x="4274726" y="2162768"/>
                    <a:pt x="4270028" y="2167467"/>
                    <a:pt x="4264232" y="2167467"/>
                  </a:cubicBezTo>
                  <a:lnTo>
                    <a:pt x="10494" y="2167467"/>
                  </a:lnTo>
                  <a:cubicBezTo>
                    <a:pt x="7711" y="2167467"/>
                    <a:pt x="5042" y="2166361"/>
                    <a:pt x="3074" y="2164393"/>
                  </a:cubicBezTo>
                  <a:cubicBezTo>
                    <a:pt x="1106" y="2162425"/>
                    <a:pt x="0" y="2159756"/>
                    <a:pt x="0" y="2156973"/>
                  </a:cubicBezTo>
                  <a:lnTo>
                    <a:pt x="0" y="10494"/>
                  </a:lnTo>
                  <a:cubicBezTo>
                    <a:pt x="0" y="4698"/>
                    <a:pt x="4698" y="0"/>
                    <a:pt x="10494" y="0"/>
                  </a:cubicBezTo>
                  <a:close/>
                </a:path>
              </a:pathLst>
            </a:custGeom>
            <a:solidFill>
              <a:srgbClr val="155C94"/>
            </a:solidFill>
          </p:spPr>
          <p:txBody>
            <a:bodyPr/>
            <a:lstStyle/>
            <a:p>
              <a:endParaRPr lang="en-US"/>
            </a:p>
          </p:txBody>
        </p:sp>
        <p:sp>
          <p:nvSpPr>
            <p:cNvPr id="5" name="TextBox 5">
              <a:extLst>
                <a:ext uri="{FF2B5EF4-FFF2-40B4-BE49-F238E27FC236}">
                  <a16:creationId xmlns:a16="http://schemas.microsoft.com/office/drawing/2014/main" id="{62E23E3F-C54C-F29E-D76F-82B204587ADC}"/>
                </a:ext>
              </a:extLst>
            </p:cNvPr>
            <p:cNvSpPr txBox="1">
              <a:spLocks noGrp="1" noRot="1" noMove="1" noResize="1" noEditPoints="1" noAdjustHandles="1" noChangeArrowheads="1" noChangeShapeType="1"/>
            </p:cNvSpPr>
            <p:nvPr/>
          </p:nvSpPr>
          <p:spPr>
            <a:xfrm>
              <a:off x="0" y="-38100"/>
              <a:ext cx="4274726" cy="220556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a:extLst>
              <a:ext uri="{FF2B5EF4-FFF2-40B4-BE49-F238E27FC236}">
                <a16:creationId xmlns:a16="http://schemas.microsoft.com/office/drawing/2014/main" id="{32CAA3BF-C776-CF27-D2AB-A0AD7AEB4DC4}"/>
              </a:ext>
            </a:extLst>
          </p:cNvPr>
          <p:cNvSpPr txBox="1"/>
          <p:nvPr/>
        </p:nvSpPr>
        <p:spPr>
          <a:xfrm>
            <a:off x="5393094" y="611332"/>
            <a:ext cx="6734368" cy="2462213"/>
          </a:xfrm>
          <a:prstGeom prst="rect">
            <a:avLst/>
          </a:prstGeom>
        </p:spPr>
        <p:txBody>
          <a:bodyPr wrap="square" lIns="0" tIns="0" rIns="0" bIns="0" rtlCol="0" anchor="t">
            <a:spAutoFit/>
          </a:bodyPr>
          <a:lstStyle/>
          <a:p>
            <a:pPr algn="ctr">
              <a:lnSpc>
                <a:spcPts val="9600"/>
              </a:lnSpc>
            </a:pPr>
            <a:r>
              <a:rPr lang="en-US" sz="6600" b="1" dirty="0">
                <a:solidFill>
                  <a:srgbClr val="FFFFFF"/>
                </a:solidFill>
                <a:latin typeface="+mj-lt"/>
              </a:rPr>
              <a:t> CONCLUSION</a:t>
            </a:r>
          </a:p>
          <a:p>
            <a:pPr marL="0" lvl="0" indent="0" algn="ctr">
              <a:lnSpc>
                <a:spcPts val="9600"/>
              </a:lnSpc>
            </a:pPr>
            <a:endParaRPr lang="en-US" sz="6600" b="1" spc="-600" dirty="0">
              <a:solidFill>
                <a:srgbClr val="FFFFFF"/>
              </a:solidFill>
              <a:latin typeface="+mj-lt"/>
              <a:ea typeface="Rustic Printed"/>
              <a:cs typeface="Rustic Printed"/>
              <a:sym typeface="Rustic Printed"/>
            </a:endParaRPr>
          </a:p>
        </p:txBody>
      </p:sp>
      <p:sp>
        <p:nvSpPr>
          <p:cNvPr id="8" name="TextBox 7">
            <a:extLst>
              <a:ext uri="{FF2B5EF4-FFF2-40B4-BE49-F238E27FC236}">
                <a16:creationId xmlns:a16="http://schemas.microsoft.com/office/drawing/2014/main" id="{C7105039-C8E7-8C4F-07FF-DE51AF205A64}"/>
              </a:ext>
            </a:extLst>
          </p:cNvPr>
          <p:cNvSpPr txBox="1"/>
          <p:nvPr/>
        </p:nvSpPr>
        <p:spPr>
          <a:xfrm>
            <a:off x="1028700" y="1935859"/>
            <a:ext cx="16040099" cy="7629012"/>
          </a:xfrm>
          <a:prstGeom prst="rect">
            <a:avLst/>
          </a:prstGeom>
          <a:noFill/>
        </p:spPr>
        <p:txBody>
          <a:bodyPr wrap="square">
            <a:spAutoFit/>
          </a:bodyPr>
          <a:lstStyle>
            <a:defPPr>
              <a:defRPr lang="en-US"/>
            </a:defPPr>
            <a:lvl1pPr lvl="0" algn="just">
              <a:lnSpc>
                <a:spcPct val="116000"/>
              </a:lnSpc>
              <a:spcBef>
                <a:spcPts val="1200"/>
              </a:spcBef>
              <a:spcAft>
                <a:spcPts val="1200"/>
              </a:spcAft>
              <a:defRPr sz="2400" b="1">
                <a:solidFill>
                  <a:srgbClr val="FFFFFF"/>
                </a:solidFill>
                <a:latin typeface="Canva Sans Medium"/>
              </a:defRPr>
            </a:lvl1pPr>
          </a:lstStyle>
          <a:p>
            <a:pPr marL="342900" indent="-342900">
              <a:buFont typeface="Arial" panose="020B0604020202020204" pitchFamily="34" charset="0"/>
              <a:buChar char="•"/>
            </a:pPr>
            <a:r>
              <a:rPr lang="en-US" sz="2800" spc="-150" dirty="0">
                <a:latin typeface="+mn-lt"/>
              </a:rPr>
              <a:t>Agile Transformation: Siemens’ digital transformation highlights how Agile methodologies, especially the Scaled Agile Framework (</a:t>
            </a:r>
            <a:r>
              <a:rPr lang="en-US" sz="2800" spc="-150" dirty="0" err="1">
                <a:latin typeface="+mn-lt"/>
              </a:rPr>
              <a:t>SAFe</a:t>
            </a:r>
            <a:r>
              <a:rPr lang="en-US" sz="2800" spc="-150" dirty="0">
                <a:latin typeface="+mn-lt"/>
              </a:rPr>
              <a:t>), help large organizations innovate efficiently at scale.</a:t>
            </a:r>
          </a:p>
          <a:p>
            <a:pPr marL="342900" indent="-342900">
              <a:buFont typeface="Arial" panose="020B0604020202020204" pitchFamily="34" charset="0"/>
              <a:buChar char="•"/>
            </a:pPr>
            <a:r>
              <a:rPr lang="en-US" sz="2800" spc="-150" dirty="0">
                <a:latin typeface="+mn-lt"/>
              </a:rPr>
              <a:t>Cross-Functional Collaboration: Through integrated teams and iterative feedback loops, Siemens bridges industrial engineering with digital innovation.</a:t>
            </a:r>
          </a:p>
          <a:p>
            <a:pPr marL="342900" indent="-342900">
              <a:buFont typeface="Arial" panose="020B0604020202020204" pitchFamily="34" charset="0"/>
              <a:buChar char="•"/>
            </a:pPr>
            <a:r>
              <a:rPr lang="en-US" sz="2800" spc="-150" dirty="0">
                <a:latin typeface="+mn-lt"/>
              </a:rPr>
              <a:t>Strategic Alignment: Lean portfolio management ensures that business goals, technology development, and customer needs remain aligned.</a:t>
            </a:r>
          </a:p>
          <a:p>
            <a:pPr marL="342900" indent="-342900">
              <a:buFont typeface="Arial" panose="020B0604020202020204" pitchFamily="34" charset="0"/>
              <a:buChar char="•"/>
            </a:pPr>
            <a:r>
              <a:rPr lang="en-US" sz="2800" spc="-150" dirty="0">
                <a:latin typeface="+mn-lt"/>
              </a:rPr>
              <a:t>Faster Innovation: Agile enables quicker product development and improved market responsiveness, keeping Siemens competitive in a fast-evolving digital landscape.</a:t>
            </a:r>
          </a:p>
          <a:p>
            <a:pPr marL="342900" indent="-342900">
              <a:buFont typeface="Arial" panose="020B0604020202020204" pitchFamily="34" charset="0"/>
              <a:buChar char="•"/>
            </a:pPr>
            <a:r>
              <a:rPr lang="en-US" sz="2800" spc="-150" dirty="0">
                <a:latin typeface="+mn-lt"/>
              </a:rPr>
              <a:t>Sustainability Focus: Agile practices support Siemens’ commitment to energy efficiency, smart design, and sustainable innovation.</a:t>
            </a:r>
          </a:p>
          <a:p>
            <a:pPr marL="342900" indent="-342900">
              <a:buFont typeface="Arial" panose="020B0604020202020204" pitchFamily="34" charset="0"/>
              <a:buChar char="•"/>
            </a:pPr>
            <a:r>
              <a:rPr lang="en-US" sz="2800" spc="-150" dirty="0">
                <a:latin typeface="+mn-lt"/>
              </a:rPr>
              <a:t>Mindset Shift: Agility at Siemens goes beyond processes, it is a strategic mindset that drives collaboration, adaptability, and continuous improvement across global teams.</a:t>
            </a:r>
          </a:p>
        </p:txBody>
      </p:sp>
      <p:sp>
        <p:nvSpPr>
          <p:cNvPr id="7" name="TextBox 6">
            <a:extLst>
              <a:ext uri="{FF2B5EF4-FFF2-40B4-BE49-F238E27FC236}">
                <a16:creationId xmlns:a16="http://schemas.microsoft.com/office/drawing/2014/main" id="{599AD99F-F7D6-6D79-55A1-EDBB140FB65A}"/>
              </a:ext>
            </a:extLst>
          </p:cNvPr>
          <p:cNvSpPr txBox="1"/>
          <p:nvPr/>
        </p:nvSpPr>
        <p:spPr>
          <a:xfrm>
            <a:off x="11753850" y="9741269"/>
            <a:ext cx="6294347" cy="369332"/>
          </a:xfrm>
          <a:prstGeom prst="rect">
            <a:avLst/>
          </a:prstGeom>
          <a:noFill/>
        </p:spPr>
        <p:txBody>
          <a:bodyPr wrap="square" rtlCol="0">
            <a:spAutoFit/>
          </a:bodyPr>
          <a:lstStyle/>
          <a:p>
            <a:r>
              <a:rPr lang="en-US" dirty="0"/>
              <a:t>(Collis &amp; Junker, 2020 ; Siemens AG, 2024 ; Fritzsch et al., 2022)</a:t>
            </a:r>
          </a:p>
        </p:txBody>
      </p:sp>
      <p:pic>
        <p:nvPicPr>
          <p:cNvPr id="10" name="slide 23">
            <a:hlinkClick r:id="" action="ppaction://media"/>
            <a:extLst>
              <a:ext uri="{FF2B5EF4-FFF2-40B4-BE49-F238E27FC236}">
                <a16:creationId xmlns:a16="http://schemas.microsoft.com/office/drawing/2014/main" id="{6CC636C7-AA21-3937-87DC-E523C01E5BA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6491856" y="471799"/>
            <a:ext cx="951621" cy="951621"/>
          </a:xfrm>
          <a:prstGeom prst="rect">
            <a:avLst/>
          </a:prstGeom>
        </p:spPr>
      </p:pic>
    </p:spTree>
    <p:extLst>
      <p:ext uri="{BB962C8B-B14F-4D97-AF65-F5344CB8AC3E}">
        <p14:creationId xmlns:p14="http://schemas.microsoft.com/office/powerpoint/2010/main" val="527655247"/>
      </p:ext>
    </p:extLst>
  </p:cSld>
  <p:clrMapOvr>
    <a:masterClrMapping/>
  </p:clrMapOvr>
  <mc:AlternateContent xmlns:mc="http://schemas.openxmlformats.org/markup-compatibility/2006" xmlns:p14="http://schemas.microsoft.com/office/powerpoint/2010/main">
    <mc:Choice Requires="p14">
      <p:transition spd="slow" p14:dur="2000" advTm="119592"/>
    </mc:Choice>
    <mc:Fallback xmlns="">
      <p:transition spd="slow" advTm="1195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959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31943-21D8-AB78-9819-BC0E1D1B51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74F1C7A-0A22-7A56-8C7B-9003D7E6620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5555" b="-5555"/>
            </a:stretch>
          </a:blipFill>
        </p:spPr>
        <p:txBody>
          <a:bodyPr/>
          <a:lstStyle/>
          <a:p>
            <a:endParaRPr lang="en-US"/>
          </a:p>
        </p:txBody>
      </p:sp>
      <p:sp>
        <p:nvSpPr>
          <p:cNvPr id="5" name="TextBox 5">
            <a:extLst>
              <a:ext uri="{FF2B5EF4-FFF2-40B4-BE49-F238E27FC236}">
                <a16:creationId xmlns:a16="http://schemas.microsoft.com/office/drawing/2014/main" id="{9848E643-3D37-C4D6-F18E-AEF5922826D7}"/>
              </a:ext>
            </a:extLst>
          </p:cNvPr>
          <p:cNvSpPr txBox="1"/>
          <p:nvPr/>
        </p:nvSpPr>
        <p:spPr>
          <a:xfrm>
            <a:off x="5789524" y="78581"/>
            <a:ext cx="7293429" cy="1231106"/>
          </a:xfrm>
          <a:prstGeom prst="rect">
            <a:avLst/>
          </a:prstGeom>
        </p:spPr>
        <p:txBody>
          <a:bodyPr wrap="square" lIns="0" tIns="0" rIns="0" bIns="0" rtlCol="0" anchor="t">
            <a:spAutoFit/>
          </a:bodyPr>
          <a:lstStyle/>
          <a:p>
            <a:pPr lvl="0" algn="ctr">
              <a:lnSpc>
                <a:spcPts val="9600"/>
              </a:lnSpc>
            </a:pPr>
            <a:r>
              <a:rPr lang="en-US" sz="6600" b="1" dirty="0">
                <a:solidFill>
                  <a:srgbClr val="0B4E7C"/>
                </a:solidFill>
                <a:latin typeface="+mj-lt"/>
              </a:rPr>
              <a:t>REFERENCES </a:t>
            </a:r>
            <a:endParaRPr lang="en-US" sz="6600" b="1" dirty="0">
              <a:solidFill>
                <a:srgbClr val="0B4E7C"/>
              </a:solidFill>
              <a:latin typeface="+mj-lt"/>
              <a:sym typeface="Rustic Printed"/>
            </a:endParaRPr>
          </a:p>
        </p:txBody>
      </p:sp>
      <p:sp>
        <p:nvSpPr>
          <p:cNvPr id="7" name="TextBox 6">
            <a:extLst>
              <a:ext uri="{FF2B5EF4-FFF2-40B4-BE49-F238E27FC236}">
                <a16:creationId xmlns:a16="http://schemas.microsoft.com/office/drawing/2014/main" id="{ACA7B873-2BFC-3400-CFEC-34F871AB1E41}"/>
              </a:ext>
            </a:extLst>
          </p:cNvPr>
          <p:cNvSpPr txBox="1"/>
          <p:nvPr/>
        </p:nvSpPr>
        <p:spPr>
          <a:xfrm>
            <a:off x="584790" y="1285458"/>
            <a:ext cx="17118419" cy="8956298"/>
          </a:xfrm>
          <a:prstGeom prst="rect">
            <a:avLst/>
          </a:prstGeom>
          <a:noFill/>
        </p:spPr>
        <p:txBody>
          <a:bodyPr wrap="square">
            <a:spAutoFit/>
          </a:bodyPr>
          <a:lstStyle/>
          <a:p>
            <a:pPr marL="285750" lvl="0" indent="-285750">
              <a:buFont typeface="Arial" panose="020B0604020202020204" pitchFamily="34" charset="0"/>
              <a:buChar char="•"/>
            </a:pPr>
            <a:r>
              <a:rPr lang="en-US" sz="1600" i="1" dirty="0"/>
              <a:t>Agile Hive (2023) 'Agile Metrics: Flow Velocity.' Available at: </a:t>
            </a:r>
            <a:r>
              <a:rPr lang="en-US" sz="1600" b="1" i="1" u="sng" dirty="0">
                <a:hlinkClick r:id="rId4"/>
              </a:rPr>
              <a:t>https://agile-hive.com/agile-metrics-flow-velocity</a:t>
            </a:r>
            <a:r>
              <a:rPr lang="en-US" sz="1600" i="1" dirty="0"/>
              <a:t> (Accessed: 11 October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Agile Hive, 2023. </a:t>
            </a:r>
            <a:r>
              <a:rPr lang="en-US" sz="1600" i="1" dirty="0"/>
              <a:t>Understanding Flow Metrics in </a:t>
            </a:r>
            <a:r>
              <a:rPr lang="en-US" sz="1600" i="1" dirty="0" err="1"/>
              <a:t>SAFe</a:t>
            </a:r>
            <a:r>
              <a:rPr lang="en-US" sz="1600" i="1" dirty="0"/>
              <a:t>®: A Beginner’s Guide</a:t>
            </a:r>
            <a:r>
              <a:rPr lang="en-US" sz="1600" dirty="0"/>
              <a:t>. Agile Hive. Available at: </a:t>
            </a:r>
            <a:r>
              <a:rPr lang="en-US" sz="1600" u="sng" dirty="0">
                <a:hlinkClick r:id="rId5"/>
              </a:rPr>
              <a:t>https://agile-hive.com/blog/understanding-flow-metrics-in-safe/</a:t>
            </a:r>
            <a:r>
              <a:rPr lang="en-US" sz="1600" dirty="0"/>
              <a:t> [Accessed 4 October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err="1"/>
              <a:t>Agilemania</a:t>
            </a:r>
            <a:r>
              <a:rPr lang="en-US" sz="1600" dirty="0"/>
              <a:t>, 2022. </a:t>
            </a:r>
            <a:r>
              <a:rPr lang="en-US" sz="1600" i="1" dirty="0" err="1"/>
              <a:t>SAFe</a:t>
            </a:r>
            <a:r>
              <a:rPr lang="en-US" sz="1600" i="1" dirty="0"/>
              <a:t>® Metrics for Agile Transformation</a:t>
            </a:r>
            <a:r>
              <a:rPr lang="en-US" sz="1600" dirty="0"/>
              <a:t>. </a:t>
            </a:r>
            <a:r>
              <a:rPr lang="en-US" sz="1600" dirty="0" err="1"/>
              <a:t>Agilemania</a:t>
            </a:r>
            <a:r>
              <a:rPr lang="en-US" sz="1600" dirty="0"/>
              <a:t>. Available at: </a:t>
            </a:r>
            <a:r>
              <a:rPr lang="en-US" sz="1600" u="sng" dirty="0">
                <a:hlinkClick r:id="rId6"/>
              </a:rPr>
              <a:t>https://agilemania.com/safe%C2%AE-metrics-for-agile-transformation</a:t>
            </a:r>
            <a:r>
              <a:rPr lang="en-US" sz="1600" dirty="0"/>
              <a:t> [Accessed 4 October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Atlassian, 2024. </a:t>
            </a:r>
            <a:r>
              <a:rPr lang="en-US" sz="1600" i="1" dirty="0"/>
              <a:t>Agile Project Management Metrics</a:t>
            </a:r>
            <a:r>
              <a:rPr lang="en-US" sz="1600" dirty="0"/>
              <a:t>. Atlassian. Available at: </a:t>
            </a:r>
            <a:r>
              <a:rPr lang="en-US" sz="1600" u="sng" dirty="0">
                <a:hlinkClick r:id="rId7"/>
              </a:rPr>
              <a:t>https://www.atlassian.com/agile/project-management/metrics</a:t>
            </a:r>
            <a:r>
              <a:rPr lang="en-US" sz="1600" dirty="0"/>
              <a:t> [Accessed 4 October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Collis, D.J. &amp; Junker, T., 2020. </a:t>
            </a:r>
            <a:r>
              <a:rPr lang="en-US" sz="1600" i="1" dirty="0"/>
              <a:t>Digitalization at Siemens</a:t>
            </a:r>
            <a:r>
              <a:rPr lang="en-US" sz="1600" dirty="0"/>
              <a:t>. Harvard Business School Teaching Note 720‑462.</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Ducharme, D. (2023). </a:t>
            </a:r>
            <a:r>
              <a:rPr lang="en-US" sz="1600" i="1" dirty="0"/>
              <a:t>Agile Metrics: The Ultimate Guide</a:t>
            </a:r>
            <a:r>
              <a:rPr lang="en-US" sz="1600" dirty="0"/>
              <a:t>. Atlassian. Retrieved from </a:t>
            </a:r>
            <a:r>
              <a:rPr lang="en-US" sz="1600" u="sng" dirty="0">
                <a:hlinkClick r:id="rId8"/>
              </a:rPr>
              <a:t>https://www.atlassian.com/agile/metrics</a:t>
            </a:r>
            <a:endParaRPr lang="en-US" sz="1600" dirty="0"/>
          </a:p>
          <a:p>
            <a:pPr marL="285750" lvl="0" indent="-285750">
              <a:buFont typeface="Arial" panose="020B0604020202020204" pitchFamily="34" charset="0"/>
              <a:buChar char="•"/>
            </a:pPr>
            <a:endParaRPr lang="de-DE" sz="1600" dirty="0"/>
          </a:p>
          <a:p>
            <a:pPr marL="285750" lvl="0" indent="-285750">
              <a:buFont typeface="Arial" panose="020B0604020202020204" pitchFamily="34" charset="0"/>
              <a:buChar char="•"/>
            </a:pPr>
            <a:r>
              <a:rPr lang="de-DE" sz="1600" dirty="0"/>
              <a:t>Fritzsch, J., Bogner, J., Haug, M., da Silva, A.C.F., Rubner, C., Saft, M., Sauer, H. &amp; Wagner, S., 2022. </a:t>
            </a:r>
            <a:r>
              <a:rPr lang="en-US" sz="1600" dirty="0"/>
              <a:t>“Adopting microservices and DevOps in the cyber-physical systems domain: A rapid review and case study”, </a:t>
            </a:r>
            <a:r>
              <a:rPr lang="en-US" sz="1600" dirty="0" err="1"/>
              <a:t>arXiv</a:t>
            </a:r>
            <a:r>
              <a:rPr lang="en-US" sz="1600" dirty="0"/>
              <a:t> preprint arXiv:2210.06858.</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Gartner, 2023. </a:t>
            </a:r>
            <a:r>
              <a:rPr lang="en-US" sz="1600" i="1" dirty="0"/>
              <a:t>Emerging Tech: The Future of the Smart Home</a:t>
            </a:r>
            <a:r>
              <a:rPr lang="en-US" sz="1600" dirty="0"/>
              <a:t>. Gartner Research. Available at: </a:t>
            </a:r>
            <a:r>
              <a:rPr lang="en-US" sz="1600" u="sng" dirty="0">
                <a:hlinkClick r:id="rId9"/>
              </a:rPr>
              <a:t>https://www.gartner.com/en/documents/5810115</a:t>
            </a:r>
            <a:r>
              <a:rPr lang="en-US" sz="1600" dirty="0"/>
              <a:t> [Accessed 4 October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err="1"/>
              <a:t>Gocious</a:t>
            </a:r>
            <a:r>
              <a:rPr lang="en-US" sz="1600" dirty="0"/>
              <a:t>, 2023. </a:t>
            </a:r>
            <a:r>
              <a:rPr lang="en-US" sz="1600" i="1" dirty="0"/>
              <a:t>Three Agile Metrics to Track and Measure Outcomes, Flow, Competency</a:t>
            </a:r>
            <a:r>
              <a:rPr lang="en-US" sz="1600" dirty="0"/>
              <a:t>. </a:t>
            </a:r>
            <a:r>
              <a:rPr lang="en-US" sz="1600" dirty="0" err="1"/>
              <a:t>Gocious</a:t>
            </a:r>
            <a:r>
              <a:rPr lang="en-US" sz="1600" dirty="0"/>
              <a:t>. Available at: </a:t>
            </a:r>
            <a:r>
              <a:rPr lang="en-US" sz="1600" u="sng" dirty="0">
                <a:hlinkClick r:id="rId10"/>
              </a:rPr>
              <a:t>https://gocious.com/blog/three-agile-metrics-to-track-and-measure-outcomes-flow-competency</a:t>
            </a:r>
            <a:r>
              <a:rPr lang="en-US" sz="1600" dirty="0"/>
              <a:t> [Accessed 4 October 2025].</a:t>
            </a:r>
          </a:p>
          <a:p>
            <a:pPr marL="285750" lvl="0" indent="-285750">
              <a:buFont typeface="Arial" panose="020B0604020202020204" pitchFamily="34" charset="0"/>
              <a:buChar char="•"/>
            </a:pPr>
            <a:endParaRPr lang="en-US" sz="1600" i="1" dirty="0"/>
          </a:p>
          <a:p>
            <a:pPr marL="285750" lvl="0" indent="-285750">
              <a:buFont typeface="Arial" panose="020B0604020202020204" pitchFamily="34" charset="0"/>
              <a:buChar char="•"/>
            </a:pPr>
            <a:r>
              <a:rPr lang="en-US" sz="1600" i="1" dirty="0" err="1"/>
              <a:t>Infomineo</a:t>
            </a:r>
            <a:r>
              <a:rPr lang="en-US" sz="1600" i="1" dirty="0"/>
              <a:t> (2025) 'Five stakeholder mapping models every professional should know.' Available at: </a:t>
            </a:r>
            <a:r>
              <a:rPr lang="en-US" sz="1600" b="1" i="1" u="sng" dirty="0">
                <a:hlinkClick r:id="rId11"/>
              </a:rPr>
              <a:t>https://infomineo.com/blog/five-stakeholder-mapping-models-every-professional-should-know/</a:t>
            </a:r>
            <a:r>
              <a:rPr lang="en-US" sz="1600" i="1" dirty="0"/>
              <a:t> (Accessed: 11 October 2025).</a:t>
            </a: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Novikov, S.V. and Sazonov, A.A. (2019) </a:t>
            </a:r>
            <a:r>
              <a:rPr lang="en-US" sz="1600" i="1" dirty="0"/>
              <a:t>‘Application of the open operating system “</a:t>
            </a:r>
            <a:r>
              <a:rPr lang="en-US" sz="1600" i="1" dirty="0" err="1"/>
              <a:t>MindSphere</a:t>
            </a:r>
            <a:r>
              <a:rPr lang="en-US" sz="1600" i="1" dirty="0"/>
              <a:t>” in digital transformation of high-tech enterprises’</a:t>
            </a:r>
            <a:r>
              <a:rPr lang="en-US" sz="1600" dirty="0"/>
              <a:t>, </a:t>
            </a:r>
            <a:r>
              <a:rPr lang="en-US" sz="1600" i="1" dirty="0"/>
              <a:t>Economics: Theory and Practice</a:t>
            </a:r>
            <a:r>
              <a:rPr lang="en-US" sz="1600" dirty="0"/>
              <a:t>, 1(1), pp. 20–26. doi:10.2711-2454/2019.1.0. (Accessed: 11 November 2025).</a:t>
            </a:r>
          </a:p>
          <a:p>
            <a:pPr marL="285750" indent="-285750">
              <a:buFont typeface="Arial" panose="020B0604020202020204" pitchFamily="34" charset="0"/>
              <a:buChar char="•"/>
            </a:pPr>
            <a:endParaRPr lang="en-US" sz="1600" i="1" dirty="0"/>
          </a:p>
          <a:p>
            <a:pPr marL="285750" lvl="0" indent="-285750">
              <a:buFont typeface="Arial" panose="020B0604020202020204" pitchFamily="34" charset="0"/>
              <a:buChar char="•"/>
            </a:pPr>
            <a:r>
              <a:rPr lang="en-US" sz="1600" dirty="0"/>
              <a:t>Petrik, D. and </a:t>
            </a:r>
            <a:r>
              <a:rPr lang="en-US" sz="1600" dirty="0" err="1"/>
              <a:t>Herzwurm</a:t>
            </a:r>
            <a:r>
              <a:rPr lang="en-US" sz="1600" dirty="0"/>
              <a:t>, G. (2019) </a:t>
            </a:r>
            <a:r>
              <a:rPr lang="en-US" sz="1600" i="1" dirty="0"/>
              <a:t>‘</a:t>
            </a:r>
            <a:r>
              <a:rPr lang="en-US" sz="1600" i="1" dirty="0" err="1"/>
              <a:t>IIoT</a:t>
            </a:r>
            <a:r>
              <a:rPr lang="en-US" sz="1600" i="1" dirty="0"/>
              <a:t> ecosystem development through boundary resources: A Siemens </a:t>
            </a:r>
            <a:r>
              <a:rPr lang="en-US" sz="1600" i="1" dirty="0" err="1"/>
              <a:t>MindSphere</a:t>
            </a:r>
            <a:r>
              <a:rPr lang="en-US" sz="1600" i="1" dirty="0"/>
              <a:t> case study’</a:t>
            </a:r>
            <a:r>
              <a:rPr lang="en-US" sz="1600" dirty="0"/>
              <a:t>, Proceedings of the Association for Computing Machinery (ACM). </a:t>
            </a:r>
            <a:r>
              <a:rPr lang="en-US" sz="1600" dirty="0" err="1"/>
              <a:t>doi</a:t>
            </a:r>
            <a:r>
              <a:rPr lang="en-US" sz="1600" dirty="0"/>
              <a:t>: 10.1145/3340481.3342730. (Accessed: 11 November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Planview, 2024. </a:t>
            </a:r>
            <a:r>
              <a:rPr lang="en-US" sz="1600" i="1" dirty="0" err="1"/>
              <a:t>SAFe</a:t>
            </a:r>
            <a:r>
              <a:rPr lang="en-US" sz="1600" i="1" dirty="0"/>
              <a:t> Agile Metrics: Measure Your </a:t>
            </a:r>
            <a:r>
              <a:rPr lang="en-US" sz="1600" i="1" dirty="0" err="1"/>
              <a:t>SAFe</a:t>
            </a:r>
            <a:r>
              <a:rPr lang="en-US" sz="1600" i="1" dirty="0"/>
              <a:t> Success</a:t>
            </a:r>
            <a:r>
              <a:rPr lang="en-US" sz="1600" dirty="0"/>
              <a:t>. Planview. Available at: </a:t>
            </a:r>
            <a:r>
              <a:rPr lang="en-US" sz="1600" u="sng" dirty="0">
                <a:hlinkClick r:id="rId12"/>
              </a:rPr>
              <a:t>https://www.planview.com/resources/articles/safe-agile-metrics-measure-your-safe-success/</a:t>
            </a:r>
            <a:r>
              <a:rPr lang="en-US" sz="1600" dirty="0"/>
              <a:t> [Accessed 4 October 2025].</a:t>
            </a:r>
          </a:p>
          <a:p>
            <a:pPr marL="285750" lvl="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Research Institute of Economy, Trade and Industry (RIETI) (2024) </a:t>
            </a:r>
            <a:r>
              <a:rPr lang="en-US" sz="1600" i="1" dirty="0"/>
              <a:t>Network analysis of Siemens </a:t>
            </a:r>
            <a:r>
              <a:rPr lang="en-US" sz="1600" i="1" dirty="0" err="1"/>
              <a:t>MindSphere</a:t>
            </a:r>
            <a:r>
              <a:rPr lang="en-US" sz="1600" i="1" dirty="0"/>
              <a:t> partners.</a:t>
            </a:r>
            <a:r>
              <a:rPr lang="en-US" sz="1600" dirty="0"/>
              <a:t> RIETI Discussion Paper Series, 24-E-027. Available at: </a:t>
            </a:r>
            <a:r>
              <a:rPr lang="en-US" sz="1600" u="sng" dirty="0">
                <a:hlinkClick r:id="rId13"/>
              </a:rPr>
              <a:t>https://www.rieti.go.jp/jp/publications/dp/24e027.pdf</a:t>
            </a:r>
            <a:r>
              <a:rPr lang="en-US" sz="1600" dirty="0"/>
              <a:t> (Accessed: 11 November 2025).</a:t>
            </a:r>
          </a:p>
          <a:p>
            <a:pPr lvl="0"/>
            <a:endParaRPr lang="en-US" sz="1600" dirty="0"/>
          </a:p>
          <a:p>
            <a:r>
              <a:rPr lang="en-US" sz="1600" i="1" dirty="0"/>
              <a:t> </a:t>
            </a:r>
            <a:endParaRPr lang="en-US" sz="1600" dirty="0">
              <a:effectLst/>
              <a:latin typeface="+mj-lt"/>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3401985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6B1F7-0823-A27D-0598-9431B115FA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1258B8-0BFE-6FEB-35C5-4184C9CFEFC4}"/>
              </a:ext>
            </a:extLst>
          </p:cNvPr>
          <p:cNvSpPr/>
          <p:nvPr/>
        </p:nvSpPr>
        <p:spPr>
          <a:xfrm>
            <a:off x="-239486" y="-1110344"/>
            <a:ext cx="18788743" cy="11397343"/>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5555" b="-5555"/>
            </a:stretch>
          </a:blipFill>
        </p:spPr>
        <p:txBody>
          <a:bodyPr/>
          <a:lstStyle/>
          <a:p>
            <a:endParaRPr lang="en-US"/>
          </a:p>
        </p:txBody>
      </p:sp>
      <p:sp>
        <p:nvSpPr>
          <p:cNvPr id="5" name="TextBox 5">
            <a:extLst>
              <a:ext uri="{FF2B5EF4-FFF2-40B4-BE49-F238E27FC236}">
                <a16:creationId xmlns:a16="http://schemas.microsoft.com/office/drawing/2014/main" id="{7CAD3B2A-0BDD-1973-50A9-9443CA3AA070}"/>
              </a:ext>
            </a:extLst>
          </p:cNvPr>
          <p:cNvSpPr txBox="1"/>
          <p:nvPr/>
        </p:nvSpPr>
        <p:spPr>
          <a:xfrm>
            <a:off x="5996509" y="-64635"/>
            <a:ext cx="6422571" cy="1231106"/>
          </a:xfrm>
          <a:prstGeom prst="rect">
            <a:avLst/>
          </a:prstGeom>
        </p:spPr>
        <p:txBody>
          <a:bodyPr wrap="square" lIns="0" tIns="0" rIns="0" bIns="0" rtlCol="0" anchor="t">
            <a:spAutoFit/>
          </a:bodyPr>
          <a:lstStyle/>
          <a:p>
            <a:pPr lvl="0" algn="ctr">
              <a:lnSpc>
                <a:spcPts val="9600"/>
              </a:lnSpc>
            </a:pPr>
            <a:r>
              <a:rPr lang="en-US" sz="6600" b="1" dirty="0">
                <a:solidFill>
                  <a:srgbClr val="0B4E7C"/>
                </a:solidFill>
                <a:latin typeface="+mj-lt"/>
              </a:rPr>
              <a:t>REFERENCES </a:t>
            </a:r>
            <a:endParaRPr lang="en-US" sz="6600" b="1" dirty="0">
              <a:solidFill>
                <a:srgbClr val="0B4E7C"/>
              </a:solidFill>
              <a:latin typeface="+mj-lt"/>
              <a:sym typeface="Rustic Printed"/>
            </a:endParaRPr>
          </a:p>
        </p:txBody>
      </p:sp>
      <p:sp>
        <p:nvSpPr>
          <p:cNvPr id="4" name="TextBox 3">
            <a:extLst>
              <a:ext uri="{FF2B5EF4-FFF2-40B4-BE49-F238E27FC236}">
                <a16:creationId xmlns:a16="http://schemas.microsoft.com/office/drawing/2014/main" id="{9F11CB2D-7D9D-FECF-C67B-D4D561F99BF7}"/>
              </a:ext>
            </a:extLst>
          </p:cNvPr>
          <p:cNvSpPr txBox="1"/>
          <p:nvPr/>
        </p:nvSpPr>
        <p:spPr>
          <a:xfrm>
            <a:off x="750354" y="1166471"/>
            <a:ext cx="17309805" cy="9378529"/>
          </a:xfrm>
          <a:prstGeom prst="rect">
            <a:avLst/>
          </a:prstGeom>
          <a:noFill/>
        </p:spPr>
        <p:txBody>
          <a:bodyPr wrap="square">
            <a:spAutoFit/>
          </a:bodyPr>
          <a:lstStyle/>
          <a:p>
            <a:pPr marL="285750" lvl="0" indent="-285750">
              <a:buFont typeface="Arial" panose="020B0604020202020204" pitchFamily="34" charset="0"/>
              <a:buChar char="•"/>
            </a:pPr>
            <a:r>
              <a:rPr lang="en-US" sz="1600" dirty="0"/>
              <a:t>Rigby, D., Sutherland, J., &amp; Takeuchi, H. (2016). Embracing Agile: How to Master the Process That's Transforming Management. </a:t>
            </a:r>
            <a:r>
              <a:rPr lang="en-US" sz="1600" i="1" dirty="0"/>
              <a:t>Harvard Business Review</a:t>
            </a:r>
            <a:r>
              <a:rPr lang="en-US" sz="1600" dirty="0"/>
              <a:t>. Retrieved from </a:t>
            </a:r>
            <a:r>
              <a:rPr lang="en-US" sz="1600" u="sng" dirty="0">
                <a:hlinkClick r:id="rId4"/>
              </a:rPr>
              <a:t>https://hbr.org/2016/05/embracing-agile</a:t>
            </a:r>
            <a:endParaRPr lang="en-US" sz="1600" dirty="0"/>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Rubin, K. S. (2013). </a:t>
            </a:r>
            <a:r>
              <a:rPr lang="en-US" sz="1600" i="1" dirty="0"/>
              <a:t>Essential Scrum: A Practical Guide to the Most Popular Agile Process</a:t>
            </a:r>
            <a:r>
              <a:rPr lang="en-US" sz="1600" dirty="0"/>
              <a:t>. Addison-Wesley Professional.</a:t>
            </a:r>
          </a:p>
          <a:p>
            <a:pPr marL="285750" lvl="0" indent="-285750">
              <a:buFont typeface="Arial" panose="020B0604020202020204" pitchFamily="34" charset="0"/>
              <a:buChar char="•"/>
            </a:pPr>
            <a:endParaRPr lang="en-US" sz="1600" i="1" dirty="0"/>
          </a:p>
          <a:p>
            <a:pPr marL="285750" lvl="0" indent="-285750">
              <a:buFont typeface="Arial" panose="020B0604020202020204" pitchFamily="34" charset="0"/>
              <a:buChar char="•"/>
            </a:pPr>
            <a:r>
              <a:rPr lang="en-US" sz="1600" i="1" dirty="0"/>
              <a:t>Scaled Agile Inc. (2021) '</a:t>
            </a:r>
            <a:r>
              <a:rPr lang="en-US" sz="1600" i="1" dirty="0" err="1"/>
              <a:t>SAFe</a:t>
            </a:r>
            <a:r>
              <a:rPr lang="en-US" sz="1600" i="1" dirty="0"/>
              <a:t> Business Agility Assessment.' Available at: </a:t>
            </a:r>
            <a:r>
              <a:rPr lang="en-US" sz="1600" b="1" i="1" u="sng" dirty="0">
                <a:hlinkClick r:id="rId5"/>
              </a:rPr>
              <a:t>https://scaledagile.com/safe-business-agility-assessment</a:t>
            </a:r>
            <a:r>
              <a:rPr lang="en-US" sz="1600" i="1" dirty="0"/>
              <a:t> (Accessed: 11 October 2025).</a:t>
            </a:r>
            <a:endParaRPr lang="en-US" sz="1600" dirty="0"/>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Scaled Agile Inc., 2021. </a:t>
            </a:r>
            <a:r>
              <a:rPr lang="en-US" sz="1600" i="1" dirty="0" err="1"/>
              <a:t>SAFe</a:t>
            </a:r>
            <a:r>
              <a:rPr lang="en-US" sz="1600" i="1" dirty="0"/>
              <a:t> 5.0 Framework</a:t>
            </a:r>
            <a:r>
              <a:rPr lang="en-US" sz="1600" dirty="0"/>
              <a:t>. Scaled Agile. Available at: </a:t>
            </a:r>
            <a:r>
              <a:rPr lang="en-US" sz="1600" u="sng" dirty="0">
                <a:hlinkClick r:id="rId6"/>
              </a:rPr>
              <a:t>https://framework.scaledagile.com/</a:t>
            </a:r>
            <a:r>
              <a:rPr lang="en-US" sz="1600" dirty="0"/>
              <a:t> [Accessed 4 October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Schwaber, K. and Sutherland, J., 2020. </a:t>
            </a:r>
            <a:r>
              <a:rPr lang="en-US" sz="1600" i="1" dirty="0"/>
              <a:t>The Scrum Guide</a:t>
            </a:r>
            <a:r>
              <a:rPr lang="en-US" sz="1600" dirty="0"/>
              <a:t>. Scrum.org. Available at: </a:t>
            </a:r>
            <a:r>
              <a:rPr lang="en-US" sz="1600" u="sng" dirty="0">
                <a:hlinkClick r:id="rId7"/>
              </a:rPr>
              <a:t>https://www.scrum.org/resources/scrum-guide</a:t>
            </a:r>
            <a:r>
              <a:rPr lang="en-US" sz="1600" dirty="0"/>
              <a:t> [Accessed 4 October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Schwaber, K., &amp; Sutherland, J. (2020). </a:t>
            </a:r>
            <a:r>
              <a:rPr lang="en-US" sz="1600" i="1" dirty="0"/>
              <a:t>The Scrum Guide</a:t>
            </a:r>
            <a:r>
              <a:rPr lang="en-US" sz="1600" dirty="0"/>
              <a:t>. Retrieved from </a:t>
            </a:r>
            <a:r>
              <a:rPr lang="en-US" sz="1600" u="sng" dirty="0">
                <a:hlinkClick r:id="rId8"/>
              </a:rPr>
              <a:t>https://scrumguides.org/scrum-guide.html</a:t>
            </a:r>
            <a:endParaRPr lang="en-US" sz="1600" dirty="0"/>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Siemens Advanta (2019) </a:t>
            </a:r>
            <a:r>
              <a:rPr lang="en-US" sz="1600" i="1" dirty="0"/>
              <a:t>Successful digital transformation: How change management helps you to hold course.</a:t>
            </a:r>
            <a:r>
              <a:rPr lang="en-US" sz="1600" dirty="0"/>
              <a:t> Munich: Siemens AG. Available at: </a:t>
            </a:r>
            <a:r>
              <a:rPr lang="en-US" sz="1600" u="sng" dirty="0">
                <a:hlinkClick r:id="rId9"/>
              </a:rPr>
              <a:t>https://www.siemens-advanta.com/default/whitepapers/successful-digital-transformation</a:t>
            </a:r>
            <a:r>
              <a:rPr lang="en-US" sz="1600" dirty="0"/>
              <a:t> (Accessed: 11 November 2025).</a:t>
            </a:r>
          </a:p>
          <a:p>
            <a:pPr marL="285750" lvl="0" indent="-285750">
              <a:buFont typeface="Arial" panose="020B0604020202020204" pitchFamily="34" charset="0"/>
              <a:buChar char="•"/>
            </a:pPr>
            <a:endParaRPr lang="de-DE" sz="1600" i="1" dirty="0"/>
          </a:p>
          <a:p>
            <a:pPr marL="285750" lvl="0" indent="-285750">
              <a:buFont typeface="Arial" panose="020B0604020202020204" pitchFamily="34" charset="0"/>
              <a:buChar char="•"/>
            </a:pPr>
            <a:r>
              <a:rPr lang="de-DE" sz="1600" i="1" dirty="0"/>
              <a:t>Siemens AG (2016) 'Stakeholder Engagement @ Siemens.' </a:t>
            </a:r>
            <a:r>
              <a:rPr lang="en-US" sz="1600" i="1" dirty="0"/>
              <a:t>Available at: </a:t>
            </a:r>
            <a:r>
              <a:rPr lang="en-US" sz="1600" b="1" i="1" u="sng" dirty="0">
                <a:hlinkClick r:id="rId10"/>
              </a:rPr>
              <a:t>https://assets.new.siemens.com/siemens/assets/api/uuid:ce355caf49fa3fb7e05369b9653a71881a12df17/stakeholder-engagement-siemens.pdf</a:t>
            </a:r>
            <a:r>
              <a:rPr lang="en-US" sz="1600" i="1" dirty="0"/>
              <a:t> (Accessed: 11 October 2025).</a:t>
            </a:r>
            <a:endParaRPr lang="en-US" sz="1600" dirty="0"/>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Siemens AG, 2024. </a:t>
            </a:r>
            <a:r>
              <a:rPr lang="en-US" sz="1600" i="1" dirty="0"/>
              <a:t>Digital transformation in industrial companies</a:t>
            </a:r>
            <a:r>
              <a:rPr lang="en-US" sz="1600" dirty="0"/>
              <a:t>. Available at: </a:t>
            </a:r>
            <a:r>
              <a:rPr lang="en-US" sz="1600" b="1" u="sng" dirty="0">
                <a:hlinkClick r:id="rId11"/>
              </a:rPr>
              <a:t>https://www.siemens.com/global/en/company/insights/digital-transformations-in-industrial-companies.html</a:t>
            </a:r>
            <a:r>
              <a:rPr lang="en-US" sz="1600" dirty="0"/>
              <a:t> [Accessed 13 Nov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Siemens Digital Industries Software (2025) Transforming Manufacturing Simulation with AI: BSH's journey towards efficiency [Blog]. 15 September. Available at: </a:t>
            </a:r>
            <a:r>
              <a:rPr lang="en-US" sz="1600" u="sng" dirty="0">
                <a:hlinkClick r:id="rId12"/>
              </a:rPr>
              <a:t>https://blogs.sw.siemens.com/tecnomatix/transforming-manufacturing-simulation-with-ai-bsh-journey /</a:t>
            </a:r>
            <a:r>
              <a:rPr lang="en-US" sz="1600" dirty="0"/>
              <a:t>  (Accessed: 12 November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Siemens PLM Software (2019) </a:t>
            </a:r>
            <a:r>
              <a:rPr lang="en-US" sz="1600" i="1" dirty="0" err="1"/>
              <a:t>MindSphere</a:t>
            </a:r>
            <a:r>
              <a:rPr lang="en-US" sz="1600" i="1" dirty="0"/>
              <a:t> – The cloud-based, open IoT operating system for digital transformation.</a:t>
            </a:r>
            <a:r>
              <a:rPr lang="en-US" sz="1600" dirty="0"/>
              <a:t> Munich: Siemens AG. Available at: </a:t>
            </a:r>
            <a:r>
              <a:rPr lang="en-US" sz="1600" u="sng" dirty="0">
                <a:hlinkClick r:id="rId13"/>
              </a:rPr>
              <a:t>https://www.plm.automation.siemens.com/media/global/en/Siemens_MindSphere_Whitepaper_tcm27-8639.pdf</a:t>
            </a:r>
            <a:r>
              <a:rPr lang="en-US" sz="1600" dirty="0"/>
              <a:t> (Accessed: 11 November 2025).</a:t>
            </a:r>
          </a:p>
          <a:p>
            <a:pPr marL="285750" lvl="0" indent="-285750">
              <a:buFont typeface="Arial" panose="020B0604020202020204" pitchFamily="34" charset="0"/>
              <a:buChar char="•"/>
            </a:pPr>
            <a:endParaRPr lang="en-US" sz="1600" dirty="0"/>
          </a:p>
          <a:p>
            <a:pPr marL="285750" lvl="0" indent="-285750">
              <a:buFont typeface="Arial" panose="020B0604020202020204" pitchFamily="34" charset="0"/>
              <a:buChar char="•"/>
            </a:pPr>
            <a:r>
              <a:rPr lang="en-US" sz="1600" dirty="0"/>
              <a:t>Siemens, 2024. </a:t>
            </a:r>
            <a:r>
              <a:rPr lang="en-US" sz="1600" i="1" dirty="0"/>
              <a:t>Annual Report 2024</a:t>
            </a:r>
            <a:r>
              <a:rPr lang="en-US" sz="1600" dirty="0"/>
              <a:t>. Siemens AG. Available at: </a:t>
            </a:r>
            <a:r>
              <a:rPr lang="en-US" sz="1600" u="sng" dirty="0">
                <a:hlinkClick r:id="rId14"/>
              </a:rPr>
              <a:t>https://assets.new.siemens.com/siemens/assets/api/uuid:344347ec-a1bd-44cb-aaaa-711d1b3ec1b8/Siemens-Annual-Report-2024.pdf</a:t>
            </a:r>
            <a:r>
              <a:rPr lang="en-US" sz="1600" dirty="0"/>
              <a:t> [Accessed 4 October 2025].</a:t>
            </a:r>
          </a:p>
          <a:p>
            <a:pPr marL="285750" lvl="0" indent="-285750">
              <a:buFont typeface="Arial" panose="020B0604020202020204" pitchFamily="34" charset="0"/>
              <a:buChar char="•"/>
            </a:pPr>
            <a:endParaRPr lang="en-US" sz="1600" i="1" dirty="0"/>
          </a:p>
          <a:p>
            <a:pPr marL="285750" lvl="0" indent="-285750">
              <a:buFont typeface="Arial" panose="020B0604020202020204" pitchFamily="34" charset="0"/>
              <a:buChar char="•"/>
            </a:pPr>
            <a:r>
              <a:rPr lang="en-US" sz="1600" i="1" dirty="0"/>
              <a:t>Value Glide (2025) 'How does </a:t>
            </a:r>
            <a:r>
              <a:rPr lang="en-US" sz="1600" i="1" dirty="0" err="1"/>
              <a:t>SAFe</a:t>
            </a:r>
            <a:r>
              <a:rPr lang="en-US" sz="1600" i="1" dirty="0"/>
              <a:t> handle stakeholder communication and collaboration?' Available at: </a:t>
            </a:r>
            <a:r>
              <a:rPr lang="en-US" sz="1600" b="1" i="1" u="sng" dirty="0">
                <a:hlinkClick r:id="rId15"/>
              </a:rPr>
              <a:t>https://www.valueglide.com/how-does-safe-handle-stakeholder-communication-and-collaboration/</a:t>
            </a:r>
            <a:r>
              <a:rPr lang="en-US" sz="1600" i="1" dirty="0"/>
              <a:t> (Accessed: 11 October 2025).</a:t>
            </a:r>
            <a:endParaRPr lang="en-US" sz="1600" dirty="0"/>
          </a:p>
          <a:p>
            <a:pPr marL="285750" lvl="0" indent="-285750">
              <a:buFont typeface="Arial" panose="020B0604020202020204" pitchFamily="34" charset="0"/>
              <a:buChar char="•"/>
            </a:pPr>
            <a:endParaRPr lang="en-US" sz="1600" i="1" dirty="0"/>
          </a:p>
          <a:p>
            <a:pPr marL="285750" lvl="0" indent="-285750">
              <a:buFont typeface="Arial" panose="020B0604020202020204" pitchFamily="34" charset="0"/>
              <a:buChar char="•"/>
            </a:pPr>
            <a:r>
              <a:rPr lang="en-US" sz="1600" i="1" dirty="0"/>
              <a:t>Working Well (2023) 'Siemens DI SW.' Available at: </a:t>
            </a:r>
            <a:r>
              <a:rPr lang="en-US" sz="1600" b="1" i="1" u="sng" dirty="0">
                <a:hlinkClick r:id="rId16"/>
              </a:rPr>
              <a:t>https://www.workingwell.com/projekte/siemens-disw-en/</a:t>
            </a:r>
            <a:r>
              <a:rPr lang="en-US" sz="1600" i="1" dirty="0"/>
              <a:t> (Accessed: 11 October 2025).</a:t>
            </a:r>
            <a:endParaRPr lang="en-US" sz="1600" dirty="0"/>
          </a:p>
          <a:p>
            <a:pPr marL="285750" lvl="0" indent="-285750">
              <a:buFont typeface="Arial" panose="020B0604020202020204" pitchFamily="34" charset="0"/>
              <a:buChar char="•"/>
            </a:pPr>
            <a:endParaRPr lang="en-US" sz="1600" dirty="0"/>
          </a:p>
          <a:p>
            <a:pPr marL="285750" marR="0" indent="-285750">
              <a:lnSpc>
                <a:spcPct val="116000"/>
              </a:lnSpc>
              <a:spcBef>
                <a:spcPts val="1200"/>
              </a:spcBef>
              <a:spcAft>
                <a:spcPts val="600"/>
              </a:spcAft>
              <a:buFont typeface="Arial" panose="020B0604020202020204" pitchFamily="34" charset="0"/>
              <a:buChar char="•"/>
            </a:pPr>
            <a:endParaRPr lang="en-US" sz="1600" i="1" dirty="0">
              <a:effectLst/>
              <a:latin typeface="+mj-lt"/>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1391238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EDA51F8B66EF44B58EF66934A7EA23" ma:contentTypeVersion="5" ma:contentTypeDescription="Create a new document." ma:contentTypeScope="" ma:versionID="97c206c728a9ed02c08aeddfd2f0507f">
  <xsd:schema xmlns:xsd="http://www.w3.org/2001/XMLSchema" xmlns:xs="http://www.w3.org/2001/XMLSchema" xmlns:p="http://schemas.microsoft.com/office/2006/metadata/properties" xmlns:ns3="a103d12b-0617-430b-a9e4-5a93a2d9f81a" targetNamespace="http://schemas.microsoft.com/office/2006/metadata/properties" ma:root="true" ma:fieldsID="559bf5dc62cd50e7a46d9ec005a53759" ns3:_="">
    <xsd:import namespace="a103d12b-0617-430b-a9e4-5a93a2d9f81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3d12b-0617-430b-a9e4-5a93a2d9f81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103d12b-0617-430b-a9e4-5a93a2d9f81a" xsi:nil="true"/>
  </documentManagement>
</p:properties>
</file>

<file path=customXml/itemProps1.xml><?xml version="1.0" encoding="utf-8"?>
<ds:datastoreItem xmlns:ds="http://schemas.openxmlformats.org/officeDocument/2006/customXml" ds:itemID="{785EB76D-C8CC-4A65-BCE9-A4C235C01C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03d12b-0617-430b-a9e4-5a93a2d9f8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ED97D2-9E14-4519-88F5-C53863A6295E}">
  <ds:schemaRefs>
    <ds:schemaRef ds:uri="http://schemas.microsoft.com/sharepoint/v3/contenttype/forms"/>
  </ds:schemaRefs>
</ds:datastoreItem>
</file>

<file path=customXml/itemProps3.xml><?xml version="1.0" encoding="utf-8"?>
<ds:datastoreItem xmlns:ds="http://schemas.openxmlformats.org/officeDocument/2006/customXml" ds:itemID="{49F886E9-55F4-4921-BA4A-CDF98E377F6A}">
  <ds:schemaRef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a103d12b-0617-430b-a9e4-5a93a2d9f81a"/>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1512</TotalTime>
  <Words>6043</Words>
  <Application>Microsoft Office PowerPoint</Application>
  <PresentationFormat>Custom</PresentationFormat>
  <Paragraphs>484</Paragraphs>
  <Slides>25</Slides>
  <Notes>23</Notes>
  <HiddenSlides>0</HiddenSlides>
  <MMClips>23</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Canva Sans Medium</vt:lpstr>
      <vt:lpstr>Calibri</vt:lpstr>
      <vt:lpstr>Symbol</vt:lpstr>
      <vt:lpstr>Arial</vt:lpstr>
      <vt:lpstr>Aptos Display</vt:lpstr>
      <vt:lpstr>Sans Serif Collection</vt:lpstr>
      <vt:lpstr>AkayaTelivigala</vt:lpstr>
      <vt:lpstr>Rustic Printed</vt:lpstr>
      <vt:lpstr>Aptos</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Mirza Baig</dc:creator>
  <cp:lastModifiedBy>Wali Wali</cp:lastModifiedBy>
  <cp:revision>81</cp:revision>
  <dcterms:created xsi:type="dcterms:W3CDTF">2006-08-16T00:00:00Z</dcterms:created>
  <dcterms:modified xsi:type="dcterms:W3CDTF">2026-05-13T20:35:52Z</dcterms:modified>
  <dc:identifier>DAG0wistZns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0x010100E0EDA51F8B66EF44B58EF66934A7EA23</vt:lpwstr>
  </property>
</Properties>
</file>